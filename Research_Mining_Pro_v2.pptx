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780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presenting Research Mining Pro — a system that transforms the way researchers extract data from scientific literature. We convert unstructured PDFs into clean, AI-ready datasets in minutes, not weeks.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frame the challenge. Global R&amp;D spending exceeds 1.8 trillion dollars, yet 80% of the data generated is locked inside PDFs. Extracting one dataset manually takes an average of 6 weeks with a 23% error rate. Researchers are drowning in papers but starving for structured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Because speed kills in research. If you can collect data 100x faster, you discover faster. Clean datasets fuel AI models — without them, no ML breakthroughs are possible. And the economic cost of slow literature review runs into billions across materials, pharma, and energy.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Mining Pro is the answer. Type a query, get structured data in minutes. Our multi-modal AI combines LLMs, computer vision, and rule engines. It understands scientific domains — aliases, units, terminology. And every data point passes through double-layer validation before output.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makes Research Mining Pro different. Smart retrieval handles API rate limits automatically. NLP screening saves processing time by discarding irrelevant papers upfront. Our alias resolution ensures nothing is missed due to naming variations. And graph digitization — our standout feature — converts static plot images into actual data points.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modular — each component can be upgraded independently. The Pipeline Controller orchestrates everything. The Extraction Core handles text, tables, and graphs in parallel. Double-layer validation through LLM + Rule Engine ensures data integrity before output.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dead simple for the user. Type a query, and the system handles everything — downloading, screening, segmenting, extracting, validating, and outputting. For example, querying 'Perovskite solar cell efficiency' processes 100 papers and delivers a clean dataset in about 12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is provider-agnostic by design. We use a centralized LLM Load Balancer that routes between Groq, Gemini, Together AI, and OpenRouter. If one provider is down or rate-limited, we fail over instantly. For vision, OpenCV and EasyOCR handle graph digitization, while PyMuPDF provides fast PDF manipulation.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is purpose-built. The Alias Generator uses LLMs to find every name variant — so 'LFP' and 'Lithium Iron Phosphate' are treated as the same entity. The Page Analyzer acts as the system's eyes, identifying where tables and figures live. The Validation Engine is the quality gate — nothing gets through without passing unit and range checks.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standout innovation. We take static plot images — even from papers published decades ago — and convert them back into raw numerical data. The process: detect axes, calibrate the scale, trace curves, and output precise x-y coordinates. This unlocks historical research data for modern ML analysis.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real example. We process a paper on cardiac hyperthermia using SPIONs. The system identifies aliases, simultaneously extracts from tables on page 4 and plots on page 9, validates that both values fall within physically valid ranges, and outputs a clean CSV row — fully traceable back to the source.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output is production-ready. The main CSV contains material properties with full metadata. JSON files hold dense x-y arrays from digitized graphs. And every single data point has a complete audit trail — you know exactly which paper, page, and table it came from.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this wasn't easy. OCR errors in scientific notation are notoriously hard. Tables spanning multiple pages with nested headers require structural reconstruction. API rate limits demand failover engineering. And the sheer variety of graph styles across journals required robust computer vision.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resilience into every layer. Multi-API failover means zero downtime — if Groq is rate-limited, we instantly switch to Gemini. The hybrid pipeline uses strict code logic for table structures but LLM flexibility for interpreting text. And our self-correction loop automatically re-queries the LLM when validation flags suspicious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speak for themselves. Manual extraction takes 6 weeks with a 23% error rate. Research Mining Pro processes 100 papers in 12 minutes with 98%+ accuracy. We recover 100% of graph data — data that was previously completely inaccessible. Every data point passes a 95% confidence threshold.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applications span industries. Materials scientists can map semiconductor performance across thousands of papers. Pharma companies aggregate clinical binding data at scale. Energy researchers track battery tech metrics. And AI teams use our output to build scientific foundation models.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just getting started. Next up: fine-tuned vision models for 3D plots, distributed processing for 1000+ papers per hour, live arXiv monitoring with real-time alerts, and a built-in analytics dashboard so researchers can visualize data without exporting.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 Research Mining Pro transforms literature into living, AI-ready datasets. 98% accuracy. Zero manual steps. This is the infrastructure layer for the next era of data-driven scientific discovery. Thank you for your time.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4.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8.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11.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sp>
      <p:sp>
        <p:nvSpPr>
          <p:cNvPr id="3" name="Shape 1"/>
          <p:cNvSpPr/>
          <p:nvPr/>
        </p:nvSpPr>
        <p:spPr>
          <a:xfrm>
            <a:off x="0" y="4389120"/>
            <a:ext cx="9144000" cy="754380"/>
          </a:xfrm>
          <a:prstGeom prst="rect">
            <a:avLst/>
          </a:prstGeom>
          <a:solidFill>
            <a:srgbClr val="0090AD">
              <a:alpha val="20000"/>
            </a:srgbClr>
          </a:solidFill>
          <a:ln/>
        </p:spPr>
      </p:sp>
      <p:pic>
        <p:nvPicPr>
          <p:cNvPr id="4" name="Image 0" descr="preencoded.png"/>
          <p:cNvPicPr>
            <a:picLocks noChangeAspect="1"/>
          </p:cNvPicPr>
          <p:nvPr/>
        </p:nvPicPr>
        <p:blipFill>
          <a:blip r:embed="rId3"/>
          <a:stretch>
            <a:fillRect/>
          </a:stretch>
        </p:blipFill>
        <p:spPr>
          <a:xfrm>
            <a:off x="4114800" y="548640"/>
            <a:ext cx="914400" cy="914400"/>
          </a:xfrm>
          <a:prstGeom prst="rect">
            <a:avLst/>
          </a:prstGeom>
        </p:spPr>
      </p:pic>
      <p:sp>
        <p:nvSpPr>
          <p:cNvPr id="5" name="Text 2"/>
          <p:cNvSpPr/>
          <p:nvPr/>
        </p:nvSpPr>
        <p:spPr>
          <a:xfrm>
            <a:off x="457200" y="1645920"/>
            <a:ext cx="8229600" cy="731520"/>
          </a:xfrm>
          <a:prstGeom prst="rect">
            <a:avLst/>
          </a:prstGeom>
          <a:noFill/>
          <a:ln/>
        </p:spPr>
        <p:txBody>
          <a:bodyPr wrap="square" rtlCol="0" anchor="ctr"/>
          <a:lstStyle/>
          <a:p>
            <a:pPr marL="0" indent="0" algn="ctr">
              <a:buNone/>
            </a:pPr>
            <a:r>
              <a:rPr lang="en-US" sz="4000" b="1" kern="0" spc="300" dirty="0">
                <a:solidFill>
                  <a:srgbClr val="FFFFFF"/>
                </a:solidFill>
                <a:latin typeface="Georgia" pitchFamily="34" charset="0"/>
                <a:ea typeface="Georgia" pitchFamily="34" charset="-122"/>
                <a:cs typeface="Georgia" pitchFamily="34" charset="-120"/>
              </a:rPr>
              <a:t>RESEARCH MINING PRO</a:t>
            </a:r>
            <a:endParaRPr lang="en-US" sz="4000" dirty="0"/>
          </a:p>
        </p:txBody>
      </p:sp>
      <p:sp>
        <p:nvSpPr>
          <p:cNvPr id="6" name="Shape 3"/>
          <p:cNvSpPr/>
          <p:nvPr/>
        </p:nvSpPr>
        <p:spPr>
          <a:xfrm>
            <a:off x="3657600" y="2468880"/>
            <a:ext cx="1828800" cy="36576"/>
          </a:xfrm>
          <a:prstGeom prst="rect">
            <a:avLst/>
          </a:prstGeom>
          <a:solidFill>
            <a:srgbClr val="00B4D8"/>
          </a:solidFill>
          <a:ln/>
        </p:spPr>
      </p:sp>
      <p:sp>
        <p:nvSpPr>
          <p:cNvPr id="7" name="Text 4"/>
          <p:cNvSpPr/>
          <p:nvPr/>
        </p:nvSpPr>
        <p:spPr>
          <a:xfrm>
            <a:off x="914400" y="2651760"/>
            <a:ext cx="7315200" cy="457200"/>
          </a:xfrm>
          <a:prstGeom prst="rect">
            <a:avLst/>
          </a:prstGeom>
          <a:noFill/>
          <a:ln/>
        </p:spPr>
        <p:txBody>
          <a:bodyPr wrap="square" rtlCol="0" anchor="ctr"/>
          <a:lstStyle/>
          <a:p>
            <a:pPr marL="0" indent="0" algn="ctr">
              <a:buNone/>
            </a:pPr>
            <a:r>
              <a:rPr lang="en-US" sz="1800" dirty="0">
                <a:solidFill>
                  <a:srgbClr val="00B4D8"/>
                </a:solidFill>
                <a:latin typeface="Calibri" pitchFamily="34" charset="0"/>
                <a:ea typeface="Calibri" pitchFamily="34" charset="-122"/>
                <a:cs typeface="Calibri" pitchFamily="34" charset="-120"/>
              </a:rPr>
              <a:t>Domain-Specific Scientific Data Extraction System</a:t>
            </a:r>
            <a:endParaRPr lang="en-US" sz="1800" dirty="0"/>
          </a:p>
        </p:txBody>
      </p:sp>
      <p:sp>
        <p:nvSpPr>
          <p:cNvPr id="8" name="Text 5"/>
          <p:cNvSpPr/>
          <p:nvPr/>
        </p:nvSpPr>
        <p:spPr>
          <a:xfrm>
            <a:off x="1371600" y="3200400"/>
            <a:ext cx="6400800" cy="457200"/>
          </a:xfrm>
          <a:prstGeom prst="rect">
            <a:avLst/>
          </a:prstGeom>
          <a:noFill/>
          <a:ln/>
        </p:spPr>
        <p:txBody>
          <a:bodyPr wrap="square" rtlCol="0" anchor="ctr"/>
          <a:lstStyle/>
          <a:p>
            <a:pPr marL="0" indent="0" algn="ctr">
              <a:buNone/>
            </a:pPr>
            <a:r>
              <a:rPr lang="en-US" sz="1300" i="1" dirty="0">
                <a:solidFill>
                  <a:srgbClr val="CBD5E1"/>
                </a:solidFill>
                <a:latin typeface="Calibri" pitchFamily="34" charset="0"/>
                <a:ea typeface="Calibri" pitchFamily="34" charset="-122"/>
                <a:cs typeface="Calibri" pitchFamily="34" charset="-120"/>
              </a:rPr>
              <a:t>Turn millions of PDFs into structured, AI-ready datasets — automatically.</a:t>
            </a:r>
            <a:endParaRPr lang="en-US" sz="1300" dirty="0"/>
          </a:p>
        </p:txBody>
      </p:sp>
      <p:sp>
        <p:nvSpPr>
          <p:cNvPr id="9" name="Text 6"/>
          <p:cNvSpPr/>
          <p:nvPr/>
        </p:nvSpPr>
        <p:spPr>
          <a:xfrm>
            <a:off x="1828800" y="3931920"/>
            <a:ext cx="5486400" cy="274320"/>
          </a:xfrm>
          <a:prstGeom prst="rect">
            <a:avLst/>
          </a:prstGeom>
          <a:noFill/>
          <a:ln/>
        </p:spPr>
        <p:txBody>
          <a:bodyPr wrap="square" rtlCol="0" anchor="ctr"/>
          <a:lstStyle/>
          <a:p>
            <a:pPr marL="0" indent="0" algn="ctr">
              <a:buNone/>
            </a:pPr>
            <a:r>
              <a:rPr lang="en-US" sz="1100" dirty="0">
                <a:solidFill>
                  <a:srgbClr val="94A3B8"/>
                </a:solidFill>
              </a:rPr>
              <a:t>Presented by: Research Mining </a:t>
            </a:r>
            <a:r>
              <a:rPr lang="en-US" sz="1100">
                <a:solidFill>
                  <a:srgbClr val="94A3B8"/>
                </a:solidFill>
              </a:rPr>
              <a:t>Pro Team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94A3B8"/>
                </a:solidFill>
              </a:rPr>
              <a:t>2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94A3B8"/>
                </a:solidFill>
              </a:rPr>
              <a:t>Research Mining Pro</a:t>
            </a:r>
            <a:endParaRPr lang="en-US" sz="900" dirty="0"/>
          </a:p>
        </p:txBody>
      </p:sp>
      <p:sp>
        <p:nvSpPr>
          <p:cNvPr id="4" name="Text 2"/>
          <p:cNvSpPr/>
          <p:nvPr/>
        </p:nvSpPr>
        <p:spPr>
          <a:xfrm>
            <a:off x="457200" y="274320"/>
            <a:ext cx="3657600" cy="457200"/>
          </a:xfrm>
          <a:prstGeom prst="rect">
            <a:avLst/>
          </a:prstGeom>
          <a:noFill/>
          <a:ln/>
        </p:spPr>
        <p:txBody>
          <a:bodyPr wrap="square" rtlCol="0" anchor="ctr"/>
          <a:lstStyle/>
          <a:p>
            <a:pPr marL="0" indent="0">
              <a:buNone/>
            </a:pPr>
            <a:r>
              <a:rPr lang="en-US" sz="1300" b="1" kern="0" spc="400" dirty="0">
                <a:solidFill>
                  <a:srgbClr val="00B4D8"/>
                </a:solidFill>
                <a:latin typeface="Calibri" pitchFamily="34" charset="0"/>
                <a:ea typeface="Calibri" pitchFamily="34" charset="-122"/>
                <a:cs typeface="Calibri" pitchFamily="34" charset="-120"/>
              </a:rPr>
              <a:t>THE PROBLEM</a:t>
            </a:r>
            <a:endParaRPr lang="en-US" sz="1300" dirty="0"/>
          </a:p>
        </p:txBody>
      </p:sp>
      <p:sp>
        <p:nvSpPr>
          <p:cNvPr id="5" name="Text 3"/>
          <p:cNvSpPr/>
          <p:nvPr/>
        </p:nvSpPr>
        <p:spPr>
          <a:xfrm>
            <a:off x="457200" y="731520"/>
            <a:ext cx="5486400" cy="91440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$1.8 Trillion in Research.</a:t>
            </a:r>
            <a:endParaRPr lang="en-US" sz="2800" dirty="0"/>
          </a:p>
          <a:p>
            <a:pPr marL="0" indent="0">
              <a:buNone/>
            </a:pPr>
            <a:r>
              <a:rPr lang="en-US" sz="2800" b="1" dirty="0">
                <a:solidFill>
                  <a:srgbClr val="FFFFFF"/>
                </a:solidFill>
                <a:latin typeface="Georgia" pitchFamily="34" charset="0"/>
                <a:ea typeface="Georgia" pitchFamily="34" charset="-122"/>
                <a:cs typeface="Georgia" pitchFamily="34" charset="-120"/>
              </a:rPr>
              <a:t>Most of the Data Is Locked.</a:t>
            </a:r>
            <a:endParaRPr lang="en-US" sz="2800" dirty="0"/>
          </a:p>
        </p:txBody>
      </p:sp>
      <p:sp>
        <p:nvSpPr>
          <p:cNvPr id="6" name="Shape 4"/>
          <p:cNvSpPr/>
          <p:nvPr/>
        </p:nvSpPr>
        <p:spPr>
          <a:xfrm>
            <a:off x="457200" y="2011680"/>
            <a:ext cx="2560320" cy="1645920"/>
          </a:xfrm>
          <a:prstGeom prst="rect">
            <a:avLst/>
          </a:prstGeom>
          <a:solidFill>
            <a:srgbClr val="1A2744"/>
          </a:solidFill>
          <a:ln/>
          <a:effectLst>
            <a:outerShdw blurRad="101600" dist="38100" dir="81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640080" y="2194560"/>
            <a:ext cx="320040" cy="320040"/>
          </a:xfrm>
          <a:prstGeom prst="rect">
            <a:avLst/>
          </a:prstGeom>
        </p:spPr>
      </p:pic>
      <p:sp>
        <p:nvSpPr>
          <p:cNvPr id="8" name="Text 5"/>
          <p:cNvSpPr/>
          <p:nvPr/>
        </p:nvSpPr>
        <p:spPr>
          <a:xfrm>
            <a:off x="1005840" y="2103120"/>
            <a:ext cx="1828800" cy="457200"/>
          </a:xfrm>
          <a:prstGeom prst="rect">
            <a:avLst/>
          </a:prstGeom>
          <a:noFill/>
          <a:ln/>
        </p:spPr>
        <p:txBody>
          <a:bodyPr wrap="square" lIns="0" tIns="0" rIns="0" bIns="0" rtlCol="0" anchor="ctr"/>
          <a:lstStyle/>
          <a:p>
            <a:pPr marL="0" indent="0">
              <a:buNone/>
            </a:pPr>
            <a:r>
              <a:rPr lang="en-US" sz="3200" b="1" dirty="0">
                <a:solidFill>
                  <a:srgbClr val="FF6B35"/>
                </a:solidFill>
                <a:latin typeface="Georgia" pitchFamily="34" charset="0"/>
                <a:ea typeface="Georgia" pitchFamily="34" charset="-122"/>
                <a:cs typeface="Georgia" pitchFamily="34" charset="-120"/>
              </a:rPr>
              <a:t>80%</a:t>
            </a:r>
            <a:endParaRPr lang="en-US" sz="3200" dirty="0"/>
          </a:p>
        </p:txBody>
      </p:sp>
      <p:sp>
        <p:nvSpPr>
          <p:cNvPr id="9" name="Text 6"/>
          <p:cNvSpPr/>
          <p:nvPr/>
        </p:nvSpPr>
        <p:spPr>
          <a:xfrm>
            <a:off x="640080" y="2743200"/>
            <a:ext cx="2286000" cy="731520"/>
          </a:xfrm>
          <a:prstGeom prst="rect">
            <a:avLst/>
          </a:prstGeom>
          <a:noFill/>
          <a:ln/>
        </p:spPr>
        <p:txBody>
          <a:bodyPr wrap="square" lIns="0" tIns="0" rIns="0" bIns="0" rtlCol="0" anchor="ctr"/>
          <a:lstStyle/>
          <a:p>
            <a:pPr marL="0" indent="0">
              <a:buNone/>
            </a:pPr>
            <a:r>
              <a:rPr lang="en-US" sz="1100" dirty="0">
                <a:solidFill>
                  <a:srgbClr val="CBD5E1"/>
                </a:solidFill>
              </a:rPr>
              <a:t>of research data is trapped</a:t>
            </a:r>
            <a:endParaRPr lang="en-US" sz="1100" dirty="0"/>
          </a:p>
          <a:p>
            <a:pPr marL="0" indent="0">
              <a:buNone/>
            </a:pPr>
            <a:r>
              <a:rPr lang="en-US" sz="1100" dirty="0">
                <a:solidFill>
                  <a:srgbClr val="CBD5E1"/>
                </a:solidFill>
              </a:rPr>
              <a:t>in unstructured PDFs</a:t>
            </a:r>
            <a:endParaRPr lang="en-US" sz="1100" dirty="0"/>
          </a:p>
        </p:txBody>
      </p:sp>
      <p:sp>
        <p:nvSpPr>
          <p:cNvPr id="10" name="Shape 7"/>
          <p:cNvSpPr/>
          <p:nvPr/>
        </p:nvSpPr>
        <p:spPr>
          <a:xfrm>
            <a:off x="3291840" y="2011680"/>
            <a:ext cx="2560320" cy="1645920"/>
          </a:xfrm>
          <a:prstGeom prst="rect">
            <a:avLst/>
          </a:prstGeom>
          <a:solidFill>
            <a:srgbClr val="1A2744"/>
          </a:solidFill>
          <a:ln/>
          <a:effectLst>
            <a:outerShdw blurRad="101600" dist="38100" dir="81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3474720" y="2194560"/>
            <a:ext cx="320040" cy="320040"/>
          </a:xfrm>
          <a:prstGeom prst="rect">
            <a:avLst/>
          </a:prstGeom>
        </p:spPr>
      </p:pic>
      <p:sp>
        <p:nvSpPr>
          <p:cNvPr id="12" name="Text 8"/>
          <p:cNvSpPr/>
          <p:nvPr/>
        </p:nvSpPr>
        <p:spPr>
          <a:xfrm>
            <a:off x="3840480" y="2103120"/>
            <a:ext cx="1828800" cy="457200"/>
          </a:xfrm>
          <a:prstGeom prst="rect">
            <a:avLst/>
          </a:prstGeom>
          <a:noFill/>
          <a:ln/>
        </p:spPr>
        <p:txBody>
          <a:bodyPr wrap="square" lIns="0" tIns="0" rIns="0" bIns="0" rtlCol="0" anchor="ctr"/>
          <a:lstStyle/>
          <a:p>
            <a:pPr marL="0" indent="0">
              <a:buNone/>
            </a:pPr>
            <a:r>
              <a:rPr lang="en-US" sz="3200" b="1" dirty="0">
                <a:solidFill>
                  <a:srgbClr val="FF6B35"/>
                </a:solidFill>
                <a:latin typeface="Georgia" pitchFamily="34" charset="0"/>
                <a:ea typeface="Georgia" pitchFamily="34" charset="-122"/>
                <a:cs typeface="Georgia" pitchFamily="34" charset="-120"/>
              </a:rPr>
              <a:t>6 wks</a:t>
            </a:r>
            <a:endParaRPr lang="en-US" sz="3200" dirty="0"/>
          </a:p>
        </p:txBody>
      </p:sp>
      <p:sp>
        <p:nvSpPr>
          <p:cNvPr id="13" name="Text 9"/>
          <p:cNvSpPr/>
          <p:nvPr/>
        </p:nvSpPr>
        <p:spPr>
          <a:xfrm>
            <a:off x="3474720" y="2743200"/>
            <a:ext cx="2286000" cy="731520"/>
          </a:xfrm>
          <a:prstGeom prst="rect">
            <a:avLst/>
          </a:prstGeom>
          <a:noFill/>
          <a:ln/>
        </p:spPr>
        <p:txBody>
          <a:bodyPr wrap="square" lIns="0" tIns="0" rIns="0" bIns="0" rtlCol="0" anchor="ctr"/>
          <a:lstStyle/>
          <a:p>
            <a:pPr marL="0" indent="0">
              <a:buNone/>
            </a:pPr>
            <a:r>
              <a:rPr lang="en-US" sz="1100" dirty="0">
                <a:solidFill>
                  <a:srgbClr val="CBD5E1"/>
                </a:solidFill>
              </a:rPr>
              <a:t>average time to manually</a:t>
            </a:r>
            <a:endParaRPr lang="en-US" sz="1100" dirty="0"/>
          </a:p>
          <a:p>
            <a:pPr marL="0" indent="0">
              <a:buNone/>
            </a:pPr>
            <a:r>
              <a:rPr lang="en-US" sz="1100" dirty="0">
                <a:solidFill>
                  <a:srgbClr val="CBD5E1"/>
                </a:solidFill>
              </a:rPr>
              <a:t>extract a single dataset</a:t>
            </a:r>
            <a:endParaRPr lang="en-US" sz="1100" dirty="0"/>
          </a:p>
        </p:txBody>
      </p:sp>
      <p:sp>
        <p:nvSpPr>
          <p:cNvPr id="14" name="Shape 10"/>
          <p:cNvSpPr/>
          <p:nvPr/>
        </p:nvSpPr>
        <p:spPr>
          <a:xfrm>
            <a:off x="6126480" y="2011680"/>
            <a:ext cx="2560320" cy="1645920"/>
          </a:xfrm>
          <a:prstGeom prst="rect">
            <a:avLst/>
          </a:prstGeom>
          <a:solidFill>
            <a:srgbClr val="1A2744"/>
          </a:solidFill>
          <a:ln/>
          <a:effectLst>
            <a:outerShdw blurRad="101600" dist="38100" dir="8100000" algn="bl" rotWithShape="0">
              <a:srgbClr val="000000">
                <a:alpha val="12000"/>
              </a:srgbClr>
            </a:outerShdw>
          </a:effectLst>
        </p:spPr>
      </p:sp>
      <p:pic>
        <p:nvPicPr>
          <p:cNvPr id="15" name="Image 2" descr="preencoded.png"/>
          <p:cNvPicPr>
            <a:picLocks noChangeAspect="1"/>
          </p:cNvPicPr>
          <p:nvPr/>
        </p:nvPicPr>
        <p:blipFill>
          <a:blip r:embed="rId5"/>
          <a:stretch>
            <a:fillRect/>
          </a:stretch>
        </p:blipFill>
        <p:spPr>
          <a:xfrm>
            <a:off x="6309360" y="2194560"/>
            <a:ext cx="320040" cy="320040"/>
          </a:xfrm>
          <a:prstGeom prst="rect">
            <a:avLst/>
          </a:prstGeom>
        </p:spPr>
      </p:pic>
      <p:sp>
        <p:nvSpPr>
          <p:cNvPr id="16" name="Text 11"/>
          <p:cNvSpPr/>
          <p:nvPr/>
        </p:nvSpPr>
        <p:spPr>
          <a:xfrm>
            <a:off x="6675120" y="2103120"/>
            <a:ext cx="1828800" cy="457200"/>
          </a:xfrm>
          <a:prstGeom prst="rect">
            <a:avLst/>
          </a:prstGeom>
          <a:noFill/>
          <a:ln/>
        </p:spPr>
        <p:txBody>
          <a:bodyPr wrap="square" lIns="0" tIns="0" rIns="0" bIns="0" rtlCol="0" anchor="ctr"/>
          <a:lstStyle/>
          <a:p>
            <a:pPr marL="0" indent="0">
              <a:buNone/>
            </a:pPr>
            <a:r>
              <a:rPr lang="en-US" sz="3200" b="1" dirty="0">
                <a:solidFill>
                  <a:srgbClr val="FF6B35"/>
                </a:solidFill>
                <a:latin typeface="Georgia" pitchFamily="34" charset="0"/>
                <a:ea typeface="Georgia" pitchFamily="34" charset="-122"/>
                <a:cs typeface="Georgia" pitchFamily="34" charset="-120"/>
              </a:rPr>
              <a:t>23%</a:t>
            </a:r>
            <a:endParaRPr lang="en-US" sz="3200" dirty="0"/>
          </a:p>
        </p:txBody>
      </p:sp>
      <p:sp>
        <p:nvSpPr>
          <p:cNvPr id="17" name="Text 12"/>
          <p:cNvSpPr/>
          <p:nvPr/>
        </p:nvSpPr>
        <p:spPr>
          <a:xfrm>
            <a:off x="6309360" y="2743200"/>
            <a:ext cx="2286000" cy="731520"/>
          </a:xfrm>
          <a:prstGeom prst="rect">
            <a:avLst/>
          </a:prstGeom>
          <a:noFill/>
          <a:ln/>
        </p:spPr>
        <p:txBody>
          <a:bodyPr wrap="square" lIns="0" tIns="0" rIns="0" bIns="0" rtlCol="0" anchor="ctr"/>
          <a:lstStyle/>
          <a:p>
            <a:pPr marL="0" indent="0">
              <a:buNone/>
            </a:pPr>
            <a:r>
              <a:rPr lang="en-US" sz="1100" dirty="0">
                <a:solidFill>
                  <a:srgbClr val="CBD5E1"/>
                </a:solidFill>
              </a:rPr>
              <a:t>error rate in manual</a:t>
            </a:r>
            <a:endParaRPr lang="en-US" sz="1100" dirty="0"/>
          </a:p>
          <a:p>
            <a:pPr marL="0" indent="0">
              <a:buNone/>
            </a:pPr>
            <a:r>
              <a:rPr lang="en-US" sz="1100" dirty="0">
                <a:solidFill>
                  <a:srgbClr val="CBD5E1"/>
                </a:solidFill>
              </a:rPr>
              <a:t>data transcription</a:t>
            </a:r>
            <a:endParaRPr lang="en-US" sz="1100" dirty="0"/>
          </a:p>
        </p:txBody>
      </p:sp>
      <p:sp>
        <p:nvSpPr>
          <p:cNvPr id="18" name="Text 13"/>
          <p:cNvSpPr/>
          <p:nvPr/>
        </p:nvSpPr>
        <p:spPr>
          <a:xfrm>
            <a:off x="457200" y="4023360"/>
            <a:ext cx="8229600" cy="365760"/>
          </a:xfrm>
          <a:prstGeom prst="rect">
            <a:avLst/>
          </a:prstGeom>
          <a:noFill/>
          <a:ln/>
        </p:spPr>
        <p:txBody>
          <a:bodyPr wrap="square" rtlCol="0" anchor="ctr"/>
          <a:lstStyle/>
          <a:p>
            <a:pPr marL="0" indent="0">
              <a:buNone/>
            </a:pPr>
            <a:r>
              <a:rPr lang="en-US" sz="1400" i="1" dirty="0">
                <a:solidFill>
                  <a:srgbClr val="94A3B8"/>
                </a:solidFill>
              </a:rPr>
              <a:t>Researchers are drowning in papers but starving for data.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475569"/>
                </a:solidFill>
              </a:rPr>
              <a:t>3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475569"/>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00B4D8"/>
                </a:solidFill>
                <a:latin typeface="Calibri" pitchFamily="34" charset="0"/>
                <a:ea typeface="Calibri" pitchFamily="34" charset="-122"/>
                <a:cs typeface="Calibri" pitchFamily="34" charset="-120"/>
              </a:rPr>
              <a:t>WHY IT MATTERS</a:t>
            </a:r>
            <a:endParaRPr lang="en-US" sz="1300" dirty="0"/>
          </a:p>
        </p:txBody>
      </p:sp>
      <p:sp>
        <p:nvSpPr>
          <p:cNvPr id="5" name="Text 3"/>
          <p:cNvSpPr/>
          <p:nvPr/>
        </p:nvSpPr>
        <p:spPr>
          <a:xfrm>
            <a:off x="457200" y="640080"/>
            <a:ext cx="7315200" cy="548640"/>
          </a:xfrm>
          <a:prstGeom prst="rect">
            <a:avLst/>
          </a:prstGeom>
          <a:noFill/>
          <a:ln/>
        </p:spPr>
        <p:txBody>
          <a:bodyPr wrap="square" rtlCol="0" anchor="ctr"/>
          <a:lstStyle/>
          <a:p>
            <a:pPr marL="0" indent="0">
              <a:buNone/>
            </a:pPr>
            <a:r>
              <a:rPr lang="en-US" sz="2800" b="1" dirty="0">
                <a:solidFill>
                  <a:srgbClr val="0F1B2D"/>
                </a:solidFill>
                <a:latin typeface="Georgia" pitchFamily="34" charset="0"/>
                <a:ea typeface="Georgia" pitchFamily="34" charset="-122"/>
                <a:cs typeface="Georgia" pitchFamily="34" charset="-120"/>
              </a:rPr>
              <a:t>The Data Gap Is Slowing Discovery</a:t>
            </a:r>
            <a:endParaRPr lang="en-US" sz="2800" dirty="0"/>
          </a:p>
        </p:txBody>
      </p:sp>
      <p:sp>
        <p:nvSpPr>
          <p:cNvPr id="6" name="Shape 4"/>
          <p:cNvSpPr/>
          <p:nvPr/>
        </p:nvSpPr>
        <p:spPr>
          <a:xfrm>
            <a:off x="457200" y="137160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457200" y="1371600"/>
            <a:ext cx="54864" cy="777240"/>
          </a:xfrm>
          <a:prstGeom prst="rect">
            <a:avLst/>
          </a:prstGeom>
          <a:solidFill>
            <a:srgbClr val="00B4D8"/>
          </a:solidFill>
          <a:ln/>
        </p:spPr>
      </p:sp>
      <p:pic>
        <p:nvPicPr>
          <p:cNvPr id="8" name="Image 0" descr="preencoded.png"/>
          <p:cNvPicPr>
            <a:picLocks noChangeAspect="1"/>
          </p:cNvPicPr>
          <p:nvPr/>
        </p:nvPicPr>
        <p:blipFill>
          <a:blip r:embed="rId3"/>
          <a:stretch>
            <a:fillRect/>
          </a:stretch>
        </p:blipFill>
        <p:spPr>
          <a:xfrm>
            <a:off x="731520" y="1527048"/>
            <a:ext cx="411480" cy="411480"/>
          </a:xfrm>
          <a:prstGeom prst="rect">
            <a:avLst/>
          </a:prstGeom>
        </p:spPr>
      </p:pic>
      <p:sp>
        <p:nvSpPr>
          <p:cNvPr id="9" name="Text 6"/>
          <p:cNvSpPr/>
          <p:nvPr/>
        </p:nvSpPr>
        <p:spPr>
          <a:xfrm>
            <a:off x="1371600" y="1417320"/>
            <a:ext cx="6858000" cy="320040"/>
          </a:xfrm>
          <a:prstGeom prst="rect">
            <a:avLst/>
          </a:prstGeom>
          <a:noFill/>
          <a:ln/>
        </p:spPr>
        <p:txBody>
          <a:bodyPr wrap="square" lIns="0" tIns="0" rIns="0" bIns="0" rtlCol="0" anchor="ctr"/>
          <a:lstStyle/>
          <a:p>
            <a:pPr marL="0" indent="0">
              <a:buNone/>
            </a:pPr>
            <a:r>
              <a:rPr lang="en-US" sz="1500" b="1" dirty="0">
                <a:solidFill>
                  <a:srgbClr val="0F1B2D"/>
                </a:solidFill>
              </a:rPr>
              <a:t>Speed to Insight</a:t>
            </a:r>
            <a:endParaRPr lang="en-US" sz="1500" dirty="0"/>
          </a:p>
        </p:txBody>
      </p:sp>
      <p:sp>
        <p:nvSpPr>
          <p:cNvPr id="10" name="Text 7"/>
          <p:cNvSpPr/>
          <p:nvPr/>
        </p:nvSpPr>
        <p:spPr>
          <a:xfrm>
            <a:off x="1371600" y="1737360"/>
            <a:ext cx="6858000" cy="320040"/>
          </a:xfrm>
          <a:prstGeom prst="rect">
            <a:avLst/>
          </a:prstGeom>
          <a:noFill/>
          <a:ln/>
        </p:spPr>
        <p:txBody>
          <a:bodyPr wrap="square" lIns="0" tIns="0" rIns="0" bIns="0" rtlCol="0" anchor="ctr"/>
          <a:lstStyle/>
          <a:p>
            <a:pPr marL="0" indent="0">
              <a:buNone/>
            </a:pPr>
            <a:r>
              <a:rPr lang="en-US" sz="1100" dirty="0">
                <a:solidFill>
                  <a:srgbClr val="475569"/>
                </a:solidFill>
              </a:rPr>
              <a:t>Cut data collection from weeks to minutes — 100x faster than manual methods</a:t>
            </a:r>
            <a:endParaRPr lang="en-US" sz="1100" dirty="0"/>
          </a:p>
        </p:txBody>
      </p:sp>
      <p:sp>
        <p:nvSpPr>
          <p:cNvPr id="11" name="Shape 8"/>
          <p:cNvSpPr/>
          <p:nvPr/>
        </p:nvSpPr>
        <p:spPr>
          <a:xfrm>
            <a:off x="457200" y="224028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12" name="Shape 9"/>
          <p:cNvSpPr/>
          <p:nvPr/>
        </p:nvSpPr>
        <p:spPr>
          <a:xfrm>
            <a:off x="457200" y="2240280"/>
            <a:ext cx="54864" cy="777240"/>
          </a:xfrm>
          <a:prstGeom prst="rect">
            <a:avLst/>
          </a:prstGeom>
          <a:solidFill>
            <a:srgbClr val="00B4D8"/>
          </a:solidFill>
          <a:ln/>
        </p:spPr>
      </p:sp>
      <p:pic>
        <p:nvPicPr>
          <p:cNvPr id="13" name="Image 1" descr="preencoded.png"/>
          <p:cNvPicPr>
            <a:picLocks noChangeAspect="1"/>
          </p:cNvPicPr>
          <p:nvPr/>
        </p:nvPicPr>
        <p:blipFill>
          <a:blip r:embed="rId4"/>
          <a:stretch>
            <a:fillRect/>
          </a:stretch>
        </p:blipFill>
        <p:spPr>
          <a:xfrm>
            <a:off x="731520" y="2395728"/>
            <a:ext cx="411480" cy="411480"/>
          </a:xfrm>
          <a:prstGeom prst="rect">
            <a:avLst/>
          </a:prstGeom>
        </p:spPr>
      </p:pic>
      <p:sp>
        <p:nvSpPr>
          <p:cNvPr id="14" name="Text 10"/>
          <p:cNvSpPr/>
          <p:nvPr/>
        </p:nvSpPr>
        <p:spPr>
          <a:xfrm>
            <a:off x="1371600" y="2286000"/>
            <a:ext cx="6858000" cy="320040"/>
          </a:xfrm>
          <a:prstGeom prst="rect">
            <a:avLst/>
          </a:prstGeom>
          <a:noFill/>
          <a:ln/>
        </p:spPr>
        <p:txBody>
          <a:bodyPr wrap="square" lIns="0" tIns="0" rIns="0" bIns="0" rtlCol="0" anchor="ctr"/>
          <a:lstStyle/>
          <a:p>
            <a:pPr marL="0" indent="0">
              <a:buNone/>
            </a:pPr>
            <a:r>
              <a:rPr lang="en-US" sz="1500" b="1" dirty="0">
                <a:solidFill>
                  <a:srgbClr val="0F1B2D"/>
                </a:solidFill>
              </a:rPr>
              <a:t>Fuel for AI Models</a:t>
            </a:r>
            <a:endParaRPr lang="en-US" sz="1500" dirty="0"/>
          </a:p>
        </p:txBody>
      </p:sp>
      <p:sp>
        <p:nvSpPr>
          <p:cNvPr id="15" name="Text 11"/>
          <p:cNvSpPr/>
          <p:nvPr/>
        </p:nvSpPr>
        <p:spPr>
          <a:xfrm>
            <a:off x="1371600" y="2606040"/>
            <a:ext cx="6858000" cy="320040"/>
          </a:xfrm>
          <a:prstGeom prst="rect">
            <a:avLst/>
          </a:prstGeom>
          <a:noFill/>
          <a:ln/>
        </p:spPr>
        <p:txBody>
          <a:bodyPr wrap="square" lIns="0" tIns="0" rIns="0" bIns="0" rtlCol="0" anchor="ctr"/>
          <a:lstStyle/>
          <a:p>
            <a:pPr marL="0" indent="0">
              <a:buNone/>
            </a:pPr>
            <a:r>
              <a:rPr lang="en-US" sz="1100" dirty="0">
                <a:solidFill>
                  <a:srgbClr val="475569"/>
                </a:solidFill>
              </a:rPr>
              <a:t>Structured datasets are critical for training scientific ML models — no clean data, no breakthroughs</a:t>
            </a:r>
            <a:endParaRPr lang="en-US" sz="1100" dirty="0"/>
          </a:p>
        </p:txBody>
      </p:sp>
      <p:sp>
        <p:nvSpPr>
          <p:cNvPr id="16" name="Shape 12"/>
          <p:cNvSpPr/>
          <p:nvPr/>
        </p:nvSpPr>
        <p:spPr>
          <a:xfrm>
            <a:off x="457200" y="310896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17" name="Shape 13"/>
          <p:cNvSpPr/>
          <p:nvPr/>
        </p:nvSpPr>
        <p:spPr>
          <a:xfrm>
            <a:off x="457200" y="3108960"/>
            <a:ext cx="54864" cy="777240"/>
          </a:xfrm>
          <a:prstGeom prst="rect">
            <a:avLst/>
          </a:prstGeom>
          <a:solidFill>
            <a:srgbClr val="00B4D8"/>
          </a:solidFill>
          <a:ln/>
        </p:spPr>
      </p:sp>
      <p:pic>
        <p:nvPicPr>
          <p:cNvPr id="18" name="Image 2" descr="preencoded.png"/>
          <p:cNvPicPr>
            <a:picLocks noChangeAspect="1"/>
          </p:cNvPicPr>
          <p:nvPr/>
        </p:nvPicPr>
        <p:blipFill>
          <a:blip r:embed="rId5"/>
          <a:stretch>
            <a:fillRect/>
          </a:stretch>
        </p:blipFill>
        <p:spPr>
          <a:xfrm>
            <a:off x="731520" y="3264408"/>
            <a:ext cx="411480" cy="411480"/>
          </a:xfrm>
          <a:prstGeom prst="rect">
            <a:avLst/>
          </a:prstGeom>
        </p:spPr>
      </p:pic>
      <p:sp>
        <p:nvSpPr>
          <p:cNvPr id="19" name="Text 14"/>
          <p:cNvSpPr/>
          <p:nvPr/>
        </p:nvSpPr>
        <p:spPr>
          <a:xfrm>
            <a:off x="1371600" y="3154680"/>
            <a:ext cx="6858000" cy="320040"/>
          </a:xfrm>
          <a:prstGeom prst="rect">
            <a:avLst/>
          </a:prstGeom>
          <a:noFill/>
          <a:ln/>
        </p:spPr>
        <p:txBody>
          <a:bodyPr wrap="square" lIns="0" tIns="0" rIns="0" bIns="0" rtlCol="0" anchor="ctr"/>
          <a:lstStyle/>
          <a:p>
            <a:pPr marL="0" indent="0">
              <a:buNone/>
            </a:pPr>
            <a:r>
              <a:rPr lang="en-US" sz="1500" b="1" dirty="0">
                <a:solidFill>
                  <a:srgbClr val="0F1B2D"/>
                </a:solidFill>
              </a:rPr>
              <a:t>Industry Scale Impact</a:t>
            </a:r>
            <a:endParaRPr lang="en-US" sz="1500" dirty="0"/>
          </a:p>
        </p:txBody>
      </p:sp>
      <p:sp>
        <p:nvSpPr>
          <p:cNvPr id="20" name="Text 15"/>
          <p:cNvSpPr/>
          <p:nvPr/>
        </p:nvSpPr>
        <p:spPr>
          <a:xfrm>
            <a:off x="1371600" y="3474720"/>
            <a:ext cx="6858000" cy="320040"/>
          </a:xfrm>
          <a:prstGeom prst="rect">
            <a:avLst/>
          </a:prstGeom>
          <a:noFill/>
          <a:ln/>
        </p:spPr>
        <p:txBody>
          <a:bodyPr wrap="square" lIns="0" tIns="0" rIns="0" bIns="0" rtlCol="0" anchor="ctr"/>
          <a:lstStyle/>
          <a:p>
            <a:pPr marL="0" indent="0">
              <a:buNone/>
            </a:pPr>
            <a:r>
              <a:rPr lang="en-US" sz="1100" dirty="0">
                <a:solidFill>
                  <a:srgbClr val="475569"/>
                </a:solidFill>
              </a:rPr>
              <a:t>Materials, pharma, and energy sectors lose billions annually to slow literature review</a:t>
            </a:r>
            <a:endParaRPr lang="en-US" sz="1100" dirty="0"/>
          </a:p>
        </p:txBody>
      </p:sp>
      <p:sp>
        <p:nvSpPr>
          <p:cNvPr id="21" name="Shape 16"/>
          <p:cNvSpPr/>
          <p:nvPr/>
        </p:nvSpPr>
        <p:spPr>
          <a:xfrm>
            <a:off x="457200" y="397764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22" name="Shape 17"/>
          <p:cNvSpPr/>
          <p:nvPr/>
        </p:nvSpPr>
        <p:spPr>
          <a:xfrm>
            <a:off x="457200" y="3977640"/>
            <a:ext cx="54864" cy="777240"/>
          </a:xfrm>
          <a:prstGeom prst="rect">
            <a:avLst/>
          </a:prstGeom>
          <a:solidFill>
            <a:srgbClr val="00B4D8"/>
          </a:solidFill>
          <a:ln/>
        </p:spPr>
      </p:sp>
      <p:pic>
        <p:nvPicPr>
          <p:cNvPr id="23" name="Image 3" descr="preencoded.png"/>
          <p:cNvPicPr>
            <a:picLocks noChangeAspect="1"/>
          </p:cNvPicPr>
          <p:nvPr/>
        </p:nvPicPr>
        <p:blipFill>
          <a:blip r:embed="rId6"/>
          <a:stretch>
            <a:fillRect/>
          </a:stretch>
        </p:blipFill>
        <p:spPr>
          <a:xfrm>
            <a:off x="731520" y="4133088"/>
            <a:ext cx="411480" cy="411480"/>
          </a:xfrm>
          <a:prstGeom prst="rect">
            <a:avLst/>
          </a:prstGeom>
        </p:spPr>
      </p:pic>
      <p:sp>
        <p:nvSpPr>
          <p:cNvPr id="24" name="Text 18"/>
          <p:cNvSpPr/>
          <p:nvPr/>
        </p:nvSpPr>
        <p:spPr>
          <a:xfrm>
            <a:off x="1371600" y="4023360"/>
            <a:ext cx="6858000" cy="320040"/>
          </a:xfrm>
          <a:prstGeom prst="rect">
            <a:avLst/>
          </a:prstGeom>
          <a:noFill/>
          <a:ln/>
        </p:spPr>
        <p:txBody>
          <a:bodyPr wrap="square" lIns="0" tIns="0" rIns="0" bIns="0" rtlCol="0" anchor="ctr"/>
          <a:lstStyle/>
          <a:p>
            <a:pPr marL="0" indent="0">
              <a:buNone/>
            </a:pPr>
            <a:r>
              <a:rPr lang="en-US" sz="1500" b="1" dirty="0">
                <a:solidFill>
                  <a:srgbClr val="0F1B2D"/>
                </a:solidFill>
              </a:rPr>
              <a:t>Eliminate Human Error</a:t>
            </a:r>
            <a:endParaRPr lang="en-US" sz="1500" dirty="0"/>
          </a:p>
        </p:txBody>
      </p:sp>
      <p:sp>
        <p:nvSpPr>
          <p:cNvPr id="25" name="Text 19"/>
          <p:cNvSpPr/>
          <p:nvPr/>
        </p:nvSpPr>
        <p:spPr>
          <a:xfrm>
            <a:off x="1371600" y="4343400"/>
            <a:ext cx="6858000" cy="320040"/>
          </a:xfrm>
          <a:prstGeom prst="rect">
            <a:avLst/>
          </a:prstGeom>
          <a:noFill/>
          <a:ln/>
        </p:spPr>
        <p:txBody>
          <a:bodyPr wrap="square" lIns="0" tIns="0" rIns="0" bIns="0" rtlCol="0" anchor="ctr"/>
          <a:lstStyle/>
          <a:p>
            <a:pPr marL="0" indent="0">
              <a:buNone/>
            </a:pPr>
            <a:r>
              <a:rPr lang="en-US" sz="1100" dirty="0">
                <a:solidFill>
                  <a:srgbClr val="475569"/>
                </a:solidFill>
              </a:rPr>
              <a:t>Automated extraction removes the 23% error rate inherent in manual transcription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94A3B8"/>
                </a:solidFill>
              </a:rPr>
              <a:t>4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94A3B8"/>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00B4D8"/>
                </a:solidFill>
              </a:rPr>
              <a:t>THE SOLUTION</a:t>
            </a:r>
            <a:endParaRPr lang="en-US" sz="1300" dirty="0"/>
          </a:p>
        </p:txBody>
      </p:sp>
      <p:sp>
        <p:nvSpPr>
          <p:cNvPr id="5" name="Text 3"/>
          <p:cNvSpPr/>
          <p:nvPr/>
        </p:nvSpPr>
        <p:spPr>
          <a:xfrm>
            <a:off x="457200" y="640080"/>
            <a:ext cx="822960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One Query. Structured Data. Minutes.</a:t>
            </a:r>
            <a:endParaRPr lang="en-US" sz="2800" dirty="0"/>
          </a:p>
        </p:txBody>
      </p:sp>
      <p:sp>
        <p:nvSpPr>
          <p:cNvPr id="6" name="Shape 4"/>
          <p:cNvSpPr/>
          <p:nvPr/>
        </p:nvSpPr>
        <p:spPr>
          <a:xfrm>
            <a:off x="457200" y="1463040"/>
            <a:ext cx="8229600" cy="777240"/>
          </a:xfrm>
          <a:prstGeom prst="rect">
            <a:avLst/>
          </a:prstGeom>
          <a:solidFill>
            <a:srgbClr val="1A2744"/>
          </a:solidFill>
          <a:ln/>
        </p:spPr>
      </p:sp>
      <p:pic>
        <p:nvPicPr>
          <p:cNvPr id="7" name="Image 0" descr="preencoded.png"/>
          <p:cNvPicPr>
            <a:picLocks noChangeAspect="1"/>
          </p:cNvPicPr>
          <p:nvPr/>
        </p:nvPicPr>
        <p:blipFill>
          <a:blip r:embed="rId3"/>
          <a:stretch>
            <a:fillRect/>
          </a:stretch>
        </p:blipFill>
        <p:spPr>
          <a:xfrm>
            <a:off x="731520" y="1627632"/>
            <a:ext cx="411480" cy="411480"/>
          </a:xfrm>
          <a:prstGeom prst="rect">
            <a:avLst/>
          </a:prstGeom>
        </p:spPr>
      </p:pic>
      <p:sp>
        <p:nvSpPr>
          <p:cNvPr id="8" name="Text 5"/>
          <p:cNvSpPr/>
          <p:nvPr/>
        </p:nvSpPr>
        <p:spPr>
          <a:xfrm>
            <a:off x="1371600" y="1508760"/>
            <a:ext cx="2743200" cy="320040"/>
          </a:xfrm>
          <a:prstGeom prst="rect">
            <a:avLst/>
          </a:prstGeom>
          <a:noFill/>
          <a:ln/>
        </p:spPr>
        <p:txBody>
          <a:bodyPr wrap="square" lIns="0" tIns="0" rIns="0" bIns="0" rtlCol="0" anchor="ctr"/>
          <a:lstStyle/>
          <a:p>
            <a:pPr marL="0" indent="0">
              <a:buNone/>
            </a:pPr>
            <a:r>
              <a:rPr lang="en-US" sz="1500" b="1" dirty="0">
                <a:solidFill>
                  <a:srgbClr val="FFFFFF"/>
                </a:solidFill>
              </a:rPr>
              <a:t>End-to-End Automation</a:t>
            </a:r>
            <a:endParaRPr lang="en-US" sz="1500" dirty="0"/>
          </a:p>
        </p:txBody>
      </p:sp>
      <p:sp>
        <p:nvSpPr>
          <p:cNvPr id="9" name="Text 6"/>
          <p:cNvSpPr/>
          <p:nvPr/>
        </p:nvSpPr>
        <p:spPr>
          <a:xfrm>
            <a:off x="1371600" y="1828800"/>
            <a:ext cx="6858000" cy="320040"/>
          </a:xfrm>
          <a:prstGeom prst="rect">
            <a:avLst/>
          </a:prstGeom>
          <a:noFill/>
          <a:ln/>
        </p:spPr>
        <p:txBody>
          <a:bodyPr wrap="square" lIns="0" tIns="0" rIns="0" bIns="0" rtlCol="0" anchor="ctr"/>
          <a:lstStyle/>
          <a:p>
            <a:pPr marL="0" indent="0">
              <a:buNone/>
            </a:pPr>
            <a:r>
              <a:rPr lang="en-US" sz="1100" dirty="0">
                <a:solidFill>
                  <a:srgbClr val="CBD5E1"/>
                </a:solidFill>
              </a:rPr>
              <a:t>From search query to clean CSV — zero manual steps</a:t>
            </a:r>
            <a:endParaRPr lang="en-US" sz="1100" dirty="0"/>
          </a:p>
        </p:txBody>
      </p:sp>
      <p:sp>
        <p:nvSpPr>
          <p:cNvPr id="10" name="Shape 7"/>
          <p:cNvSpPr/>
          <p:nvPr/>
        </p:nvSpPr>
        <p:spPr>
          <a:xfrm>
            <a:off x="457200" y="2331720"/>
            <a:ext cx="8229600" cy="777240"/>
          </a:xfrm>
          <a:prstGeom prst="rect">
            <a:avLst/>
          </a:prstGeom>
          <a:solidFill>
            <a:srgbClr val="1A2744"/>
          </a:solidFill>
          <a:ln/>
        </p:spPr>
      </p:sp>
      <p:pic>
        <p:nvPicPr>
          <p:cNvPr id="11" name="Image 1" descr="preencoded.png"/>
          <p:cNvPicPr>
            <a:picLocks noChangeAspect="1"/>
          </p:cNvPicPr>
          <p:nvPr/>
        </p:nvPicPr>
        <p:blipFill>
          <a:blip r:embed="rId4"/>
          <a:stretch>
            <a:fillRect/>
          </a:stretch>
        </p:blipFill>
        <p:spPr>
          <a:xfrm>
            <a:off x="731520" y="2496312"/>
            <a:ext cx="411480" cy="411480"/>
          </a:xfrm>
          <a:prstGeom prst="rect">
            <a:avLst/>
          </a:prstGeom>
        </p:spPr>
      </p:pic>
      <p:sp>
        <p:nvSpPr>
          <p:cNvPr id="12" name="Text 8"/>
          <p:cNvSpPr/>
          <p:nvPr/>
        </p:nvSpPr>
        <p:spPr>
          <a:xfrm>
            <a:off x="1371600" y="2377440"/>
            <a:ext cx="2743200" cy="320040"/>
          </a:xfrm>
          <a:prstGeom prst="rect">
            <a:avLst/>
          </a:prstGeom>
          <a:noFill/>
          <a:ln/>
        </p:spPr>
        <p:txBody>
          <a:bodyPr wrap="square" lIns="0" tIns="0" rIns="0" bIns="0" rtlCol="0" anchor="ctr"/>
          <a:lstStyle/>
          <a:p>
            <a:pPr marL="0" indent="0">
              <a:buNone/>
            </a:pPr>
            <a:r>
              <a:rPr lang="en-US" sz="1500" b="1" dirty="0">
                <a:solidFill>
                  <a:srgbClr val="FFFFFF"/>
                </a:solidFill>
              </a:rPr>
              <a:t>Multi-Modal AI Engine</a:t>
            </a:r>
            <a:endParaRPr lang="en-US" sz="1500" dirty="0"/>
          </a:p>
        </p:txBody>
      </p:sp>
      <p:sp>
        <p:nvSpPr>
          <p:cNvPr id="13" name="Text 9"/>
          <p:cNvSpPr/>
          <p:nvPr/>
        </p:nvSpPr>
        <p:spPr>
          <a:xfrm>
            <a:off x="1371600" y="2697480"/>
            <a:ext cx="6858000" cy="320040"/>
          </a:xfrm>
          <a:prstGeom prst="rect">
            <a:avLst/>
          </a:prstGeom>
          <a:noFill/>
          <a:ln/>
        </p:spPr>
        <p:txBody>
          <a:bodyPr wrap="square" lIns="0" tIns="0" rIns="0" bIns="0" rtlCol="0" anchor="ctr"/>
          <a:lstStyle/>
          <a:p>
            <a:pPr marL="0" indent="0">
              <a:buNone/>
            </a:pPr>
            <a:r>
              <a:rPr lang="en-US" sz="1100" dirty="0">
                <a:solidFill>
                  <a:srgbClr val="CBD5E1"/>
                </a:solidFill>
              </a:rPr>
              <a:t>LLMs + Computer Vision + Rule-based logic working together</a:t>
            </a:r>
            <a:endParaRPr lang="en-US" sz="1100" dirty="0"/>
          </a:p>
        </p:txBody>
      </p:sp>
      <p:sp>
        <p:nvSpPr>
          <p:cNvPr id="14" name="Shape 10"/>
          <p:cNvSpPr/>
          <p:nvPr/>
        </p:nvSpPr>
        <p:spPr>
          <a:xfrm>
            <a:off x="457200" y="3200400"/>
            <a:ext cx="8229600" cy="777240"/>
          </a:xfrm>
          <a:prstGeom prst="rect">
            <a:avLst/>
          </a:prstGeom>
          <a:solidFill>
            <a:srgbClr val="1A2744"/>
          </a:solidFill>
          <a:ln/>
        </p:spPr>
      </p:sp>
      <p:pic>
        <p:nvPicPr>
          <p:cNvPr id="15" name="Image 2" descr="preencoded.png"/>
          <p:cNvPicPr>
            <a:picLocks noChangeAspect="1"/>
          </p:cNvPicPr>
          <p:nvPr/>
        </p:nvPicPr>
        <p:blipFill>
          <a:blip r:embed="rId5"/>
          <a:stretch>
            <a:fillRect/>
          </a:stretch>
        </p:blipFill>
        <p:spPr>
          <a:xfrm>
            <a:off x="731520" y="3364992"/>
            <a:ext cx="411480" cy="411480"/>
          </a:xfrm>
          <a:prstGeom prst="rect">
            <a:avLst/>
          </a:prstGeom>
        </p:spPr>
      </p:pic>
      <p:sp>
        <p:nvSpPr>
          <p:cNvPr id="16" name="Text 11"/>
          <p:cNvSpPr/>
          <p:nvPr/>
        </p:nvSpPr>
        <p:spPr>
          <a:xfrm>
            <a:off x="1371600" y="3246120"/>
            <a:ext cx="2743200" cy="320040"/>
          </a:xfrm>
          <a:prstGeom prst="rect">
            <a:avLst/>
          </a:prstGeom>
          <a:noFill/>
          <a:ln/>
        </p:spPr>
        <p:txBody>
          <a:bodyPr wrap="square" lIns="0" tIns="0" rIns="0" bIns="0" rtlCol="0" anchor="ctr"/>
          <a:lstStyle/>
          <a:p>
            <a:pPr marL="0" indent="0">
              <a:buNone/>
            </a:pPr>
            <a:r>
              <a:rPr lang="en-US" sz="1500" b="1" dirty="0">
                <a:solidFill>
                  <a:srgbClr val="FFFFFF"/>
                </a:solidFill>
              </a:rPr>
              <a:t>Domain Intelligence</a:t>
            </a:r>
            <a:endParaRPr lang="en-US" sz="1500" dirty="0"/>
          </a:p>
        </p:txBody>
      </p:sp>
      <p:sp>
        <p:nvSpPr>
          <p:cNvPr id="17" name="Text 12"/>
          <p:cNvSpPr/>
          <p:nvPr/>
        </p:nvSpPr>
        <p:spPr>
          <a:xfrm>
            <a:off x="1371600" y="3566160"/>
            <a:ext cx="6858000" cy="320040"/>
          </a:xfrm>
          <a:prstGeom prst="rect">
            <a:avLst/>
          </a:prstGeom>
          <a:noFill/>
          <a:ln/>
        </p:spPr>
        <p:txBody>
          <a:bodyPr wrap="square" lIns="0" tIns="0" rIns="0" bIns="0" rtlCol="0" anchor="ctr"/>
          <a:lstStyle/>
          <a:p>
            <a:pPr marL="0" indent="0">
              <a:buNone/>
            </a:pPr>
            <a:r>
              <a:rPr lang="en-US" sz="1100" dirty="0">
                <a:solidFill>
                  <a:srgbClr val="CBD5E1"/>
                </a:solidFill>
              </a:rPr>
              <a:t>Understands chemical aliases, material properties, and scientific units</a:t>
            </a:r>
            <a:endParaRPr lang="en-US" sz="1100" dirty="0"/>
          </a:p>
        </p:txBody>
      </p:sp>
      <p:sp>
        <p:nvSpPr>
          <p:cNvPr id="18" name="Shape 13"/>
          <p:cNvSpPr/>
          <p:nvPr/>
        </p:nvSpPr>
        <p:spPr>
          <a:xfrm>
            <a:off x="457200" y="4069080"/>
            <a:ext cx="8229600" cy="777240"/>
          </a:xfrm>
          <a:prstGeom prst="rect">
            <a:avLst/>
          </a:prstGeom>
          <a:solidFill>
            <a:srgbClr val="1A2744"/>
          </a:solidFill>
          <a:ln/>
        </p:spPr>
      </p:sp>
      <p:pic>
        <p:nvPicPr>
          <p:cNvPr id="19" name="Image 3" descr="preencoded.png"/>
          <p:cNvPicPr>
            <a:picLocks noChangeAspect="1"/>
          </p:cNvPicPr>
          <p:nvPr/>
        </p:nvPicPr>
        <p:blipFill>
          <a:blip r:embed="rId6"/>
          <a:stretch>
            <a:fillRect/>
          </a:stretch>
        </p:blipFill>
        <p:spPr>
          <a:xfrm>
            <a:off x="731520" y="4233672"/>
            <a:ext cx="411480" cy="411480"/>
          </a:xfrm>
          <a:prstGeom prst="rect">
            <a:avLst/>
          </a:prstGeom>
        </p:spPr>
      </p:pic>
      <p:sp>
        <p:nvSpPr>
          <p:cNvPr id="20" name="Text 14"/>
          <p:cNvSpPr/>
          <p:nvPr/>
        </p:nvSpPr>
        <p:spPr>
          <a:xfrm>
            <a:off x="1371600" y="4114800"/>
            <a:ext cx="2743200" cy="320040"/>
          </a:xfrm>
          <a:prstGeom prst="rect">
            <a:avLst/>
          </a:prstGeom>
          <a:noFill/>
          <a:ln/>
        </p:spPr>
        <p:txBody>
          <a:bodyPr wrap="square" lIns="0" tIns="0" rIns="0" bIns="0" rtlCol="0" anchor="ctr"/>
          <a:lstStyle/>
          <a:p>
            <a:pPr marL="0" indent="0">
              <a:buNone/>
            </a:pPr>
            <a:r>
              <a:rPr lang="en-US" sz="1500" b="1" dirty="0">
                <a:solidFill>
                  <a:srgbClr val="FFFFFF"/>
                </a:solidFill>
              </a:rPr>
              <a:t>Built-in Verification</a:t>
            </a:r>
            <a:endParaRPr lang="en-US" sz="1500" dirty="0"/>
          </a:p>
        </p:txBody>
      </p:sp>
      <p:sp>
        <p:nvSpPr>
          <p:cNvPr id="21" name="Text 15"/>
          <p:cNvSpPr/>
          <p:nvPr/>
        </p:nvSpPr>
        <p:spPr>
          <a:xfrm>
            <a:off x="1371600" y="4434840"/>
            <a:ext cx="6858000" cy="320040"/>
          </a:xfrm>
          <a:prstGeom prst="rect">
            <a:avLst/>
          </a:prstGeom>
          <a:noFill/>
          <a:ln/>
        </p:spPr>
        <p:txBody>
          <a:bodyPr wrap="square" lIns="0" tIns="0" rIns="0" bIns="0" rtlCol="0" anchor="ctr"/>
          <a:lstStyle/>
          <a:p>
            <a:pPr marL="0" indent="0">
              <a:buNone/>
            </a:pPr>
            <a:r>
              <a:rPr lang="en-US" sz="1100" dirty="0">
                <a:solidFill>
                  <a:srgbClr val="CBD5E1"/>
                </a:solidFill>
              </a:rPr>
              <a:t>Double-layer validation catches errors before they reach your dataset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475569"/>
                </a:solidFill>
              </a:rPr>
              <a:t>5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475569"/>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00B4D8"/>
                </a:solidFill>
              </a:rPr>
              <a:t>CORE CAPABILITIES</a:t>
            </a:r>
            <a:endParaRPr lang="en-US" sz="1300" dirty="0"/>
          </a:p>
        </p:txBody>
      </p:sp>
      <p:sp>
        <p:nvSpPr>
          <p:cNvPr id="5" name="Text 3"/>
          <p:cNvSpPr/>
          <p:nvPr/>
        </p:nvSpPr>
        <p:spPr>
          <a:xfrm>
            <a:off x="457200" y="640080"/>
            <a:ext cx="7315200" cy="548640"/>
          </a:xfrm>
          <a:prstGeom prst="rect">
            <a:avLst/>
          </a:prstGeom>
          <a:noFill/>
          <a:ln/>
        </p:spPr>
        <p:txBody>
          <a:bodyPr wrap="square" rtlCol="0" anchor="ctr"/>
          <a:lstStyle/>
          <a:p>
            <a:pPr marL="0" indent="0">
              <a:buNone/>
            </a:pPr>
            <a:r>
              <a:rPr lang="en-US" sz="2800" b="1" dirty="0">
                <a:solidFill>
                  <a:srgbClr val="0F1B2D"/>
                </a:solidFill>
                <a:latin typeface="Georgia" pitchFamily="34" charset="0"/>
                <a:ea typeface="Georgia" pitchFamily="34" charset="-122"/>
                <a:cs typeface="Georgia" pitchFamily="34" charset="-120"/>
              </a:rPr>
              <a:t>What Sets Us Apart</a:t>
            </a:r>
            <a:endParaRPr lang="en-US" sz="2800" dirty="0"/>
          </a:p>
        </p:txBody>
      </p:sp>
      <p:sp>
        <p:nvSpPr>
          <p:cNvPr id="6" name="Shape 4"/>
          <p:cNvSpPr/>
          <p:nvPr/>
        </p:nvSpPr>
        <p:spPr>
          <a:xfrm>
            <a:off x="457200" y="1371600"/>
            <a:ext cx="2560320" cy="1463040"/>
          </a:xfrm>
          <a:prstGeom prst="rect">
            <a:avLst/>
          </a:prstGeom>
          <a:solidFill>
            <a:srgbClr val="FFFFFF"/>
          </a:solidFill>
          <a:ln/>
          <a:effectLst>
            <a:outerShdw blurRad="101600" dist="38100" dir="81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640080" y="1554480"/>
            <a:ext cx="365760" cy="365760"/>
          </a:xfrm>
          <a:prstGeom prst="rect">
            <a:avLst/>
          </a:prstGeom>
        </p:spPr>
      </p:pic>
      <p:sp>
        <p:nvSpPr>
          <p:cNvPr id="8" name="Text 5"/>
          <p:cNvSpPr/>
          <p:nvPr/>
        </p:nvSpPr>
        <p:spPr>
          <a:xfrm>
            <a:off x="640080" y="2011680"/>
            <a:ext cx="2194560" cy="274320"/>
          </a:xfrm>
          <a:prstGeom prst="rect">
            <a:avLst/>
          </a:prstGeom>
          <a:noFill/>
          <a:ln/>
        </p:spPr>
        <p:txBody>
          <a:bodyPr wrap="square" lIns="0" tIns="0" rIns="0" bIns="0" rtlCol="0" anchor="ctr"/>
          <a:lstStyle/>
          <a:p>
            <a:pPr marL="0" indent="0">
              <a:buNone/>
            </a:pPr>
            <a:r>
              <a:rPr lang="en-US" sz="1300" b="1" dirty="0">
                <a:solidFill>
                  <a:srgbClr val="0F1B2D"/>
                </a:solidFill>
              </a:rPr>
              <a:t>Smart Retrieval</a:t>
            </a:r>
            <a:endParaRPr lang="en-US" sz="1300" dirty="0"/>
          </a:p>
        </p:txBody>
      </p:sp>
      <p:sp>
        <p:nvSpPr>
          <p:cNvPr id="9" name="Text 6"/>
          <p:cNvSpPr/>
          <p:nvPr/>
        </p:nvSpPr>
        <p:spPr>
          <a:xfrm>
            <a:off x="640080" y="2286000"/>
            <a:ext cx="2194560" cy="457200"/>
          </a:xfrm>
          <a:prstGeom prst="rect">
            <a:avLst/>
          </a:prstGeom>
          <a:noFill/>
          <a:ln/>
        </p:spPr>
        <p:txBody>
          <a:bodyPr wrap="square" lIns="0" tIns="0" rIns="0" bIns="0" rtlCol="0" anchor="ctr"/>
          <a:lstStyle/>
          <a:p>
            <a:pPr marL="0" indent="0">
              <a:buNone/>
            </a:pPr>
            <a:r>
              <a:rPr lang="en-US" sz="1000" dirty="0">
                <a:solidFill>
                  <a:srgbClr val="475569"/>
                </a:solidFill>
              </a:rPr>
              <a:t>Auto-downloads papers from multiple sources with rate-limit handling</a:t>
            </a:r>
            <a:endParaRPr lang="en-US" sz="1000" dirty="0"/>
          </a:p>
        </p:txBody>
      </p:sp>
      <p:sp>
        <p:nvSpPr>
          <p:cNvPr id="10" name="Shape 7"/>
          <p:cNvSpPr/>
          <p:nvPr/>
        </p:nvSpPr>
        <p:spPr>
          <a:xfrm>
            <a:off x="3291840" y="1371600"/>
            <a:ext cx="2560320" cy="1463040"/>
          </a:xfrm>
          <a:prstGeom prst="rect">
            <a:avLst/>
          </a:prstGeom>
          <a:solidFill>
            <a:srgbClr val="FFFFFF"/>
          </a:solidFill>
          <a:ln/>
          <a:effectLst>
            <a:outerShdw blurRad="101600" dist="38100" dir="81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3474720" y="1554480"/>
            <a:ext cx="365760" cy="365760"/>
          </a:xfrm>
          <a:prstGeom prst="rect">
            <a:avLst/>
          </a:prstGeom>
        </p:spPr>
      </p:pic>
      <p:sp>
        <p:nvSpPr>
          <p:cNvPr id="12" name="Text 8"/>
          <p:cNvSpPr/>
          <p:nvPr/>
        </p:nvSpPr>
        <p:spPr>
          <a:xfrm>
            <a:off x="3474720" y="2011680"/>
            <a:ext cx="2194560" cy="274320"/>
          </a:xfrm>
          <a:prstGeom prst="rect">
            <a:avLst/>
          </a:prstGeom>
          <a:noFill/>
          <a:ln/>
        </p:spPr>
        <p:txBody>
          <a:bodyPr wrap="square" lIns="0" tIns="0" rIns="0" bIns="0" rtlCol="0" anchor="ctr"/>
          <a:lstStyle/>
          <a:p>
            <a:pPr marL="0" indent="0">
              <a:buNone/>
            </a:pPr>
            <a:r>
              <a:rPr lang="en-US" sz="1300" b="1" dirty="0">
                <a:solidFill>
                  <a:srgbClr val="0F1B2D"/>
                </a:solidFill>
              </a:rPr>
              <a:t>NLP Screening</a:t>
            </a:r>
            <a:endParaRPr lang="en-US" sz="1300" dirty="0"/>
          </a:p>
        </p:txBody>
      </p:sp>
      <p:sp>
        <p:nvSpPr>
          <p:cNvPr id="13" name="Text 9"/>
          <p:cNvSpPr/>
          <p:nvPr/>
        </p:nvSpPr>
        <p:spPr>
          <a:xfrm>
            <a:off x="3474720" y="2286000"/>
            <a:ext cx="2194560" cy="457200"/>
          </a:xfrm>
          <a:prstGeom prst="rect">
            <a:avLst/>
          </a:prstGeom>
          <a:noFill/>
          <a:ln/>
        </p:spPr>
        <p:txBody>
          <a:bodyPr wrap="square" lIns="0" tIns="0" rIns="0" bIns="0" rtlCol="0" anchor="ctr"/>
          <a:lstStyle/>
          <a:p>
            <a:pPr marL="0" indent="0">
              <a:buNone/>
            </a:pPr>
            <a:r>
              <a:rPr lang="en-US" sz="1000" dirty="0">
                <a:solidFill>
                  <a:srgbClr val="475569"/>
                </a:solidFill>
              </a:rPr>
              <a:t>Discards irrelevant papers instantly — only processes what matters</a:t>
            </a:r>
            <a:endParaRPr lang="en-US" sz="1000" dirty="0"/>
          </a:p>
        </p:txBody>
      </p:sp>
      <p:sp>
        <p:nvSpPr>
          <p:cNvPr id="14" name="Shape 10"/>
          <p:cNvSpPr/>
          <p:nvPr/>
        </p:nvSpPr>
        <p:spPr>
          <a:xfrm>
            <a:off x="6126480" y="1371600"/>
            <a:ext cx="2560320" cy="1463040"/>
          </a:xfrm>
          <a:prstGeom prst="rect">
            <a:avLst/>
          </a:prstGeom>
          <a:solidFill>
            <a:srgbClr val="FFFFFF"/>
          </a:solidFill>
          <a:ln/>
          <a:effectLst>
            <a:outerShdw blurRad="101600" dist="38100" dir="8100000" algn="bl" rotWithShape="0">
              <a:srgbClr val="000000">
                <a:alpha val="12000"/>
              </a:srgbClr>
            </a:outerShdw>
          </a:effectLst>
        </p:spPr>
      </p:sp>
      <p:pic>
        <p:nvPicPr>
          <p:cNvPr id="15" name="Image 2" descr="preencoded.png"/>
          <p:cNvPicPr>
            <a:picLocks noChangeAspect="1"/>
          </p:cNvPicPr>
          <p:nvPr/>
        </p:nvPicPr>
        <p:blipFill>
          <a:blip r:embed="rId5"/>
          <a:stretch>
            <a:fillRect/>
          </a:stretch>
        </p:blipFill>
        <p:spPr>
          <a:xfrm>
            <a:off x="6309360" y="1554480"/>
            <a:ext cx="365760" cy="365760"/>
          </a:xfrm>
          <a:prstGeom prst="rect">
            <a:avLst/>
          </a:prstGeom>
        </p:spPr>
      </p:pic>
      <p:sp>
        <p:nvSpPr>
          <p:cNvPr id="16" name="Text 11"/>
          <p:cNvSpPr/>
          <p:nvPr/>
        </p:nvSpPr>
        <p:spPr>
          <a:xfrm>
            <a:off x="6309360" y="2011680"/>
            <a:ext cx="2194560" cy="274320"/>
          </a:xfrm>
          <a:prstGeom prst="rect">
            <a:avLst/>
          </a:prstGeom>
          <a:noFill/>
          <a:ln/>
        </p:spPr>
        <p:txBody>
          <a:bodyPr wrap="square" lIns="0" tIns="0" rIns="0" bIns="0" rtlCol="0" anchor="ctr"/>
          <a:lstStyle/>
          <a:p>
            <a:pPr marL="0" indent="0">
              <a:buNone/>
            </a:pPr>
            <a:r>
              <a:rPr lang="en-US" sz="1300" b="1" dirty="0">
                <a:solidFill>
                  <a:srgbClr val="0F1B2D"/>
                </a:solidFill>
              </a:rPr>
              <a:t>Alias Resolution</a:t>
            </a:r>
            <a:endParaRPr lang="en-US" sz="1300" dirty="0"/>
          </a:p>
        </p:txBody>
      </p:sp>
      <p:sp>
        <p:nvSpPr>
          <p:cNvPr id="17" name="Text 12"/>
          <p:cNvSpPr/>
          <p:nvPr/>
        </p:nvSpPr>
        <p:spPr>
          <a:xfrm>
            <a:off x="6309360" y="2286000"/>
            <a:ext cx="2194560" cy="457200"/>
          </a:xfrm>
          <a:prstGeom prst="rect">
            <a:avLst/>
          </a:prstGeom>
          <a:noFill/>
          <a:ln/>
        </p:spPr>
        <p:txBody>
          <a:bodyPr wrap="square" lIns="0" tIns="0" rIns="0" bIns="0" rtlCol="0" anchor="ctr"/>
          <a:lstStyle/>
          <a:p>
            <a:pPr marL="0" indent="0">
              <a:buNone/>
            </a:pPr>
            <a:r>
              <a:rPr lang="en-US" sz="1000" dirty="0">
                <a:solidFill>
                  <a:srgbClr val="475569"/>
                </a:solidFill>
              </a:rPr>
              <a:t>Detects all name variants (e.g., LFP = Lithium Iron Phosphate)</a:t>
            </a:r>
            <a:endParaRPr lang="en-US" sz="1000" dirty="0"/>
          </a:p>
        </p:txBody>
      </p:sp>
      <p:sp>
        <p:nvSpPr>
          <p:cNvPr id="18" name="Shape 13"/>
          <p:cNvSpPr/>
          <p:nvPr/>
        </p:nvSpPr>
        <p:spPr>
          <a:xfrm>
            <a:off x="457200" y="3108960"/>
            <a:ext cx="2560320" cy="1463040"/>
          </a:xfrm>
          <a:prstGeom prst="rect">
            <a:avLst/>
          </a:prstGeom>
          <a:solidFill>
            <a:srgbClr val="FFFFFF"/>
          </a:solidFill>
          <a:ln/>
          <a:effectLst>
            <a:outerShdw blurRad="101600" dist="38100" dir="8100000" algn="bl" rotWithShape="0">
              <a:srgbClr val="000000">
                <a:alpha val="12000"/>
              </a:srgbClr>
            </a:outerShdw>
          </a:effectLst>
        </p:spPr>
      </p:sp>
      <p:pic>
        <p:nvPicPr>
          <p:cNvPr id="19" name="Image 3" descr="preencoded.png"/>
          <p:cNvPicPr>
            <a:picLocks noChangeAspect="1"/>
          </p:cNvPicPr>
          <p:nvPr/>
        </p:nvPicPr>
        <p:blipFill>
          <a:blip r:embed="rId6"/>
          <a:stretch>
            <a:fillRect/>
          </a:stretch>
        </p:blipFill>
        <p:spPr>
          <a:xfrm>
            <a:off x="640080" y="3291840"/>
            <a:ext cx="365760" cy="365760"/>
          </a:xfrm>
          <a:prstGeom prst="rect">
            <a:avLst/>
          </a:prstGeom>
        </p:spPr>
      </p:pic>
      <p:sp>
        <p:nvSpPr>
          <p:cNvPr id="20" name="Text 14"/>
          <p:cNvSpPr/>
          <p:nvPr/>
        </p:nvSpPr>
        <p:spPr>
          <a:xfrm>
            <a:off x="640080" y="3749040"/>
            <a:ext cx="2194560" cy="274320"/>
          </a:xfrm>
          <a:prstGeom prst="rect">
            <a:avLst/>
          </a:prstGeom>
          <a:noFill/>
          <a:ln/>
        </p:spPr>
        <p:txBody>
          <a:bodyPr wrap="square" lIns="0" tIns="0" rIns="0" bIns="0" rtlCol="0" anchor="ctr"/>
          <a:lstStyle/>
          <a:p>
            <a:pPr marL="0" indent="0">
              <a:buNone/>
            </a:pPr>
            <a:r>
              <a:rPr lang="en-US" sz="1300" b="1" dirty="0">
                <a:solidFill>
                  <a:srgbClr val="0F1B2D"/>
                </a:solidFill>
              </a:rPr>
              <a:t>Multi-Source Extraction</a:t>
            </a:r>
            <a:endParaRPr lang="en-US" sz="1300" dirty="0"/>
          </a:p>
        </p:txBody>
      </p:sp>
      <p:sp>
        <p:nvSpPr>
          <p:cNvPr id="21" name="Text 15"/>
          <p:cNvSpPr/>
          <p:nvPr/>
        </p:nvSpPr>
        <p:spPr>
          <a:xfrm>
            <a:off x="640080" y="4023360"/>
            <a:ext cx="2194560" cy="457200"/>
          </a:xfrm>
          <a:prstGeom prst="rect">
            <a:avLst/>
          </a:prstGeom>
          <a:noFill/>
          <a:ln/>
        </p:spPr>
        <p:txBody>
          <a:bodyPr wrap="square" lIns="0" tIns="0" rIns="0" bIns="0" rtlCol="0" anchor="ctr"/>
          <a:lstStyle/>
          <a:p>
            <a:pPr marL="0" indent="0">
              <a:buNone/>
            </a:pPr>
            <a:r>
              <a:rPr lang="en-US" sz="1000" dirty="0">
                <a:solidFill>
                  <a:srgbClr val="475569"/>
                </a:solidFill>
              </a:rPr>
              <a:t>Pulls data from text, tables, and figures simultaneously</a:t>
            </a:r>
            <a:endParaRPr lang="en-US" sz="1000" dirty="0"/>
          </a:p>
        </p:txBody>
      </p:sp>
      <p:sp>
        <p:nvSpPr>
          <p:cNvPr id="22" name="Shape 16"/>
          <p:cNvSpPr/>
          <p:nvPr/>
        </p:nvSpPr>
        <p:spPr>
          <a:xfrm>
            <a:off x="3291840" y="3108960"/>
            <a:ext cx="2560320" cy="1463040"/>
          </a:xfrm>
          <a:prstGeom prst="rect">
            <a:avLst/>
          </a:prstGeom>
          <a:solidFill>
            <a:srgbClr val="FFFFFF"/>
          </a:solidFill>
          <a:ln/>
          <a:effectLst>
            <a:outerShdw blurRad="101600" dist="38100" dir="8100000" algn="bl" rotWithShape="0">
              <a:srgbClr val="000000">
                <a:alpha val="12000"/>
              </a:srgbClr>
            </a:outerShdw>
          </a:effectLst>
        </p:spPr>
      </p:sp>
      <p:pic>
        <p:nvPicPr>
          <p:cNvPr id="23" name="Image 4" descr="preencoded.png"/>
          <p:cNvPicPr>
            <a:picLocks noChangeAspect="1"/>
          </p:cNvPicPr>
          <p:nvPr/>
        </p:nvPicPr>
        <p:blipFill>
          <a:blip r:embed="rId7"/>
          <a:stretch>
            <a:fillRect/>
          </a:stretch>
        </p:blipFill>
        <p:spPr>
          <a:xfrm>
            <a:off x="3474720" y="3291840"/>
            <a:ext cx="365760" cy="365760"/>
          </a:xfrm>
          <a:prstGeom prst="rect">
            <a:avLst/>
          </a:prstGeom>
        </p:spPr>
      </p:pic>
      <p:sp>
        <p:nvSpPr>
          <p:cNvPr id="24" name="Text 17"/>
          <p:cNvSpPr/>
          <p:nvPr/>
        </p:nvSpPr>
        <p:spPr>
          <a:xfrm>
            <a:off x="3474720" y="3749040"/>
            <a:ext cx="2194560" cy="274320"/>
          </a:xfrm>
          <a:prstGeom prst="rect">
            <a:avLst/>
          </a:prstGeom>
          <a:noFill/>
          <a:ln/>
        </p:spPr>
        <p:txBody>
          <a:bodyPr wrap="square" lIns="0" tIns="0" rIns="0" bIns="0" rtlCol="0" anchor="ctr"/>
          <a:lstStyle/>
          <a:p>
            <a:pPr marL="0" indent="0">
              <a:buNone/>
            </a:pPr>
            <a:r>
              <a:rPr lang="en-US" sz="1300" b="1" dirty="0">
                <a:solidFill>
                  <a:srgbClr val="0F1B2D"/>
                </a:solidFill>
              </a:rPr>
              <a:t>Graph Digitization</a:t>
            </a:r>
            <a:endParaRPr lang="en-US" sz="1300" dirty="0"/>
          </a:p>
        </p:txBody>
      </p:sp>
      <p:sp>
        <p:nvSpPr>
          <p:cNvPr id="25" name="Text 18"/>
          <p:cNvSpPr/>
          <p:nvPr/>
        </p:nvSpPr>
        <p:spPr>
          <a:xfrm>
            <a:off x="3474720" y="4023360"/>
            <a:ext cx="2194560" cy="457200"/>
          </a:xfrm>
          <a:prstGeom prst="rect">
            <a:avLst/>
          </a:prstGeom>
          <a:noFill/>
          <a:ln/>
        </p:spPr>
        <p:txBody>
          <a:bodyPr wrap="square" lIns="0" tIns="0" rIns="0" bIns="0" rtlCol="0" anchor="ctr"/>
          <a:lstStyle/>
          <a:p>
            <a:pPr marL="0" indent="0">
              <a:buNone/>
            </a:pPr>
            <a:r>
              <a:rPr lang="en-US" sz="1000" dirty="0">
                <a:solidFill>
                  <a:srgbClr val="475569"/>
                </a:solidFill>
              </a:rPr>
              <a:t>Converts static plot images into raw (x,y) coordinate data</a:t>
            </a:r>
            <a:endParaRPr lang="en-US" sz="1000" dirty="0"/>
          </a:p>
        </p:txBody>
      </p:sp>
      <p:sp>
        <p:nvSpPr>
          <p:cNvPr id="26" name="Shape 19"/>
          <p:cNvSpPr/>
          <p:nvPr/>
        </p:nvSpPr>
        <p:spPr>
          <a:xfrm>
            <a:off x="6126480" y="3108960"/>
            <a:ext cx="2560320" cy="1463040"/>
          </a:xfrm>
          <a:prstGeom prst="rect">
            <a:avLst/>
          </a:prstGeom>
          <a:solidFill>
            <a:srgbClr val="FFFFFF"/>
          </a:solidFill>
          <a:ln/>
          <a:effectLst>
            <a:outerShdw blurRad="101600" dist="38100" dir="8100000" algn="bl" rotWithShape="0">
              <a:srgbClr val="000000">
                <a:alpha val="12000"/>
              </a:srgbClr>
            </a:outerShdw>
          </a:effectLst>
        </p:spPr>
      </p:sp>
      <p:pic>
        <p:nvPicPr>
          <p:cNvPr id="27" name="Image 5" descr="preencoded.png"/>
          <p:cNvPicPr>
            <a:picLocks noChangeAspect="1"/>
          </p:cNvPicPr>
          <p:nvPr/>
        </p:nvPicPr>
        <p:blipFill>
          <a:blip r:embed="rId8"/>
          <a:stretch>
            <a:fillRect/>
          </a:stretch>
        </p:blipFill>
        <p:spPr>
          <a:xfrm>
            <a:off x="6309360" y="3291840"/>
            <a:ext cx="365760" cy="365760"/>
          </a:xfrm>
          <a:prstGeom prst="rect">
            <a:avLst/>
          </a:prstGeom>
        </p:spPr>
      </p:pic>
      <p:sp>
        <p:nvSpPr>
          <p:cNvPr id="28" name="Text 20"/>
          <p:cNvSpPr/>
          <p:nvPr/>
        </p:nvSpPr>
        <p:spPr>
          <a:xfrm>
            <a:off x="6309360" y="3749040"/>
            <a:ext cx="2194560" cy="274320"/>
          </a:xfrm>
          <a:prstGeom prst="rect">
            <a:avLst/>
          </a:prstGeom>
          <a:noFill/>
          <a:ln/>
        </p:spPr>
        <p:txBody>
          <a:bodyPr wrap="square" lIns="0" tIns="0" rIns="0" bIns="0" rtlCol="0" anchor="ctr"/>
          <a:lstStyle/>
          <a:p>
            <a:pPr marL="0" indent="0">
              <a:buNone/>
            </a:pPr>
            <a:r>
              <a:rPr lang="en-US" sz="1300" b="1" dirty="0">
                <a:solidFill>
                  <a:srgbClr val="0F1B2D"/>
                </a:solidFill>
              </a:rPr>
              <a:t>Dataset Synthesis</a:t>
            </a:r>
            <a:endParaRPr lang="en-US" sz="1300" dirty="0"/>
          </a:p>
        </p:txBody>
      </p:sp>
      <p:sp>
        <p:nvSpPr>
          <p:cNvPr id="29" name="Text 21"/>
          <p:cNvSpPr/>
          <p:nvPr/>
        </p:nvSpPr>
        <p:spPr>
          <a:xfrm>
            <a:off x="6309360" y="4023360"/>
            <a:ext cx="2194560" cy="457200"/>
          </a:xfrm>
          <a:prstGeom prst="rect">
            <a:avLst/>
          </a:prstGeom>
          <a:noFill/>
          <a:ln/>
        </p:spPr>
        <p:txBody>
          <a:bodyPr wrap="square" lIns="0" tIns="0" rIns="0" bIns="0" rtlCol="0" anchor="ctr"/>
          <a:lstStyle/>
          <a:p>
            <a:pPr marL="0" indent="0">
              <a:buNone/>
            </a:pPr>
            <a:r>
              <a:rPr lang="en-US" sz="1000" dirty="0">
                <a:solidFill>
                  <a:srgbClr val="475569"/>
                </a:solidFill>
              </a:rPr>
              <a:t>Merges all findings into one unified, deduplicated dataset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94A3B8"/>
                </a:solidFill>
              </a:rPr>
              <a:t>6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94A3B8"/>
                </a:solidFill>
              </a:rPr>
              <a:t>Research Mining Pro</a:t>
            </a:r>
            <a:endParaRPr lang="en-US" sz="900" dirty="0"/>
          </a:p>
        </p:txBody>
      </p:sp>
      <p:sp>
        <p:nvSpPr>
          <p:cNvPr id="4" name="Text 2"/>
          <p:cNvSpPr/>
          <p:nvPr/>
        </p:nvSpPr>
        <p:spPr>
          <a:xfrm>
            <a:off x="457200" y="274320"/>
            <a:ext cx="4572000" cy="365760"/>
          </a:xfrm>
          <a:prstGeom prst="rect">
            <a:avLst/>
          </a:prstGeom>
          <a:noFill/>
          <a:ln/>
        </p:spPr>
        <p:txBody>
          <a:bodyPr wrap="square" rtlCol="0" anchor="ctr"/>
          <a:lstStyle/>
          <a:p>
            <a:pPr marL="0" indent="0">
              <a:buNone/>
            </a:pPr>
            <a:r>
              <a:rPr lang="en-US" sz="1300" b="1" kern="0" spc="400" dirty="0">
                <a:solidFill>
                  <a:srgbClr val="00B4D8"/>
                </a:solidFill>
              </a:rPr>
              <a:t>SYSTEM ARCHITECTURE</a:t>
            </a:r>
            <a:endParaRPr lang="en-US" sz="1300" dirty="0"/>
          </a:p>
        </p:txBody>
      </p:sp>
      <p:sp>
        <p:nvSpPr>
          <p:cNvPr id="5" name="Text 3"/>
          <p:cNvSpPr/>
          <p:nvPr/>
        </p:nvSpPr>
        <p:spPr>
          <a:xfrm>
            <a:off x="457200" y="640080"/>
            <a:ext cx="7315200"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Modular. Resilient. Scalable.</a:t>
            </a:r>
            <a:endParaRPr lang="en-US" sz="2400" dirty="0"/>
          </a:p>
        </p:txBody>
      </p:sp>
      <p:sp>
        <p:nvSpPr>
          <p:cNvPr id="6" name="Shape 4"/>
          <p:cNvSpPr/>
          <p:nvPr/>
        </p:nvSpPr>
        <p:spPr>
          <a:xfrm>
            <a:off x="274320" y="1371600"/>
            <a:ext cx="1371600" cy="640080"/>
          </a:xfrm>
          <a:prstGeom prst="rect">
            <a:avLst/>
          </a:prstGeom>
          <a:solidFill>
            <a:srgbClr val="1E3A5F"/>
          </a:solidFill>
          <a:ln/>
          <a:effectLst>
            <a:outerShdw blurRad="101600" dist="38100" dir="8100000" algn="bl" rotWithShape="0">
              <a:srgbClr val="000000">
                <a:alpha val="12000"/>
              </a:srgbClr>
            </a:outerShdw>
          </a:effectLst>
        </p:spPr>
      </p:sp>
      <p:sp>
        <p:nvSpPr>
          <p:cNvPr id="7" name="Text 5"/>
          <p:cNvSpPr/>
          <p:nvPr/>
        </p:nvSpPr>
        <p:spPr>
          <a:xfrm>
            <a:off x="274320" y="1371600"/>
            <a:ext cx="1371600" cy="640080"/>
          </a:xfrm>
          <a:prstGeom prst="rect">
            <a:avLst/>
          </a:prstGeom>
          <a:noFill/>
          <a:ln/>
        </p:spPr>
        <p:txBody>
          <a:bodyPr wrap="square" lIns="0" tIns="0" rIns="0" bIns="0" rtlCol="0" anchor="ctr"/>
          <a:lstStyle/>
          <a:p>
            <a:pPr marL="0" indent="0" algn="ctr">
              <a:buNone/>
            </a:pPr>
            <a:r>
              <a:rPr lang="en-US" sz="900" b="1" dirty="0">
                <a:solidFill>
                  <a:srgbClr val="FFFFFF"/>
                </a:solidFill>
              </a:rPr>
              <a:t>API Layer</a:t>
            </a:r>
            <a:endParaRPr lang="en-US" sz="900" dirty="0"/>
          </a:p>
        </p:txBody>
      </p:sp>
      <p:sp>
        <p:nvSpPr>
          <p:cNvPr id="8" name="Shape 6"/>
          <p:cNvSpPr/>
          <p:nvPr/>
        </p:nvSpPr>
        <p:spPr>
          <a:xfrm>
            <a:off x="2011680" y="1371600"/>
            <a:ext cx="1371600" cy="640080"/>
          </a:xfrm>
          <a:prstGeom prst="rect">
            <a:avLst/>
          </a:prstGeom>
          <a:solidFill>
            <a:srgbClr val="1E3A5F"/>
          </a:solidFill>
          <a:ln/>
          <a:effectLst>
            <a:outerShdw blurRad="101600" dist="38100" dir="8100000" algn="bl" rotWithShape="0">
              <a:srgbClr val="000000">
                <a:alpha val="12000"/>
              </a:srgbClr>
            </a:outerShdw>
          </a:effectLst>
        </p:spPr>
      </p:sp>
      <p:sp>
        <p:nvSpPr>
          <p:cNvPr id="9" name="Text 7"/>
          <p:cNvSpPr/>
          <p:nvPr/>
        </p:nvSpPr>
        <p:spPr>
          <a:xfrm>
            <a:off x="2011680" y="1371600"/>
            <a:ext cx="1371600" cy="640080"/>
          </a:xfrm>
          <a:prstGeom prst="rect">
            <a:avLst/>
          </a:prstGeom>
          <a:noFill/>
          <a:ln/>
        </p:spPr>
        <p:txBody>
          <a:bodyPr wrap="square" lIns="0" tIns="0" rIns="0" bIns="0" rtlCol="0" anchor="ctr"/>
          <a:lstStyle/>
          <a:p>
            <a:pPr marL="0" indent="0" algn="ctr">
              <a:buNone/>
            </a:pPr>
            <a:r>
              <a:rPr lang="en-US" sz="900" b="1" dirty="0">
                <a:solidFill>
                  <a:srgbClr val="FFFFFF"/>
                </a:solidFill>
              </a:rPr>
              <a:t>Pipeline</a:t>
            </a:r>
            <a:endParaRPr lang="en-US" sz="900" dirty="0"/>
          </a:p>
          <a:p>
            <a:pPr marL="0" indent="0" algn="ctr">
              <a:buNone/>
            </a:pPr>
            <a:r>
              <a:rPr lang="en-US" sz="900" b="1" dirty="0">
                <a:solidFill>
                  <a:srgbClr val="FFFFFF"/>
                </a:solidFill>
              </a:rPr>
              <a:t>Controller</a:t>
            </a:r>
            <a:endParaRPr lang="en-US" sz="900" dirty="0"/>
          </a:p>
        </p:txBody>
      </p:sp>
      <p:sp>
        <p:nvSpPr>
          <p:cNvPr id="10" name="Shape 8"/>
          <p:cNvSpPr/>
          <p:nvPr/>
        </p:nvSpPr>
        <p:spPr>
          <a:xfrm>
            <a:off x="3749040" y="1371600"/>
            <a:ext cx="1371600" cy="640080"/>
          </a:xfrm>
          <a:prstGeom prst="rect">
            <a:avLst/>
          </a:prstGeom>
          <a:solidFill>
            <a:srgbClr val="1E3A5F"/>
          </a:solidFill>
          <a:ln/>
          <a:effectLst>
            <a:outerShdw blurRad="101600" dist="38100" dir="8100000" algn="bl" rotWithShape="0">
              <a:srgbClr val="000000">
                <a:alpha val="12000"/>
              </a:srgbClr>
            </a:outerShdw>
          </a:effectLst>
        </p:spPr>
      </p:sp>
      <p:sp>
        <p:nvSpPr>
          <p:cNvPr id="11" name="Text 9"/>
          <p:cNvSpPr/>
          <p:nvPr/>
        </p:nvSpPr>
        <p:spPr>
          <a:xfrm>
            <a:off x="3749040" y="1371600"/>
            <a:ext cx="1371600" cy="640080"/>
          </a:xfrm>
          <a:prstGeom prst="rect">
            <a:avLst/>
          </a:prstGeom>
          <a:noFill/>
          <a:ln/>
        </p:spPr>
        <p:txBody>
          <a:bodyPr wrap="square" lIns="0" tIns="0" rIns="0" bIns="0" rtlCol="0" anchor="ctr"/>
          <a:lstStyle/>
          <a:p>
            <a:pPr marL="0" indent="0" algn="ctr">
              <a:buNone/>
            </a:pPr>
            <a:r>
              <a:rPr lang="en-US" sz="900" b="1" dirty="0">
                <a:solidFill>
                  <a:srgbClr val="FFFFFF"/>
                </a:solidFill>
              </a:rPr>
              <a:t>PDF</a:t>
            </a:r>
            <a:endParaRPr lang="en-US" sz="900" dirty="0"/>
          </a:p>
          <a:p>
            <a:pPr marL="0" indent="0" algn="ctr">
              <a:buNone/>
            </a:pPr>
            <a:r>
              <a:rPr lang="en-US" sz="900" b="1" dirty="0">
                <a:solidFill>
                  <a:srgbClr val="FFFFFF"/>
                </a:solidFill>
              </a:rPr>
              <a:t>Downloader</a:t>
            </a:r>
            <a:endParaRPr lang="en-US" sz="900" dirty="0"/>
          </a:p>
        </p:txBody>
      </p:sp>
      <p:sp>
        <p:nvSpPr>
          <p:cNvPr id="12" name="Shape 10"/>
          <p:cNvSpPr/>
          <p:nvPr/>
        </p:nvSpPr>
        <p:spPr>
          <a:xfrm>
            <a:off x="5486400" y="1371600"/>
            <a:ext cx="1371600" cy="640080"/>
          </a:xfrm>
          <a:prstGeom prst="rect">
            <a:avLst/>
          </a:prstGeom>
          <a:solidFill>
            <a:srgbClr val="1E3A5F"/>
          </a:solidFill>
          <a:ln/>
          <a:effectLst>
            <a:outerShdw blurRad="101600" dist="38100" dir="8100000" algn="bl" rotWithShape="0">
              <a:srgbClr val="000000">
                <a:alpha val="12000"/>
              </a:srgbClr>
            </a:outerShdw>
          </a:effectLst>
        </p:spPr>
      </p:sp>
      <p:sp>
        <p:nvSpPr>
          <p:cNvPr id="13" name="Text 11"/>
          <p:cNvSpPr/>
          <p:nvPr/>
        </p:nvSpPr>
        <p:spPr>
          <a:xfrm>
            <a:off x="5486400" y="1371600"/>
            <a:ext cx="1371600" cy="640080"/>
          </a:xfrm>
          <a:prstGeom prst="rect">
            <a:avLst/>
          </a:prstGeom>
          <a:noFill/>
          <a:ln/>
        </p:spPr>
        <p:txBody>
          <a:bodyPr wrap="square" lIns="0" tIns="0" rIns="0" bIns="0" rtlCol="0" anchor="ctr"/>
          <a:lstStyle/>
          <a:p>
            <a:pPr marL="0" indent="0" algn="ctr">
              <a:buNone/>
            </a:pPr>
            <a:r>
              <a:rPr lang="en-US" sz="900" b="1" dirty="0">
                <a:solidFill>
                  <a:srgbClr val="FFFFFF"/>
                </a:solidFill>
              </a:rPr>
              <a:t>NLP</a:t>
            </a:r>
            <a:endParaRPr lang="en-US" sz="900" dirty="0"/>
          </a:p>
          <a:p>
            <a:pPr marL="0" indent="0" algn="ctr">
              <a:buNone/>
            </a:pPr>
            <a:r>
              <a:rPr lang="en-US" sz="900" b="1" dirty="0">
                <a:solidFill>
                  <a:srgbClr val="FFFFFF"/>
                </a:solidFill>
              </a:rPr>
              <a:t>Screening</a:t>
            </a:r>
            <a:endParaRPr lang="en-US" sz="900" dirty="0"/>
          </a:p>
        </p:txBody>
      </p:sp>
      <p:sp>
        <p:nvSpPr>
          <p:cNvPr id="14" name="Shape 12"/>
          <p:cNvSpPr/>
          <p:nvPr/>
        </p:nvSpPr>
        <p:spPr>
          <a:xfrm>
            <a:off x="7223760" y="1371600"/>
            <a:ext cx="1645920" cy="640080"/>
          </a:xfrm>
          <a:prstGeom prst="rect">
            <a:avLst/>
          </a:prstGeom>
          <a:solidFill>
            <a:srgbClr val="1E3A5F"/>
          </a:solidFill>
          <a:ln/>
          <a:effectLst>
            <a:outerShdw blurRad="101600" dist="38100" dir="8100000" algn="bl" rotWithShape="0">
              <a:srgbClr val="000000">
                <a:alpha val="12000"/>
              </a:srgbClr>
            </a:outerShdw>
          </a:effectLst>
        </p:spPr>
      </p:sp>
      <p:sp>
        <p:nvSpPr>
          <p:cNvPr id="15" name="Text 13"/>
          <p:cNvSpPr/>
          <p:nvPr/>
        </p:nvSpPr>
        <p:spPr>
          <a:xfrm>
            <a:off x="7223760" y="1371600"/>
            <a:ext cx="1645920" cy="640080"/>
          </a:xfrm>
          <a:prstGeom prst="rect">
            <a:avLst/>
          </a:prstGeom>
          <a:noFill/>
          <a:ln/>
        </p:spPr>
        <p:txBody>
          <a:bodyPr wrap="square" lIns="0" tIns="0" rIns="0" bIns="0" rtlCol="0" anchor="ctr"/>
          <a:lstStyle/>
          <a:p>
            <a:pPr marL="0" indent="0" algn="ctr">
              <a:buNone/>
            </a:pPr>
            <a:r>
              <a:rPr lang="en-US" sz="900" b="1" dirty="0">
                <a:solidFill>
                  <a:srgbClr val="FFFFFF"/>
                </a:solidFill>
              </a:rPr>
              <a:t>Page</a:t>
            </a:r>
            <a:endParaRPr lang="en-US" sz="900" dirty="0"/>
          </a:p>
          <a:p>
            <a:pPr marL="0" indent="0" algn="ctr">
              <a:buNone/>
            </a:pPr>
            <a:r>
              <a:rPr lang="en-US" sz="900" b="1" dirty="0">
                <a:solidFill>
                  <a:srgbClr val="FFFFFF"/>
                </a:solidFill>
              </a:rPr>
              <a:t>Analyzer</a:t>
            </a:r>
            <a:endParaRPr lang="en-US" sz="900" dirty="0"/>
          </a:p>
        </p:txBody>
      </p:sp>
      <p:sp>
        <p:nvSpPr>
          <p:cNvPr id="16" name="Shape 14"/>
          <p:cNvSpPr/>
          <p:nvPr/>
        </p:nvSpPr>
        <p:spPr>
          <a:xfrm>
            <a:off x="1645920" y="1645920"/>
            <a:ext cx="365760" cy="36576"/>
          </a:xfrm>
          <a:prstGeom prst="rect">
            <a:avLst/>
          </a:prstGeom>
          <a:solidFill>
            <a:srgbClr val="00B4D8"/>
          </a:solidFill>
          <a:ln/>
        </p:spPr>
      </p:sp>
      <p:sp>
        <p:nvSpPr>
          <p:cNvPr id="17" name="Shape 15"/>
          <p:cNvSpPr/>
          <p:nvPr/>
        </p:nvSpPr>
        <p:spPr>
          <a:xfrm>
            <a:off x="3383280" y="1645920"/>
            <a:ext cx="365760" cy="36576"/>
          </a:xfrm>
          <a:prstGeom prst="rect">
            <a:avLst/>
          </a:prstGeom>
          <a:solidFill>
            <a:srgbClr val="00B4D8"/>
          </a:solidFill>
          <a:ln/>
        </p:spPr>
      </p:sp>
      <p:sp>
        <p:nvSpPr>
          <p:cNvPr id="18" name="Shape 16"/>
          <p:cNvSpPr/>
          <p:nvPr/>
        </p:nvSpPr>
        <p:spPr>
          <a:xfrm>
            <a:off x="5120640" y="1645920"/>
            <a:ext cx="365760" cy="36576"/>
          </a:xfrm>
          <a:prstGeom prst="rect">
            <a:avLst/>
          </a:prstGeom>
          <a:solidFill>
            <a:srgbClr val="00B4D8"/>
          </a:solidFill>
          <a:ln/>
        </p:spPr>
      </p:sp>
      <p:sp>
        <p:nvSpPr>
          <p:cNvPr id="19" name="Shape 17"/>
          <p:cNvSpPr/>
          <p:nvPr/>
        </p:nvSpPr>
        <p:spPr>
          <a:xfrm>
            <a:off x="6858000" y="1645920"/>
            <a:ext cx="365760" cy="36576"/>
          </a:xfrm>
          <a:prstGeom prst="rect">
            <a:avLst/>
          </a:prstGeom>
          <a:solidFill>
            <a:srgbClr val="00B4D8"/>
          </a:solidFill>
          <a:ln/>
        </p:spPr>
      </p:sp>
      <p:sp>
        <p:nvSpPr>
          <p:cNvPr id="20" name="Shape 18"/>
          <p:cNvSpPr/>
          <p:nvPr/>
        </p:nvSpPr>
        <p:spPr>
          <a:xfrm>
            <a:off x="914400" y="2468880"/>
            <a:ext cx="7315200" cy="1097280"/>
          </a:xfrm>
          <a:prstGeom prst="rect">
            <a:avLst/>
          </a:prstGeom>
          <a:solidFill>
            <a:srgbClr val="1A2744"/>
          </a:solidFill>
          <a:ln/>
        </p:spPr>
      </p:sp>
      <p:sp>
        <p:nvSpPr>
          <p:cNvPr id="21" name="Text 19"/>
          <p:cNvSpPr/>
          <p:nvPr/>
        </p:nvSpPr>
        <p:spPr>
          <a:xfrm>
            <a:off x="1005840" y="2331720"/>
            <a:ext cx="1828800" cy="274320"/>
          </a:xfrm>
          <a:prstGeom prst="rect">
            <a:avLst/>
          </a:prstGeom>
          <a:noFill/>
          <a:ln/>
        </p:spPr>
        <p:txBody>
          <a:bodyPr wrap="square" lIns="0" tIns="0" rIns="0" bIns="0" rtlCol="0" anchor="ctr"/>
          <a:lstStyle/>
          <a:p>
            <a:pPr marL="0" indent="0">
              <a:buNone/>
            </a:pPr>
            <a:r>
              <a:rPr lang="en-US" sz="900" b="1" dirty="0">
                <a:solidFill>
                  <a:srgbClr val="00B4D8"/>
                </a:solidFill>
              </a:rPr>
              <a:t>EXTRACTION CORE</a:t>
            </a:r>
            <a:endParaRPr lang="en-US" sz="900" dirty="0"/>
          </a:p>
        </p:txBody>
      </p:sp>
      <p:sp>
        <p:nvSpPr>
          <p:cNvPr id="22" name="Shape 20"/>
          <p:cNvSpPr/>
          <p:nvPr/>
        </p:nvSpPr>
        <p:spPr>
          <a:xfrm>
            <a:off x="1371600" y="2651760"/>
            <a:ext cx="1828800" cy="731520"/>
          </a:xfrm>
          <a:prstGeom prst="rect">
            <a:avLst/>
          </a:prstGeom>
          <a:solidFill>
            <a:srgbClr val="1E3A5F"/>
          </a:solidFill>
          <a:ln/>
        </p:spPr>
      </p:sp>
      <p:pic>
        <p:nvPicPr>
          <p:cNvPr id="23" name="Image 0" descr="preencoded.png"/>
          <p:cNvPicPr>
            <a:picLocks noChangeAspect="1"/>
          </p:cNvPicPr>
          <p:nvPr/>
        </p:nvPicPr>
        <p:blipFill>
          <a:blip r:embed="rId3"/>
          <a:stretch>
            <a:fillRect/>
          </a:stretch>
        </p:blipFill>
        <p:spPr>
          <a:xfrm>
            <a:off x="1508760" y="2834640"/>
            <a:ext cx="320040" cy="320040"/>
          </a:xfrm>
          <a:prstGeom prst="rect">
            <a:avLst/>
          </a:prstGeom>
        </p:spPr>
      </p:pic>
      <p:sp>
        <p:nvSpPr>
          <p:cNvPr id="24" name="Text 21"/>
          <p:cNvSpPr/>
          <p:nvPr/>
        </p:nvSpPr>
        <p:spPr>
          <a:xfrm>
            <a:off x="1874520" y="2651760"/>
            <a:ext cx="1280160" cy="731520"/>
          </a:xfrm>
          <a:prstGeom prst="rect">
            <a:avLst/>
          </a:prstGeom>
          <a:noFill/>
          <a:ln/>
        </p:spPr>
        <p:txBody>
          <a:bodyPr wrap="square" lIns="0" tIns="0" rIns="0" bIns="0" rtlCol="0" anchor="ctr"/>
          <a:lstStyle/>
          <a:p>
            <a:pPr marL="0" indent="0">
              <a:buNone/>
            </a:pPr>
            <a:r>
              <a:rPr lang="en-US" sz="1000" b="1" dirty="0">
                <a:solidFill>
                  <a:srgbClr val="FFFFFF"/>
                </a:solidFill>
              </a:rPr>
              <a:t>Text</a:t>
            </a:r>
            <a:endParaRPr lang="en-US" sz="1000" dirty="0"/>
          </a:p>
          <a:p>
            <a:pPr marL="0" indent="0">
              <a:buNone/>
            </a:pPr>
            <a:r>
              <a:rPr lang="en-US" sz="1000" b="1" dirty="0">
                <a:solidFill>
                  <a:srgbClr val="FFFFFF"/>
                </a:solidFill>
              </a:rPr>
              <a:t>Extraction</a:t>
            </a:r>
            <a:endParaRPr lang="en-US" sz="1000" dirty="0"/>
          </a:p>
        </p:txBody>
      </p:sp>
      <p:sp>
        <p:nvSpPr>
          <p:cNvPr id="25" name="Shape 22"/>
          <p:cNvSpPr/>
          <p:nvPr/>
        </p:nvSpPr>
        <p:spPr>
          <a:xfrm>
            <a:off x="3657600" y="2651760"/>
            <a:ext cx="1828800" cy="731520"/>
          </a:xfrm>
          <a:prstGeom prst="rect">
            <a:avLst/>
          </a:prstGeom>
          <a:solidFill>
            <a:srgbClr val="1E3A5F"/>
          </a:solidFill>
          <a:ln/>
        </p:spPr>
      </p:sp>
      <p:pic>
        <p:nvPicPr>
          <p:cNvPr id="26" name="Image 1" descr="preencoded.png"/>
          <p:cNvPicPr>
            <a:picLocks noChangeAspect="1"/>
          </p:cNvPicPr>
          <p:nvPr/>
        </p:nvPicPr>
        <p:blipFill>
          <a:blip r:embed="rId4"/>
          <a:stretch>
            <a:fillRect/>
          </a:stretch>
        </p:blipFill>
        <p:spPr>
          <a:xfrm>
            <a:off x="3794760" y="2834640"/>
            <a:ext cx="320040" cy="320040"/>
          </a:xfrm>
          <a:prstGeom prst="rect">
            <a:avLst/>
          </a:prstGeom>
        </p:spPr>
      </p:pic>
      <p:sp>
        <p:nvSpPr>
          <p:cNvPr id="27" name="Text 23"/>
          <p:cNvSpPr/>
          <p:nvPr/>
        </p:nvSpPr>
        <p:spPr>
          <a:xfrm>
            <a:off x="4160520" y="2651760"/>
            <a:ext cx="1280160" cy="731520"/>
          </a:xfrm>
          <a:prstGeom prst="rect">
            <a:avLst/>
          </a:prstGeom>
          <a:noFill/>
          <a:ln/>
        </p:spPr>
        <p:txBody>
          <a:bodyPr wrap="square" lIns="0" tIns="0" rIns="0" bIns="0" rtlCol="0" anchor="ctr"/>
          <a:lstStyle/>
          <a:p>
            <a:pPr marL="0" indent="0">
              <a:buNone/>
            </a:pPr>
            <a:r>
              <a:rPr lang="en-US" sz="1000" b="1" dirty="0">
                <a:solidFill>
                  <a:srgbClr val="FFFFFF"/>
                </a:solidFill>
              </a:rPr>
              <a:t>Table</a:t>
            </a:r>
            <a:endParaRPr lang="en-US" sz="1000" dirty="0"/>
          </a:p>
          <a:p>
            <a:pPr marL="0" indent="0">
              <a:buNone/>
            </a:pPr>
            <a:r>
              <a:rPr lang="en-US" sz="1000" b="1" dirty="0">
                <a:solidFill>
                  <a:srgbClr val="FFFFFF"/>
                </a:solidFill>
              </a:rPr>
              <a:t>Extraction</a:t>
            </a:r>
            <a:endParaRPr lang="en-US" sz="1000" dirty="0"/>
          </a:p>
        </p:txBody>
      </p:sp>
      <p:sp>
        <p:nvSpPr>
          <p:cNvPr id="28" name="Shape 24"/>
          <p:cNvSpPr/>
          <p:nvPr/>
        </p:nvSpPr>
        <p:spPr>
          <a:xfrm>
            <a:off x="5943600" y="2651760"/>
            <a:ext cx="1828800" cy="731520"/>
          </a:xfrm>
          <a:prstGeom prst="rect">
            <a:avLst/>
          </a:prstGeom>
          <a:solidFill>
            <a:srgbClr val="1E3A5F"/>
          </a:solidFill>
          <a:ln/>
        </p:spPr>
      </p:sp>
      <p:pic>
        <p:nvPicPr>
          <p:cNvPr id="29" name="Image 2" descr="preencoded.png"/>
          <p:cNvPicPr>
            <a:picLocks noChangeAspect="1"/>
          </p:cNvPicPr>
          <p:nvPr/>
        </p:nvPicPr>
        <p:blipFill>
          <a:blip r:embed="rId5"/>
          <a:stretch>
            <a:fillRect/>
          </a:stretch>
        </p:blipFill>
        <p:spPr>
          <a:xfrm>
            <a:off x="6080760" y="2834640"/>
            <a:ext cx="320040" cy="320040"/>
          </a:xfrm>
          <a:prstGeom prst="rect">
            <a:avLst/>
          </a:prstGeom>
        </p:spPr>
      </p:pic>
      <p:sp>
        <p:nvSpPr>
          <p:cNvPr id="30" name="Text 25"/>
          <p:cNvSpPr/>
          <p:nvPr/>
        </p:nvSpPr>
        <p:spPr>
          <a:xfrm>
            <a:off x="6446520" y="2651760"/>
            <a:ext cx="1280160" cy="731520"/>
          </a:xfrm>
          <a:prstGeom prst="rect">
            <a:avLst/>
          </a:prstGeom>
          <a:noFill/>
          <a:ln/>
        </p:spPr>
        <p:txBody>
          <a:bodyPr wrap="square" lIns="0" tIns="0" rIns="0" bIns="0" rtlCol="0" anchor="ctr"/>
          <a:lstStyle/>
          <a:p>
            <a:pPr marL="0" indent="0">
              <a:buNone/>
            </a:pPr>
            <a:r>
              <a:rPr lang="en-US" sz="1000" b="1" dirty="0">
                <a:solidFill>
                  <a:srgbClr val="FFFFFF"/>
                </a:solidFill>
              </a:rPr>
              <a:t>Graph</a:t>
            </a:r>
            <a:endParaRPr lang="en-US" sz="1000" dirty="0"/>
          </a:p>
          <a:p>
            <a:pPr marL="0" indent="0">
              <a:buNone/>
            </a:pPr>
            <a:r>
              <a:rPr lang="en-US" sz="1000" b="1" dirty="0">
                <a:solidFill>
                  <a:srgbClr val="FFFFFF"/>
                </a:solidFill>
              </a:rPr>
              <a:t>Digitization</a:t>
            </a:r>
            <a:endParaRPr lang="en-US" sz="1000" dirty="0"/>
          </a:p>
        </p:txBody>
      </p:sp>
      <p:sp>
        <p:nvSpPr>
          <p:cNvPr id="31" name="Shape 26"/>
          <p:cNvSpPr/>
          <p:nvPr/>
        </p:nvSpPr>
        <p:spPr>
          <a:xfrm>
            <a:off x="1371600" y="3840480"/>
            <a:ext cx="2286000" cy="640080"/>
          </a:xfrm>
          <a:prstGeom prst="rect">
            <a:avLst/>
          </a:prstGeom>
          <a:solidFill>
            <a:srgbClr val="0090AD"/>
          </a:solidFill>
          <a:ln/>
        </p:spPr>
      </p:sp>
      <p:sp>
        <p:nvSpPr>
          <p:cNvPr id="32" name="Text 27"/>
          <p:cNvSpPr/>
          <p:nvPr/>
        </p:nvSpPr>
        <p:spPr>
          <a:xfrm>
            <a:off x="1371600" y="3840480"/>
            <a:ext cx="2286000" cy="640080"/>
          </a:xfrm>
          <a:prstGeom prst="rect">
            <a:avLst/>
          </a:prstGeom>
          <a:noFill/>
          <a:ln/>
        </p:spPr>
        <p:txBody>
          <a:bodyPr wrap="square" rtlCol="0" anchor="ctr"/>
          <a:lstStyle/>
          <a:p>
            <a:pPr marL="0" indent="0" algn="ctr">
              <a:buNone/>
            </a:pPr>
            <a:r>
              <a:rPr lang="en-US" sz="1100" b="1" dirty="0">
                <a:solidFill>
                  <a:srgbClr val="FFFFFF"/>
                </a:solidFill>
              </a:rPr>
              <a:t>LLM Validator</a:t>
            </a:r>
            <a:endParaRPr lang="en-US" sz="1100" dirty="0"/>
          </a:p>
        </p:txBody>
      </p:sp>
      <p:sp>
        <p:nvSpPr>
          <p:cNvPr id="33" name="Shape 28"/>
          <p:cNvSpPr/>
          <p:nvPr/>
        </p:nvSpPr>
        <p:spPr>
          <a:xfrm>
            <a:off x="4114800" y="3840480"/>
            <a:ext cx="2286000" cy="640080"/>
          </a:xfrm>
          <a:prstGeom prst="rect">
            <a:avLst/>
          </a:prstGeom>
          <a:solidFill>
            <a:srgbClr val="0090AD"/>
          </a:solidFill>
          <a:ln/>
        </p:spPr>
      </p:sp>
      <p:sp>
        <p:nvSpPr>
          <p:cNvPr id="34" name="Text 29"/>
          <p:cNvSpPr/>
          <p:nvPr/>
        </p:nvSpPr>
        <p:spPr>
          <a:xfrm>
            <a:off x="4114800" y="3840480"/>
            <a:ext cx="2286000" cy="640080"/>
          </a:xfrm>
          <a:prstGeom prst="rect">
            <a:avLst/>
          </a:prstGeom>
          <a:noFill/>
          <a:ln/>
        </p:spPr>
        <p:txBody>
          <a:bodyPr wrap="square" rtlCol="0" anchor="ctr"/>
          <a:lstStyle/>
          <a:p>
            <a:pPr marL="0" indent="0" algn="ctr">
              <a:buNone/>
            </a:pPr>
            <a:r>
              <a:rPr lang="en-US" sz="1100" b="1" dirty="0">
                <a:solidFill>
                  <a:srgbClr val="FFFFFF"/>
                </a:solidFill>
              </a:rPr>
              <a:t>Rule Engine</a:t>
            </a:r>
            <a:endParaRPr lang="en-US" sz="1100" dirty="0"/>
          </a:p>
        </p:txBody>
      </p:sp>
      <p:sp>
        <p:nvSpPr>
          <p:cNvPr id="35" name="Shape 30"/>
          <p:cNvSpPr/>
          <p:nvPr/>
        </p:nvSpPr>
        <p:spPr>
          <a:xfrm>
            <a:off x="6858000" y="3840480"/>
            <a:ext cx="1828800" cy="640080"/>
          </a:xfrm>
          <a:prstGeom prst="rect">
            <a:avLst/>
          </a:prstGeom>
          <a:solidFill>
            <a:srgbClr val="00D4AA"/>
          </a:solidFill>
          <a:ln/>
        </p:spPr>
      </p:sp>
      <p:sp>
        <p:nvSpPr>
          <p:cNvPr id="36" name="Text 31"/>
          <p:cNvSpPr/>
          <p:nvPr/>
        </p:nvSpPr>
        <p:spPr>
          <a:xfrm>
            <a:off x="6858000" y="3840480"/>
            <a:ext cx="1828800" cy="640080"/>
          </a:xfrm>
          <a:prstGeom prst="rect">
            <a:avLst/>
          </a:prstGeom>
          <a:noFill/>
          <a:ln/>
        </p:spPr>
        <p:txBody>
          <a:bodyPr wrap="square" rtlCol="0" anchor="ctr"/>
          <a:lstStyle/>
          <a:p>
            <a:pPr marL="0" indent="0" algn="ctr">
              <a:buNone/>
            </a:pPr>
            <a:r>
              <a:rPr lang="en-US" sz="1100" b="1" dirty="0">
                <a:solidFill>
                  <a:srgbClr val="0F1B2D"/>
                </a:solidFill>
              </a:rPr>
              <a:t>CSV / JSON</a:t>
            </a:r>
            <a:endParaRPr lang="en-US" sz="1100" dirty="0"/>
          </a:p>
        </p:txBody>
      </p:sp>
      <p:sp>
        <p:nvSpPr>
          <p:cNvPr id="37" name="Shape 32"/>
          <p:cNvSpPr/>
          <p:nvPr/>
        </p:nvSpPr>
        <p:spPr>
          <a:xfrm>
            <a:off x="4526280" y="3566160"/>
            <a:ext cx="36576" cy="274320"/>
          </a:xfrm>
          <a:prstGeom prst="rect">
            <a:avLst/>
          </a:prstGeom>
          <a:solidFill>
            <a:srgbClr val="00B4D8"/>
          </a:solidFill>
          <a:ln/>
        </p:spPr>
      </p:sp>
      <p:sp>
        <p:nvSpPr>
          <p:cNvPr id="38" name="Shape 33"/>
          <p:cNvSpPr/>
          <p:nvPr/>
        </p:nvSpPr>
        <p:spPr>
          <a:xfrm>
            <a:off x="6492240" y="4114800"/>
            <a:ext cx="365760" cy="36576"/>
          </a:xfrm>
          <a:prstGeom prst="rect">
            <a:avLst/>
          </a:prstGeom>
          <a:solidFill>
            <a:srgbClr val="00B4D8"/>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475569"/>
                </a:solidFill>
              </a:rPr>
              <a:t>7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475569"/>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00B4D8"/>
                </a:solidFill>
              </a:rPr>
              <a:t>WORKFLOW</a:t>
            </a:r>
            <a:endParaRPr lang="en-US" sz="1300" dirty="0"/>
          </a:p>
        </p:txBody>
      </p:sp>
      <p:sp>
        <p:nvSpPr>
          <p:cNvPr id="5" name="Text 3"/>
          <p:cNvSpPr/>
          <p:nvPr/>
        </p:nvSpPr>
        <p:spPr>
          <a:xfrm>
            <a:off x="457200" y="640080"/>
            <a:ext cx="7315200" cy="457200"/>
          </a:xfrm>
          <a:prstGeom prst="rect">
            <a:avLst/>
          </a:prstGeom>
          <a:noFill/>
          <a:ln/>
        </p:spPr>
        <p:txBody>
          <a:bodyPr wrap="square" rtlCol="0" anchor="ctr"/>
          <a:lstStyle/>
          <a:p>
            <a:pPr marL="0" indent="0">
              <a:buNone/>
            </a:pPr>
            <a:r>
              <a:rPr lang="en-US" sz="2400" b="1" dirty="0">
                <a:solidFill>
                  <a:srgbClr val="0F1B2D"/>
                </a:solidFill>
                <a:latin typeface="Georgia" pitchFamily="34" charset="0"/>
                <a:ea typeface="Georgia" pitchFamily="34" charset="-122"/>
                <a:cs typeface="Georgia" pitchFamily="34" charset="-120"/>
              </a:rPr>
              <a:t>7 Steps. Fully Automated.</a:t>
            </a:r>
            <a:endParaRPr lang="en-US" sz="2400" dirty="0"/>
          </a:p>
        </p:txBody>
      </p:sp>
      <p:sp>
        <p:nvSpPr>
          <p:cNvPr id="6" name="Shape 4"/>
          <p:cNvSpPr/>
          <p:nvPr/>
        </p:nvSpPr>
        <p:spPr>
          <a:xfrm>
            <a:off x="182880" y="1463040"/>
            <a:ext cx="1097280" cy="201168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182880" y="1463040"/>
            <a:ext cx="1097280" cy="54864"/>
          </a:xfrm>
          <a:prstGeom prst="rect">
            <a:avLst/>
          </a:prstGeom>
          <a:solidFill>
            <a:srgbClr val="00B4D8"/>
          </a:solidFill>
          <a:ln/>
        </p:spPr>
      </p:sp>
      <p:sp>
        <p:nvSpPr>
          <p:cNvPr id="8" name="Text 6"/>
          <p:cNvSpPr/>
          <p:nvPr/>
        </p:nvSpPr>
        <p:spPr>
          <a:xfrm>
            <a:off x="182880" y="1600200"/>
            <a:ext cx="1097280" cy="457200"/>
          </a:xfrm>
          <a:prstGeom prst="rect">
            <a:avLst/>
          </a:prstGeom>
          <a:noFill/>
          <a:ln/>
        </p:spPr>
        <p:txBody>
          <a:bodyPr wrap="square" lIns="0" tIns="0" rIns="0" bIns="0" rtlCol="0" anchor="ctr"/>
          <a:lstStyle/>
          <a:p>
            <a:pPr marL="0" indent="0" algn="ctr">
              <a:buNone/>
            </a:pPr>
            <a:r>
              <a:rPr lang="en-US" sz="2400" b="1" dirty="0">
                <a:solidFill>
                  <a:srgbClr val="00B4D8"/>
                </a:solidFill>
                <a:latin typeface="Georgia" pitchFamily="34" charset="0"/>
                <a:ea typeface="Georgia" pitchFamily="34" charset="-122"/>
                <a:cs typeface="Georgia" pitchFamily="34" charset="-120"/>
              </a:rPr>
              <a:t>01</a:t>
            </a:r>
            <a:endParaRPr lang="en-US" sz="2400" dirty="0"/>
          </a:p>
        </p:txBody>
      </p:sp>
      <p:sp>
        <p:nvSpPr>
          <p:cNvPr id="9" name="Text 7"/>
          <p:cNvSpPr/>
          <p:nvPr/>
        </p:nvSpPr>
        <p:spPr>
          <a:xfrm>
            <a:off x="182880" y="2103120"/>
            <a:ext cx="1097280" cy="320040"/>
          </a:xfrm>
          <a:prstGeom prst="rect">
            <a:avLst/>
          </a:prstGeom>
          <a:noFill/>
          <a:ln/>
        </p:spPr>
        <p:txBody>
          <a:bodyPr wrap="square" lIns="0" tIns="0" rIns="0" bIns="0" rtlCol="0" anchor="ctr"/>
          <a:lstStyle/>
          <a:p>
            <a:pPr marL="0" indent="0" algn="ctr">
              <a:buNone/>
            </a:pPr>
            <a:r>
              <a:rPr lang="en-US" sz="1200" b="1" dirty="0">
                <a:solidFill>
                  <a:srgbClr val="0F1B2D"/>
                </a:solidFill>
              </a:rPr>
              <a:t>Query</a:t>
            </a:r>
            <a:endParaRPr lang="en-US" sz="1200" dirty="0"/>
          </a:p>
        </p:txBody>
      </p:sp>
      <p:sp>
        <p:nvSpPr>
          <p:cNvPr id="10" name="Text 8"/>
          <p:cNvSpPr/>
          <p:nvPr/>
        </p:nvSpPr>
        <p:spPr>
          <a:xfrm>
            <a:off x="228600" y="2468880"/>
            <a:ext cx="1005840" cy="731520"/>
          </a:xfrm>
          <a:prstGeom prst="rect">
            <a:avLst/>
          </a:prstGeom>
          <a:noFill/>
          <a:ln/>
        </p:spPr>
        <p:txBody>
          <a:bodyPr wrap="square" lIns="0" tIns="0" rIns="0" bIns="0" rtlCol="0" anchor="ctr"/>
          <a:lstStyle/>
          <a:p>
            <a:pPr marL="0" indent="0" algn="ctr">
              <a:buNone/>
            </a:pPr>
            <a:r>
              <a:rPr lang="en-US" sz="900" dirty="0">
                <a:solidFill>
                  <a:srgbClr val="475569"/>
                </a:solidFill>
              </a:rPr>
              <a:t>Enter search term</a:t>
            </a:r>
            <a:endParaRPr lang="en-US" sz="900" dirty="0"/>
          </a:p>
        </p:txBody>
      </p:sp>
      <p:sp>
        <p:nvSpPr>
          <p:cNvPr id="11" name="Text 9"/>
          <p:cNvSpPr/>
          <p:nvPr/>
        </p:nvSpPr>
        <p:spPr>
          <a:xfrm>
            <a:off x="1234440" y="2103120"/>
            <a:ext cx="274320" cy="27432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12" name="Shape 10"/>
          <p:cNvSpPr/>
          <p:nvPr/>
        </p:nvSpPr>
        <p:spPr>
          <a:xfrm>
            <a:off x="1435608" y="1463040"/>
            <a:ext cx="1097280" cy="2011680"/>
          </a:xfrm>
          <a:prstGeom prst="rect">
            <a:avLst/>
          </a:prstGeom>
          <a:solidFill>
            <a:srgbClr val="FFFFFF"/>
          </a:solidFill>
          <a:ln/>
          <a:effectLst>
            <a:outerShdw blurRad="101600" dist="38100" dir="8100000" algn="bl" rotWithShape="0">
              <a:srgbClr val="000000">
                <a:alpha val="12000"/>
              </a:srgbClr>
            </a:outerShdw>
          </a:effectLst>
        </p:spPr>
      </p:sp>
      <p:sp>
        <p:nvSpPr>
          <p:cNvPr id="13" name="Shape 11"/>
          <p:cNvSpPr/>
          <p:nvPr/>
        </p:nvSpPr>
        <p:spPr>
          <a:xfrm>
            <a:off x="1435608" y="1463040"/>
            <a:ext cx="1097280" cy="54864"/>
          </a:xfrm>
          <a:prstGeom prst="rect">
            <a:avLst/>
          </a:prstGeom>
          <a:solidFill>
            <a:srgbClr val="00B4D8"/>
          </a:solidFill>
          <a:ln/>
        </p:spPr>
      </p:sp>
      <p:sp>
        <p:nvSpPr>
          <p:cNvPr id="14" name="Text 12"/>
          <p:cNvSpPr/>
          <p:nvPr/>
        </p:nvSpPr>
        <p:spPr>
          <a:xfrm>
            <a:off x="1435608" y="1600200"/>
            <a:ext cx="1097280" cy="457200"/>
          </a:xfrm>
          <a:prstGeom prst="rect">
            <a:avLst/>
          </a:prstGeom>
          <a:noFill/>
          <a:ln/>
        </p:spPr>
        <p:txBody>
          <a:bodyPr wrap="square" lIns="0" tIns="0" rIns="0" bIns="0" rtlCol="0" anchor="ctr"/>
          <a:lstStyle/>
          <a:p>
            <a:pPr marL="0" indent="0" algn="ctr">
              <a:buNone/>
            </a:pPr>
            <a:r>
              <a:rPr lang="en-US" sz="2400" b="1" dirty="0">
                <a:solidFill>
                  <a:srgbClr val="00B4D8"/>
                </a:solidFill>
                <a:latin typeface="Georgia" pitchFamily="34" charset="0"/>
                <a:ea typeface="Georgia" pitchFamily="34" charset="-122"/>
                <a:cs typeface="Georgia" pitchFamily="34" charset="-120"/>
              </a:rPr>
              <a:t>02</a:t>
            </a:r>
            <a:endParaRPr lang="en-US" sz="2400" dirty="0"/>
          </a:p>
        </p:txBody>
      </p:sp>
      <p:sp>
        <p:nvSpPr>
          <p:cNvPr id="15" name="Text 13"/>
          <p:cNvSpPr/>
          <p:nvPr/>
        </p:nvSpPr>
        <p:spPr>
          <a:xfrm>
            <a:off x="1435608" y="2103120"/>
            <a:ext cx="1097280" cy="320040"/>
          </a:xfrm>
          <a:prstGeom prst="rect">
            <a:avLst/>
          </a:prstGeom>
          <a:noFill/>
          <a:ln/>
        </p:spPr>
        <p:txBody>
          <a:bodyPr wrap="square" lIns="0" tIns="0" rIns="0" bIns="0" rtlCol="0" anchor="ctr"/>
          <a:lstStyle/>
          <a:p>
            <a:pPr marL="0" indent="0" algn="ctr">
              <a:buNone/>
            </a:pPr>
            <a:r>
              <a:rPr lang="en-US" sz="1200" b="1" dirty="0">
                <a:solidFill>
                  <a:srgbClr val="0F1B2D"/>
                </a:solidFill>
              </a:rPr>
              <a:t>Download</a:t>
            </a:r>
            <a:endParaRPr lang="en-US" sz="1200" dirty="0"/>
          </a:p>
        </p:txBody>
      </p:sp>
      <p:sp>
        <p:nvSpPr>
          <p:cNvPr id="16" name="Text 14"/>
          <p:cNvSpPr/>
          <p:nvPr/>
        </p:nvSpPr>
        <p:spPr>
          <a:xfrm>
            <a:off x="1481328" y="2468880"/>
            <a:ext cx="1005840" cy="731520"/>
          </a:xfrm>
          <a:prstGeom prst="rect">
            <a:avLst/>
          </a:prstGeom>
          <a:noFill/>
          <a:ln/>
        </p:spPr>
        <p:txBody>
          <a:bodyPr wrap="square" lIns="0" tIns="0" rIns="0" bIns="0" rtlCol="0" anchor="ctr"/>
          <a:lstStyle/>
          <a:p>
            <a:pPr marL="0" indent="0" algn="ctr">
              <a:buNone/>
            </a:pPr>
            <a:r>
              <a:rPr lang="en-US" sz="900" dirty="0">
                <a:solidFill>
                  <a:srgbClr val="475569"/>
                </a:solidFill>
              </a:rPr>
              <a:t>Retrieve papers via APIs</a:t>
            </a:r>
            <a:endParaRPr lang="en-US" sz="900" dirty="0"/>
          </a:p>
        </p:txBody>
      </p:sp>
      <p:sp>
        <p:nvSpPr>
          <p:cNvPr id="17" name="Text 15"/>
          <p:cNvSpPr/>
          <p:nvPr/>
        </p:nvSpPr>
        <p:spPr>
          <a:xfrm>
            <a:off x="2487168" y="2103120"/>
            <a:ext cx="274320" cy="27432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18" name="Shape 16"/>
          <p:cNvSpPr/>
          <p:nvPr/>
        </p:nvSpPr>
        <p:spPr>
          <a:xfrm>
            <a:off x="2688336" y="1463040"/>
            <a:ext cx="1097280" cy="2011680"/>
          </a:xfrm>
          <a:prstGeom prst="rect">
            <a:avLst/>
          </a:prstGeom>
          <a:solidFill>
            <a:srgbClr val="FFFFFF"/>
          </a:solidFill>
          <a:ln/>
          <a:effectLst>
            <a:outerShdw blurRad="101600" dist="38100" dir="8100000" algn="bl" rotWithShape="0">
              <a:srgbClr val="000000">
                <a:alpha val="12000"/>
              </a:srgbClr>
            </a:outerShdw>
          </a:effectLst>
        </p:spPr>
      </p:sp>
      <p:sp>
        <p:nvSpPr>
          <p:cNvPr id="19" name="Shape 17"/>
          <p:cNvSpPr/>
          <p:nvPr/>
        </p:nvSpPr>
        <p:spPr>
          <a:xfrm>
            <a:off x="2688336" y="1463040"/>
            <a:ext cx="1097280" cy="54864"/>
          </a:xfrm>
          <a:prstGeom prst="rect">
            <a:avLst/>
          </a:prstGeom>
          <a:solidFill>
            <a:srgbClr val="00B4D8"/>
          </a:solidFill>
          <a:ln/>
        </p:spPr>
      </p:sp>
      <p:sp>
        <p:nvSpPr>
          <p:cNvPr id="20" name="Text 18"/>
          <p:cNvSpPr/>
          <p:nvPr/>
        </p:nvSpPr>
        <p:spPr>
          <a:xfrm>
            <a:off x="2688336" y="1600200"/>
            <a:ext cx="1097280" cy="457200"/>
          </a:xfrm>
          <a:prstGeom prst="rect">
            <a:avLst/>
          </a:prstGeom>
          <a:noFill/>
          <a:ln/>
        </p:spPr>
        <p:txBody>
          <a:bodyPr wrap="square" lIns="0" tIns="0" rIns="0" bIns="0" rtlCol="0" anchor="ctr"/>
          <a:lstStyle/>
          <a:p>
            <a:pPr marL="0" indent="0" algn="ctr">
              <a:buNone/>
            </a:pPr>
            <a:r>
              <a:rPr lang="en-US" sz="2400" b="1" dirty="0">
                <a:solidFill>
                  <a:srgbClr val="00B4D8"/>
                </a:solidFill>
                <a:latin typeface="Georgia" pitchFamily="34" charset="0"/>
                <a:ea typeface="Georgia" pitchFamily="34" charset="-122"/>
                <a:cs typeface="Georgia" pitchFamily="34" charset="-120"/>
              </a:rPr>
              <a:t>03</a:t>
            </a:r>
            <a:endParaRPr lang="en-US" sz="2400" dirty="0"/>
          </a:p>
        </p:txBody>
      </p:sp>
      <p:sp>
        <p:nvSpPr>
          <p:cNvPr id="21" name="Text 19"/>
          <p:cNvSpPr/>
          <p:nvPr/>
        </p:nvSpPr>
        <p:spPr>
          <a:xfrm>
            <a:off x="2688336" y="2103120"/>
            <a:ext cx="1097280" cy="320040"/>
          </a:xfrm>
          <a:prstGeom prst="rect">
            <a:avLst/>
          </a:prstGeom>
          <a:noFill/>
          <a:ln/>
        </p:spPr>
        <p:txBody>
          <a:bodyPr wrap="square" lIns="0" tIns="0" rIns="0" bIns="0" rtlCol="0" anchor="ctr"/>
          <a:lstStyle/>
          <a:p>
            <a:pPr marL="0" indent="0" algn="ctr">
              <a:buNone/>
            </a:pPr>
            <a:r>
              <a:rPr lang="en-US" sz="1200" b="1" dirty="0">
                <a:solidFill>
                  <a:srgbClr val="0F1B2D"/>
                </a:solidFill>
              </a:rPr>
              <a:t>Screen</a:t>
            </a:r>
            <a:endParaRPr lang="en-US" sz="1200" dirty="0"/>
          </a:p>
        </p:txBody>
      </p:sp>
      <p:sp>
        <p:nvSpPr>
          <p:cNvPr id="22" name="Text 20"/>
          <p:cNvSpPr/>
          <p:nvPr/>
        </p:nvSpPr>
        <p:spPr>
          <a:xfrm>
            <a:off x="2734056" y="2468880"/>
            <a:ext cx="1005840" cy="731520"/>
          </a:xfrm>
          <a:prstGeom prst="rect">
            <a:avLst/>
          </a:prstGeom>
          <a:noFill/>
          <a:ln/>
        </p:spPr>
        <p:txBody>
          <a:bodyPr wrap="square" lIns="0" tIns="0" rIns="0" bIns="0" rtlCol="0" anchor="ctr"/>
          <a:lstStyle/>
          <a:p>
            <a:pPr marL="0" indent="0" algn="ctr">
              <a:buNone/>
            </a:pPr>
            <a:r>
              <a:rPr lang="en-US" sz="900" dirty="0">
                <a:solidFill>
                  <a:srgbClr val="475569"/>
                </a:solidFill>
              </a:rPr>
              <a:t>NLP filters irrelevant papers</a:t>
            </a:r>
            <a:endParaRPr lang="en-US" sz="900" dirty="0"/>
          </a:p>
        </p:txBody>
      </p:sp>
      <p:sp>
        <p:nvSpPr>
          <p:cNvPr id="23" name="Text 21"/>
          <p:cNvSpPr/>
          <p:nvPr/>
        </p:nvSpPr>
        <p:spPr>
          <a:xfrm>
            <a:off x="3739896" y="2103120"/>
            <a:ext cx="274320" cy="27432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24" name="Shape 22"/>
          <p:cNvSpPr/>
          <p:nvPr/>
        </p:nvSpPr>
        <p:spPr>
          <a:xfrm>
            <a:off x="3941064" y="1463040"/>
            <a:ext cx="1097280" cy="2011680"/>
          </a:xfrm>
          <a:prstGeom prst="rect">
            <a:avLst/>
          </a:prstGeom>
          <a:solidFill>
            <a:srgbClr val="FFFFFF"/>
          </a:solidFill>
          <a:ln/>
          <a:effectLst>
            <a:outerShdw blurRad="101600" dist="38100" dir="8100000" algn="bl" rotWithShape="0">
              <a:srgbClr val="000000">
                <a:alpha val="12000"/>
              </a:srgbClr>
            </a:outerShdw>
          </a:effectLst>
        </p:spPr>
      </p:sp>
      <p:sp>
        <p:nvSpPr>
          <p:cNvPr id="25" name="Shape 23"/>
          <p:cNvSpPr/>
          <p:nvPr/>
        </p:nvSpPr>
        <p:spPr>
          <a:xfrm>
            <a:off x="3941064" y="1463040"/>
            <a:ext cx="1097280" cy="54864"/>
          </a:xfrm>
          <a:prstGeom prst="rect">
            <a:avLst/>
          </a:prstGeom>
          <a:solidFill>
            <a:srgbClr val="00B4D8"/>
          </a:solidFill>
          <a:ln/>
        </p:spPr>
      </p:sp>
      <p:sp>
        <p:nvSpPr>
          <p:cNvPr id="26" name="Text 24"/>
          <p:cNvSpPr/>
          <p:nvPr/>
        </p:nvSpPr>
        <p:spPr>
          <a:xfrm>
            <a:off x="3941064" y="1600200"/>
            <a:ext cx="1097280" cy="457200"/>
          </a:xfrm>
          <a:prstGeom prst="rect">
            <a:avLst/>
          </a:prstGeom>
          <a:noFill/>
          <a:ln/>
        </p:spPr>
        <p:txBody>
          <a:bodyPr wrap="square" lIns="0" tIns="0" rIns="0" bIns="0" rtlCol="0" anchor="ctr"/>
          <a:lstStyle/>
          <a:p>
            <a:pPr marL="0" indent="0" algn="ctr">
              <a:buNone/>
            </a:pPr>
            <a:r>
              <a:rPr lang="en-US" sz="2400" b="1" dirty="0">
                <a:solidFill>
                  <a:srgbClr val="00B4D8"/>
                </a:solidFill>
                <a:latin typeface="Georgia" pitchFamily="34" charset="0"/>
                <a:ea typeface="Georgia" pitchFamily="34" charset="-122"/>
                <a:cs typeface="Georgia" pitchFamily="34" charset="-120"/>
              </a:rPr>
              <a:t>04</a:t>
            </a:r>
            <a:endParaRPr lang="en-US" sz="2400" dirty="0"/>
          </a:p>
        </p:txBody>
      </p:sp>
      <p:sp>
        <p:nvSpPr>
          <p:cNvPr id="27" name="Text 25"/>
          <p:cNvSpPr/>
          <p:nvPr/>
        </p:nvSpPr>
        <p:spPr>
          <a:xfrm>
            <a:off x="3941064" y="2103120"/>
            <a:ext cx="1097280" cy="320040"/>
          </a:xfrm>
          <a:prstGeom prst="rect">
            <a:avLst/>
          </a:prstGeom>
          <a:noFill/>
          <a:ln/>
        </p:spPr>
        <p:txBody>
          <a:bodyPr wrap="square" lIns="0" tIns="0" rIns="0" bIns="0" rtlCol="0" anchor="ctr"/>
          <a:lstStyle/>
          <a:p>
            <a:pPr marL="0" indent="0" algn="ctr">
              <a:buNone/>
            </a:pPr>
            <a:r>
              <a:rPr lang="en-US" sz="1200" b="1" dirty="0">
                <a:solidFill>
                  <a:srgbClr val="0F1B2D"/>
                </a:solidFill>
              </a:rPr>
              <a:t>Analyze</a:t>
            </a:r>
            <a:endParaRPr lang="en-US" sz="1200" dirty="0"/>
          </a:p>
        </p:txBody>
      </p:sp>
      <p:sp>
        <p:nvSpPr>
          <p:cNvPr id="28" name="Text 26"/>
          <p:cNvSpPr/>
          <p:nvPr/>
        </p:nvSpPr>
        <p:spPr>
          <a:xfrm>
            <a:off x="3986784" y="2468880"/>
            <a:ext cx="1005840" cy="731520"/>
          </a:xfrm>
          <a:prstGeom prst="rect">
            <a:avLst/>
          </a:prstGeom>
          <a:noFill/>
          <a:ln/>
        </p:spPr>
        <p:txBody>
          <a:bodyPr wrap="square" lIns="0" tIns="0" rIns="0" bIns="0" rtlCol="0" anchor="ctr"/>
          <a:lstStyle/>
          <a:p>
            <a:pPr marL="0" indent="0" algn="ctr">
              <a:buNone/>
            </a:pPr>
            <a:r>
              <a:rPr lang="en-US" sz="900" dirty="0">
                <a:solidFill>
                  <a:srgbClr val="475569"/>
                </a:solidFill>
              </a:rPr>
              <a:t>Segment page layout</a:t>
            </a:r>
            <a:endParaRPr lang="en-US" sz="900" dirty="0"/>
          </a:p>
        </p:txBody>
      </p:sp>
      <p:sp>
        <p:nvSpPr>
          <p:cNvPr id="29" name="Text 27"/>
          <p:cNvSpPr/>
          <p:nvPr/>
        </p:nvSpPr>
        <p:spPr>
          <a:xfrm>
            <a:off x="4992624" y="2103120"/>
            <a:ext cx="274320" cy="27432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30" name="Shape 28"/>
          <p:cNvSpPr/>
          <p:nvPr/>
        </p:nvSpPr>
        <p:spPr>
          <a:xfrm>
            <a:off x="5193792" y="1463040"/>
            <a:ext cx="1097280" cy="2011680"/>
          </a:xfrm>
          <a:prstGeom prst="rect">
            <a:avLst/>
          </a:prstGeom>
          <a:solidFill>
            <a:srgbClr val="FFFFFF"/>
          </a:solidFill>
          <a:ln/>
          <a:effectLst>
            <a:outerShdw blurRad="101600" dist="38100" dir="8100000" algn="bl" rotWithShape="0">
              <a:srgbClr val="000000">
                <a:alpha val="12000"/>
              </a:srgbClr>
            </a:outerShdw>
          </a:effectLst>
        </p:spPr>
      </p:sp>
      <p:sp>
        <p:nvSpPr>
          <p:cNvPr id="31" name="Shape 29"/>
          <p:cNvSpPr/>
          <p:nvPr/>
        </p:nvSpPr>
        <p:spPr>
          <a:xfrm>
            <a:off x="5193792" y="1463040"/>
            <a:ext cx="1097280" cy="54864"/>
          </a:xfrm>
          <a:prstGeom prst="rect">
            <a:avLst/>
          </a:prstGeom>
          <a:solidFill>
            <a:srgbClr val="00B4D8"/>
          </a:solidFill>
          <a:ln/>
        </p:spPr>
      </p:sp>
      <p:sp>
        <p:nvSpPr>
          <p:cNvPr id="32" name="Text 30"/>
          <p:cNvSpPr/>
          <p:nvPr/>
        </p:nvSpPr>
        <p:spPr>
          <a:xfrm>
            <a:off x="5193792" y="1600200"/>
            <a:ext cx="1097280" cy="457200"/>
          </a:xfrm>
          <a:prstGeom prst="rect">
            <a:avLst/>
          </a:prstGeom>
          <a:noFill/>
          <a:ln/>
        </p:spPr>
        <p:txBody>
          <a:bodyPr wrap="square" lIns="0" tIns="0" rIns="0" bIns="0" rtlCol="0" anchor="ctr"/>
          <a:lstStyle/>
          <a:p>
            <a:pPr marL="0" indent="0" algn="ctr">
              <a:buNone/>
            </a:pPr>
            <a:r>
              <a:rPr lang="en-US" sz="2400" b="1" dirty="0">
                <a:solidFill>
                  <a:srgbClr val="00B4D8"/>
                </a:solidFill>
                <a:latin typeface="Georgia" pitchFamily="34" charset="0"/>
                <a:ea typeface="Georgia" pitchFamily="34" charset="-122"/>
                <a:cs typeface="Georgia" pitchFamily="34" charset="-120"/>
              </a:rPr>
              <a:t>05</a:t>
            </a:r>
            <a:endParaRPr lang="en-US" sz="2400" dirty="0"/>
          </a:p>
        </p:txBody>
      </p:sp>
      <p:sp>
        <p:nvSpPr>
          <p:cNvPr id="33" name="Text 31"/>
          <p:cNvSpPr/>
          <p:nvPr/>
        </p:nvSpPr>
        <p:spPr>
          <a:xfrm>
            <a:off x="5193792" y="2103120"/>
            <a:ext cx="1097280" cy="320040"/>
          </a:xfrm>
          <a:prstGeom prst="rect">
            <a:avLst/>
          </a:prstGeom>
          <a:noFill/>
          <a:ln/>
        </p:spPr>
        <p:txBody>
          <a:bodyPr wrap="square" lIns="0" tIns="0" rIns="0" bIns="0" rtlCol="0" anchor="ctr"/>
          <a:lstStyle/>
          <a:p>
            <a:pPr marL="0" indent="0" algn="ctr">
              <a:buNone/>
            </a:pPr>
            <a:r>
              <a:rPr lang="en-US" sz="1200" b="1" dirty="0">
                <a:solidFill>
                  <a:srgbClr val="0F1B2D"/>
                </a:solidFill>
              </a:rPr>
              <a:t>Extract</a:t>
            </a:r>
            <a:endParaRPr lang="en-US" sz="1200" dirty="0"/>
          </a:p>
        </p:txBody>
      </p:sp>
      <p:sp>
        <p:nvSpPr>
          <p:cNvPr id="34" name="Text 32"/>
          <p:cNvSpPr/>
          <p:nvPr/>
        </p:nvSpPr>
        <p:spPr>
          <a:xfrm>
            <a:off x="5239512" y="2468880"/>
            <a:ext cx="1005840" cy="731520"/>
          </a:xfrm>
          <a:prstGeom prst="rect">
            <a:avLst/>
          </a:prstGeom>
          <a:noFill/>
          <a:ln/>
        </p:spPr>
        <p:txBody>
          <a:bodyPr wrap="square" lIns="0" tIns="0" rIns="0" bIns="0" rtlCol="0" anchor="ctr"/>
          <a:lstStyle/>
          <a:p>
            <a:pPr marL="0" indent="0" algn="ctr">
              <a:buNone/>
            </a:pPr>
            <a:r>
              <a:rPr lang="en-US" sz="900" dirty="0">
                <a:solidFill>
                  <a:srgbClr val="475569"/>
                </a:solidFill>
              </a:rPr>
              <a:t>Parse text, tables, plots</a:t>
            </a:r>
            <a:endParaRPr lang="en-US" sz="900" dirty="0"/>
          </a:p>
        </p:txBody>
      </p:sp>
      <p:sp>
        <p:nvSpPr>
          <p:cNvPr id="35" name="Text 33"/>
          <p:cNvSpPr/>
          <p:nvPr/>
        </p:nvSpPr>
        <p:spPr>
          <a:xfrm>
            <a:off x="6245352" y="2103120"/>
            <a:ext cx="274320" cy="27432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36" name="Shape 34"/>
          <p:cNvSpPr/>
          <p:nvPr/>
        </p:nvSpPr>
        <p:spPr>
          <a:xfrm>
            <a:off x="6446520" y="1463040"/>
            <a:ext cx="1097280" cy="2011680"/>
          </a:xfrm>
          <a:prstGeom prst="rect">
            <a:avLst/>
          </a:prstGeom>
          <a:solidFill>
            <a:srgbClr val="FFFFFF"/>
          </a:solidFill>
          <a:ln/>
          <a:effectLst>
            <a:outerShdw blurRad="101600" dist="38100" dir="8100000" algn="bl" rotWithShape="0">
              <a:srgbClr val="000000">
                <a:alpha val="12000"/>
              </a:srgbClr>
            </a:outerShdw>
          </a:effectLst>
        </p:spPr>
      </p:sp>
      <p:sp>
        <p:nvSpPr>
          <p:cNvPr id="37" name="Shape 35"/>
          <p:cNvSpPr/>
          <p:nvPr/>
        </p:nvSpPr>
        <p:spPr>
          <a:xfrm>
            <a:off x="6446520" y="1463040"/>
            <a:ext cx="1097280" cy="54864"/>
          </a:xfrm>
          <a:prstGeom prst="rect">
            <a:avLst/>
          </a:prstGeom>
          <a:solidFill>
            <a:srgbClr val="00B4D8"/>
          </a:solidFill>
          <a:ln/>
        </p:spPr>
      </p:sp>
      <p:sp>
        <p:nvSpPr>
          <p:cNvPr id="38" name="Text 36"/>
          <p:cNvSpPr/>
          <p:nvPr/>
        </p:nvSpPr>
        <p:spPr>
          <a:xfrm>
            <a:off x="6446520" y="1600200"/>
            <a:ext cx="1097280" cy="457200"/>
          </a:xfrm>
          <a:prstGeom prst="rect">
            <a:avLst/>
          </a:prstGeom>
          <a:noFill/>
          <a:ln/>
        </p:spPr>
        <p:txBody>
          <a:bodyPr wrap="square" lIns="0" tIns="0" rIns="0" bIns="0" rtlCol="0" anchor="ctr"/>
          <a:lstStyle/>
          <a:p>
            <a:pPr marL="0" indent="0" algn="ctr">
              <a:buNone/>
            </a:pPr>
            <a:r>
              <a:rPr lang="en-US" sz="2400" b="1" dirty="0">
                <a:solidFill>
                  <a:srgbClr val="00B4D8"/>
                </a:solidFill>
                <a:latin typeface="Georgia" pitchFamily="34" charset="0"/>
                <a:ea typeface="Georgia" pitchFamily="34" charset="-122"/>
                <a:cs typeface="Georgia" pitchFamily="34" charset="-120"/>
              </a:rPr>
              <a:t>06</a:t>
            </a:r>
            <a:endParaRPr lang="en-US" sz="2400" dirty="0"/>
          </a:p>
        </p:txBody>
      </p:sp>
      <p:sp>
        <p:nvSpPr>
          <p:cNvPr id="39" name="Text 37"/>
          <p:cNvSpPr/>
          <p:nvPr/>
        </p:nvSpPr>
        <p:spPr>
          <a:xfrm>
            <a:off x="6446520" y="2103120"/>
            <a:ext cx="1097280" cy="320040"/>
          </a:xfrm>
          <a:prstGeom prst="rect">
            <a:avLst/>
          </a:prstGeom>
          <a:noFill/>
          <a:ln/>
        </p:spPr>
        <p:txBody>
          <a:bodyPr wrap="square" lIns="0" tIns="0" rIns="0" bIns="0" rtlCol="0" anchor="ctr"/>
          <a:lstStyle/>
          <a:p>
            <a:pPr marL="0" indent="0" algn="ctr">
              <a:buNone/>
            </a:pPr>
            <a:r>
              <a:rPr lang="en-US" sz="1200" b="1" dirty="0">
                <a:solidFill>
                  <a:srgbClr val="0F1B2D"/>
                </a:solidFill>
              </a:rPr>
              <a:t>Validate</a:t>
            </a:r>
            <a:endParaRPr lang="en-US" sz="1200" dirty="0"/>
          </a:p>
        </p:txBody>
      </p:sp>
      <p:sp>
        <p:nvSpPr>
          <p:cNvPr id="40" name="Text 38"/>
          <p:cNvSpPr/>
          <p:nvPr/>
        </p:nvSpPr>
        <p:spPr>
          <a:xfrm>
            <a:off x="6492240" y="2468880"/>
            <a:ext cx="1005840" cy="731520"/>
          </a:xfrm>
          <a:prstGeom prst="rect">
            <a:avLst/>
          </a:prstGeom>
          <a:noFill/>
          <a:ln/>
        </p:spPr>
        <p:txBody>
          <a:bodyPr wrap="square" lIns="0" tIns="0" rIns="0" bIns="0" rtlCol="0" anchor="ctr"/>
          <a:lstStyle/>
          <a:p>
            <a:pPr marL="0" indent="0" algn="ctr">
              <a:buNone/>
            </a:pPr>
            <a:r>
              <a:rPr lang="en-US" sz="900" dirty="0">
                <a:solidFill>
                  <a:srgbClr val="475569"/>
                </a:solidFill>
              </a:rPr>
              <a:t>Cross-verify all data</a:t>
            </a:r>
            <a:endParaRPr lang="en-US" sz="900" dirty="0"/>
          </a:p>
        </p:txBody>
      </p:sp>
      <p:sp>
        <p:nvSpPr>
          <p:cNvPr id="41" name="Text 39"/>
          <p:cNvSpPr/>
          <p:nvPr/>
        </p:nvSpPr>
        <p:spPr>
          <a:xfrm>
            <a:off x="7498080" y="2103120"/>
            <a:ext cx="274320" cy="27432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42" name="Shape 40"/>
          <p:cNvSpPr/>
          <p:nvPr/>
        </p:nvSpPr>
        <p:spPr>
          <a:xfrm>
            <a:off x="7699248" y="1463040"/>
            <a:ext cx="1097280" cy="2011680"/>
          </a:xfrm>
          <a:prstGeom prst="rect">
            <a:avLst/>
          </a:prstGeom>
          <a:solidFill>
            <a:srgbClr val="FFFFFF"/>
          </a:solidFill>
          <a:ln/>
          <a:effectLst>
            <a:outerShdw blurRad="101600" dist="38100" dir="8100000" algn="bl" rotWithShape="0">
              <a:srgbClr val="000000">
                <a:alpha val="12000"/>
              </a:srgbClr>
            </a:outerShdw>
          </a:effectLst>
        </p:spPr>
      </p:sp>
      <p:sp>
        <p:nvSpPr>
          <p:cNvPr id="43" name="Shape 41"/>
          <p:cNvSpPr/>
          <p:nvPr/>
        </p:nvSpPr>
        <p:spPr>
          <a:xfrm>
            <a:off x="7699248" y="1463040"/>
            <a:ext cx="1097280" cy="54864"/>
          </a:xfrm>
          <a:prstGeom prst="rect">
            <a:avLst/>
          </a:prstGeom>
          <a:solidFill>
            <a:srgbClr val="00B4D8"/>
          </a:solidFill>
          <a:ln/>
        </p:spPr>
      </p:sp>
      <p:sp>
        <p:nvSpPr>
          <p:cNvPr id="44" name="Text 42"/>
          <p:cNvSpPr/>
          <p:nvPr/>
        </p:nvSpPr>
        <p:spPr>
          <a:xfrm>
            <a:off x="7699248" y="1600200"/>
            <a:ext cx="1097280" cy="457200"/>
          </a:xfrm>
          <a:prstGeom prst="rect">
            <a:avLst/>
          </a:prstGeom>
          <a:noFill/>
          <a:ln/>
        </p:spPr>
        <p:txBody>
          <a:bodyPr wrap="square" lIns="0" tIns="0" rIns="0" bIns="0" rtlCol="0" anchor="ctr"/>
          <a:lstStyle/>
          <a:p>
            <a:pPr marL="0" indent="0" algn="ctr">
              <a:buNone/>
            </a:pPr>
            <a:r>
              <a:rPr lang="en-US" sz="2400" b="1" dirty="0">
                <a:solidFill>
                  <a:srgbClr val="00B4D8"/>
                </a:solidFill>
                <a:latin typeface="Georgia" pitchFamily="34" charset="0"/>
                <a:ea typeface="Georgia" pitchFamily="34" charset="-122"/>
                <a:cs typeface="Georgia" pitchFamily="34" charset="-120"/>
              </a:rPr>
              <a:t>07</a:t>
            </a:r>
            <a:endParaRPr lang="en-US" sz="2400" dirty="0"/>
          </a:p>
        </p:txBody>
      </p:sp>
      <p:sp>
        <p:nvSpPr>
          <p:cNvPr id="45" name="Text 43"/>
          <p:cNvSpPr/>
          <p:nvPr/>
        </p:nvSpPr>
        <p:spPr>
          <a:xfrm>
            <a:off x="7699248" y="2103120"/>
            <a:ext cx="1097280" cy="320040"/>
          </a:xfrm>
          <a:prstGeom prst="rect">
            <a:avLst/>
          </a:prstGeom>
          <a:noFill/>
          <a:ln/>
        </p:spPr>
        <p:txBody>
          <a:bodyPr wrap="square" lIns="0" tIns="0" rIns="0" bIns="0" rtlCol="0" anchor="ctr"/>
          <a:lstStyle/>
          <a:p>
            <a:pPr marL="0" indent="0" algn="ctr">
              <a:buNone/>
            </a:pPr>
            <a:r>
              <a:rPr lang="en-US" sz="1200" b="1" dirty="0">
                <a:solidFill>
                  <a:srgbClr val="0F1B2D"/>
                </a:solidFill>
              </a:rPr>
              <a:t>Output</a:t>
            </a:r>
            <a:endParaRPr lang="en-US" sz="1200" dirty="0"/>
          </a:p>
        </p:txBody>
      </p:sp>
      <p:sp>
        <p:nvSpPr>
          <p:cNvPr id="46" name="Text 44"/>
          <p:cNvSpPr/>
          <p:nvPr/>
        </p:nvSpPr>
        <p:spPr>
          <a:xfrm>
            <a:off x="7744968" y="2468880"/>
            <a:ext cx="1005840" cy="731520"/>
          </a:xfrm>
          <a:prstGeom prst="rect">
            <a:avLst/>
          </a:prstGeom>
          <a:noFill/>
          <a:ln/>
        </p:spPr>
        <p:txBody>
          <a:bodyPr wrap="square" lIns="0" tIns="0" rIns="0" bIns="0" rtlCol="0" anchor="ctr"/>
          <a:lstStyle/>
          <a:p>
            <a:pPr marL="0" indent="0" algn="ctr">
              <a:buNone/>
            </a:pPr>
            <a:r>
              <a:rPr lang="en-US" sz="900" dirty="0">
                <a:solidFill>
                  <a:srgbClr val="475569"/>
                </a:solidFill>
              </a:rPr>
              <a:t>Clean CSV &amp; JSON files</a:t>
            </a:r>
            <a:endParaRPr lang="en-US" sz="900" dirty="0"/>
          </a:p>
        </p:txBody>
      </p:sp>
      <p:sp>
        <p:nvSpPr>
          <p:cNvPr id="47" name="Text 45"/>
          <p:cNvSpPr/>
          <p:nvPr/>
        </p:nvSpPr>
        <p:spPr>
          <a:xfrm>
            <a:off x="457200" y="3931920"/>
            <a:ext cx="8229600" cy="365760"/>
          </a:xfrm>
          <a:prstGeom prst="rect">
            <a:avLst/>
          </a:prstGeom>
          <a:noFill/>
          <a:ln/>
        </p:spPr>
        <p:txBody>
          <a:bodyPr wrap="square" rtlCol="0" anchor="ctr"/>
          <a:lstStyle/>
          <a:p>
            <a:pPr marL="0" indent="0" algn="ctr">
              <a:buNone/>
            </a:pPr>
            <a:r>
              <a:rPr lang="en-US" sz="1200" i="1" dirty="0">
                <a:solidFill>
                  <a:srgbClr val="475569"/>
                </a:solidFill>
              </a:rPr>
              <a:t>Example: "Perovskite solar cell efficiency" → 100 papers processed → Clean dataset in 12 minutes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94A3B8"/>
                </a:solidFill>
              </a:rPr>
              <a:t>8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94A3B8"/>
                </a:solidFill>
              </a:rPr>
              <a:t>Research Mining Pro</a:t>
            </a:r>
            <a:endParaRPr lang="en-US" sz="900" dirty="0"/>
          </a:p>
        </p:txBody>
      </p:sp>
      <p:sp>
        <p:nvSpPr>
          <p:cNvPr id="4" name="Text 2"/>
          <p:cNvSpPr/>
          <p:nvPr/>
        </p:nvSpPr>
        <p:spPr>
          <a:xfrm>
            <a:off x="457200" y="274320"/>
            <a:ext cx="4572000" cy="365760"/>
          </a:xfrm>
          <a:prstGeom prst="rect">
            <a:avLst/>
          </a:prstGeom>
          <a:noFill/>
          <a:ln/>
        </p:spPr>
        <p:txBody>
          <a:bodyPr wrap="square" rtlCol="0" anchor="ctr"/>
          <a:lstStyle/>
          <a:p>
            <a:pPr marL="0" indent="0">
              <a:buNone/>
            </a:pPr>
            <a:r>
              <a:rPr lang="en-US" sz="1300" b="1" kern="0" spc="400" dirty="0">
                <a:solidFill>
                  <a:srgbClr val="00B4D8"/>
                </a:solidFill>
              </a:rPr>
              <a:t>TECHNOLOGY STACK</a:t>
            </a:r>
            <a:endParaRPr lang="en-US" sz="1300" dirty="0"/>
          </a:p>
        </p:txBody>
      </p:sp>
      <p:sp>
        <p:nvSpPr>
          <p:cNvPr id="5" name="Text 3"/>
          <p:cNvSpPr/>
          <p:nvPr/>
        </p:nvSpPr>
        <p:spPr>
          <a:xfrm>
            <a:off x="457200" y="640080"/>
            <a:ext cx="7315200"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Best-of-Breed, Provider-Agnostic</a:t>
            </a:r>
            <a:endParaRPr lang="en-US" sz="2400" dirty="0"/>
          </a:p>
        </p:txBody>
      </p:sp>
      <p:sp>
        <p:nvSpPr>
          <p:cNvPr id="6" name="Shape 4"/>
          <p:cNvSpPr/>
          <p:nvPr/>
        </p:nvSpPr>
        <p:spPr>
          <a:xfrm>
            <a:off x="457200" y="1280160"/>
            <a:ext cx="2651760" cy="2926080"/>
          </a:xfrm>
          <a:prstGeom prst="rect">
            <a:avLst/>
          </a:prstGeom>
          <a:solidFill>
            <a:srgbClr val="1A2744"/>
          </a:solidFill>
          <a:ln/>
          <a:effectLst>
            <a:outerShdw blurRad="101600" dist="38100" dir="81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640080" y="1463040"/>
            <a:ext cx="365760" cy="365760"/>
          </a:xfrm>
          <a:prstGeom prst="rect">
            <a:avLst/>
          </a:prstGeom>
        </p:spPr>
      </p:pic>
      <p:sp>
        <p:nvSpPr>
          <p:cNvPr id="8" name="Text 5"/>
          <p:cNvSpPr/>
          <p:nvPr/>
        </p:nvSpPr>
        <p:spPr>
          <a:xfrm>
            <a:off x="1097280" y="1463040"/>
            <a:ext cx="1828800" cy="365760"/>
          </a:xfrm>
          <a:prstGeom prst="rect">
            <a:avLst/>
          </a:prstGeom>
          <a:noFill/>
          <a:ln/>
        </p:spPr>
        <p:txBody>
          <a:bodyPr wrap="square" lIns="0" tIns="0" rIns="0" bIns="0" rtlCol="0" anchor="ctr"/>
          <a:lstStyle/>
          <a:p>
            <a:pPr marL="0" indent="0">
              <a:buNone/>
            </a:pPr>
            <a:r>
              <a:rPr lang="en-US" sz="1500" b="1" dirty="0">
                <a:solidFill>
                  <a:srgbClr val="FFFFFF"/>
                </a:solidFill>
              </a:rPr>
              <a:t>AI / LLM</a:t>
            </a:r>
            <a:endParaRPr lang="en-US" sz="1500" dirty="0"/>
          </a:p>
        </p:txBody>
      </p:sp>
      <p:sp>
        <p:nvSpPr>
          <p:cNvPr id="9" name="Text 6"/>
          <p:cNvSpPr/>
          <p:nvPr/>
        </p:nvSpPr>
        <p:spPr>
          <a:xfrm>
            <a:off x="731520" y="2103120"/>
            <a:ext cx="2194560" cy="18288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BD5E1"/>
                </a:solidFill>
              </a:rPr>
              <a:t>Llama 3.3 70B</a:t>
            </a:r>
            <a:endParaRPr lang="en-US" sz="1100" dirty="0"/>
          </a:p>
          <a:p>
            <a:pPr marL="342900" indent="-342900">
              <a:spcAft>
                <a:spcPts val="400"/>
              </a:spcAft>
              <a:buSzPct val="100000"/>
              <a:buChar char="•"/>
            </a:pPr>
            <a:r>
              <a:rPr lang="en-US" sz="1100" dirty="0">
                <a:solidFill>
                  <a:srgbClr val="CBD5E1"/>
                </a:solidFill>
              </a:rPr>
              <a:t>Gemini 1.5-flash</a:t>
            </a:r>
            <a:endParaRPr lang="en-US" sz="1100" dirty="0"/>
          </a:p>
          <a:p>
            <a:pPr marL="342900" indent="-342900">
              <a:spcAft>
                <a:spcPts val="400"/>
              </a:spcAft>
              <a:buSzPct val="100000"/>
              <a:buChar char="•"/>
            </a:pPr>
            <a:r>
              <a:rPr lang="en-US" sz="1100" dirty="0">
                <a:solidFill>
                  <a:srgbClr val="CBD5E1"/>
                </a:solidFill>
              </a:rPr>
              <a:t>Nemotron</a:t>
            </a:r>
            <a:endParaRPr lang="en-US" sz="1100" dirty="0"/>
          </a:p>
          <a:p>
            <a:pPr marL="342900" indent="-342900">
              <a:spcAft>
                <a:spcPts val="400"/>
              </a:spcAft>
              <a:buSzPct val="100000"/>
              <a:buChar char="•"/>
            </a:pPr>
            <a:r>
              <a:rPr lang="en-US" sz="1100" dirty="0">
                <a:solidFill>
                  <a:srgbClr val="CBD5E1"/>
                </a:solidFill>
              </a:rPr>
              <a:t>Multi-provider failover</a:t>
            </a:r>
            <a:endParaRPr lang="en-US" sz="1100" dirty="0"/>
          </a:p>
        </p:txBody>
      </p:sp>
      <p:sp>
        <p:nvSpPr>
          <p:cNvPr id="10" name="Shape 7"/>
          <p:cNvSpPr/>
          <p:nvPr/>
        </p:nvSpPr>
        <p:spPr>
          <a:xfrm>
            <a:off x="3337560" y="1280160"/>
            <a:ext cx="2651760" cy="2926080"/>
          </a:xfrm>
          <a:prstGeom prst="rect">
            <a:avLst/>
          </a:prstGeom>
          <a:solidFill>
            <a:srgbClr val="1A2744"/>
          </a:solidFill>
          <a:ln/>
          <a:effectLst>
            <a:outerShdw blurRad="101600" dist="38100" dir="81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3520440" y="1463040"/>
            <a:ext cx="365760" cy="365760"/>
          </a:xfrm>
          <a:prstGeom prst="rect">
            <a:avLst/>
          </a:prstGeom>
        </p:spPr>
      </p:pic>
      <p:sp>
        <p:nvSpPr>
          <p:cNvPr id="12" name="Text 8"/>
          <p:cNvSpPr/>
          <p:nvPr/>
        </p:nvSpPr>
        <p:spPr>
          <a:xfrm>
            <a:off x="3977640" y="1463040"/>
            <a:ext cx="1828800" cy="365760"/>
          </a:xfrm>
          <a:prstGeom prst="rect">
            <a:avLst/>
          </a:prstGeom>
          <a:noFill/>
          <a:ln/>
        </p:spPr>
        <p:txBody>
          <a:bodyPr wrap="square" lIns="0" tIns="0" rIns="0" bIns="0" rtlCol="0" anchor="ctr"/>
          <a:lstStyle/>
          <a:p>
            <a:pPr marL="0" indent="0">
              <a:buNone/>
            </a:pPr>
            <a:r>
              <a:rPr lang="en-US" sz="1500" b="1" dirty="0">
                <a:solidFill>
                  <a:srgbClr val="FFFFFF"/>
                </a:solidFill>
              </a:rPr>
              <a:t>Vision &amp; OCR</a:t>
            </a:r>
            <a:endParaRPr lang="en-US" sz="1500" dirty="0"/>
          </a:p>
        </p:txBody>
      </p:sp>
      <p:sp>
        <p:nvSpPr>
          <p:cNvPr id="13" name="Text 9"/>
          <p:cNvSpPr/>
          <p:nvPr/>
        </p:nvSpPr>
        <p:spPr>
          <a:xfrm>
            <a:off x="3611880" y="2103120"/>
            <a:ext cx="2194560" cy="18288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BD5E1"/>
                </a:solidFill>
              </a:rPr>
              <a:t>OpenCV</a:t>
            </a:r>
            <a:endParaRPr lang="en-US" sz="1100" dirty="0"/>
          </a:p>
          <a:p>
            <a:pPr marL="342900" indent="-342900">
              <a:spcAft>
                <a:spcPts val="400"/>
              </a:spcAft>
              <a:buSzPct val="100000"/>
              <a:buChar char="•"/>
            </a:pPr>
            <a:r>
              <a:rPr lang="en-US" sz="1100" dirty="0">
                <a:solidFill>
                  <a:srgbClr val="CBD5E1"/>
                </a:solidFill>
              </a:rPr>
              <a:t>EasyOCR</a:t>
            </a:r>
            <a:endParaRPr lang="en-US" sz="1100" dirty="0"/>
          </a:p>
          <a:p>
            <a:pPr marL="342900" indent="-342900">
              <a:spcAft>
                <a:spcPts val="400"/>
              </a:spcAft>
              <a:buSzPct val="100000"/>
              <a:buChar char="•"/>
            </a:pPr>
            <a:r>
              <a:rPr lang="en-US" sz="1100" dirty="0">
                <a:solidFill>
                  <a:srgbClr val="CBD5E1"/>
                </a:solidFill>
              </a:rPr>
              <a:t>PyMuPDF (fitz)</a:t>
            </a:r>
            <a:endParaRPr lang="en-US" sz="1100" dirty="0"/>
          </a:p>
          <a:p>
            <a:pPr marL="342900" indent="-342900">
              <a:spcAft>
                <a:spcPts val="400"/>
              </a:spcAft>
              <a:buSzPct val="100000"/>
              <a:buChar char="•"/>
            </a:pPr>
            <a:r>
              <a:rPr lang="en-US" sz="1100" dirty="0">
                <a:solidFill>
                  <a:srgbClr val="CBD5E1"/>
                </a:solidFill>
              </a:rPr>
              <a:t>Image pre-processing</a:t>
            </a:r>
            <a:endParaRPr lang="en-US" sz="1100" dirty="0"/>
          </a:p>
        </p:txBody>
      </p:sp>
      <p:sp>
        <p:nvSpPr>
          <p:cNvPr id="14" name="Shape 10"/>
          <p:cNvSpPr/>
          <p:nvPr/>
        </p:nvSpPr>
        <p:spPr>
          <a:xfrm>
            <a:off x="6217920" y="1280160"/>
            <a:ext cx="2651760" cy="2926080"/>
          </a:xfrm>
          <a:prstGeom prst="rect">
            <a:avLst/>
          </a:prstGeom>
          <a:solidFill>
            <a:srgbClr val="1A2744"/>
          </a:solidFill>
          <a:ln/>
          <a:effectLst>
            <a:outerShdw blurRad="101600" dist="38100" dir="8100000" algn="bl" rotWithShape="0">
              <a:srgbClr val="000000">
                <a:alpha val="12000"/>
              </a:srgbClr>
            </a:outerShdw>
          </a:effectLst>
        </p:spPr>
      </p:sp>
      <p:pic>
        <p:nvPicPr>
          <p:cNvPr id="15" name="Image 2" descr="preencoded.png"/>
          <p:cNvPicPr>
            <a:picLocks noChangeAspect="1"/>
          </p:cNvPicPr>
          <p:nvPr/>
        </p:nvPicPr>
        <p:blipFill>
          <a:blip r:embed="rId5"/>
          <a:stretch>
            <a:fillRect/>
          </a:stretch>
        </p:blipFill>
        <p:spPr>
          <a:xfrm>
            <a:off x="6400800" y="1463040"/>
            <a:ext cx="365760" cy="365760"/>
          </a:xfrm>
          <a:prstGeom prst="rect">
            <a:avLst/>
          </a:prstGeom>
        </p:spPr>
      </p:pic>
      <p:sp>
        <p:nvSpPr>
          <p:cNvPr id="16" name="Text 11"/>
          <p:cNvSpPr/>
          <p:nvPr/>
        </p:nvSpPr>
        <p:spPr>
          <a:xfrm>
            <a:off x="6858000" y="1463040"/>
            <a:ext cx="1828800" cy="365760"/>
          </a:xfrm>
          <a:prstGeom prst="rect">
            <a:avLst/>
          </a:prstGeom>
          <a:noFill/>
          <a:ln/>
        </p:spPr>
        <p:txBody>
          <a:bodyPr wrap="square" lIns="0" tIns="0" rIns="0" bIns="0" rtlCol="0" anchor="ctr"/>
          <a:lstStyle/>
          <a:p>
            <a:pPr marL="0" indent="0">
              <a:buNone/>
            </a:pPr>
            <a:r>
              <a:rPr lang="en-US" sz="1500" b="1" dirty="0">
                <a:solidFill>
                  <a:srgbClr val="FFFFFF"/>
                </a:solidFill>
              </a:rPr>
              <a:t>Infrastructure</a:t>
            </a:r>
            <a:endParaRPr lang="en-US" sz="1500" dirty="0"/>
          </a:p>
        </p:txBody>
      </p:sp>
      <p:sp>
        <p:nvSpPr>
          <p:cNvPr id="17" name="Text 12"/>
          <p:cNvSpPr/>
          <p:nvPr/>
        </p:nvSpPr>
        <p:spPr>
          <a:xfrm>
            <a:off x="6492240" y="2103120"/>
            <a:ext cx="2194560" cy="18288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BD5E1"/>
                </a:solidFill>
              </a:rPr>
              <a:t>Python 3.10</a:t>
            </a:r>
            <a:endParaRPr lang="en-US" sz="1100" dirty="0"/>
          </a:p>
          <a:p>
            <a:pPr marL="342900" indent="-342900">
              <a:spcAft>
                <a:spcPts val="400"/>
              </a:spcAft>
              <a:buSzPct val="100000"/>
              <a:buChar char="•"/>
            </a:pPr>
            <a:r>
              <a:rPr lang="en-US" sz="1100" dirty="0">
                <a:solidFill>
                  <a:srgbClr val="CBD5E1"/>
                </a:solidFill>
              </a:rPr>
              <a:t>FastAPI server</a:t>
            </a:r>
            <a:endParaRPr lang="en-US" sz="1100" dirty="0"/>
          </a:p>
          <a:p>
            <a:pPr marL="342900" indent="-342900">
              <a:spcAft>
                <a:spcPts val="400"/>
              </a:spcAft>
              <a:buSzPct val="100000"/>
              <a:buChar char="•"/>
            </a:pPr>
            <a:r>
              <a:rPr lang="en-US" sz="1100" dirty="0">
                <a:solidFill>
                  <a:srgbClr val="CBD5E1"/>
                </a:solidFill>
              </a:rPr>
              <a:t>LLM Load Balancer</a:t>
            </a:r>
            <a:endParaRPr lang="en-US" sz="1100" dirty="0"/>
          </a:p>
          <a:p>
            <a:pPr marL="342900" indent="-342900">
              <a:spcAft>
                <a:spcPts val="400"/>
              </a:spcAft>
              <a:buSzPct val="100000"/>
              <a:buChar char="•"/>
            </a:pPr>
            <a:r>
              <a:rPr lang="en-US" sz="1100" dirty="0">
                <a:solidFill>
                  <a:srgbClr val="CBD5E1"/>
                </a:solidFill>
              </a:rPr>
              <a:t>Pandas + NumPy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475569"/>
                </a:solidFill>
              </a:rPr>
              <a:t>9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475569"/>
                </a:solidFill>
              </a:rPr>
              <a:t>Research Mining Pro</a:t>
            </a:r>
            <a:endParaRPr lang="en-US" sz="900" dirty="0"/>
          </a:p>
        </p:txBody>
      </p:sp>
      <p:sp>
        <p:nvSpPr>
          <p:cNvPr id="4" name="Text 2"/>
          <p:cNvSpPr/>
          <p:nvPr/>
        </p:nvSpPr>
        <p:spPr>
          <a:xfrm>
            <a:off x="457200" y="274320"/>
            <a:ext cx="4572000" cy="365760"/>
          </a:xfrm>
          <a:prstGeom prst="rect">
            <a:avLst/>
          </a:prstGeom>
          <a:noFill/>
          <a:ln/>
        </p:spPr>
        <p:txBody>
          <a:bodyPr wrap="square" rtlCol="0" anchor="ctr"/>
          <a:lstStyle/>
          <a:p>
            <a:pPr marL="0" indent="0">
              <a:buNone/>
            </a:pPr>
            <a:r>
              <a:rPr lang="en-US" sz="1300" b="1" kern="0" spc="400" dirty="0">
                <a:solidFill>
                  <a:srgbClr val="00B4D8"/>
                </a:solidFill>
              </a:rPr>
              <a:t>PROCESSING MODULES</a:t>
            </a:r>
            <a:endParaRPr lang="en-US" sz="1300" dirty="0"/>
          </a:p>
        </p:txBody>
      </p:sp>
      <p:sp>
        <p:nvSpPr>
          <p:cNvPr id="5" name="Text 3"/>
          <p:cNvSpPr/>
          <p:nvPr/>
        </p:nvSpPr>
        <p:spPr>
          <a:xfrm>
            <a:off x="457200" y="640080"/>
            <a:ext cx="8229600" cy="457200"/>
          </a:xfrm>
          <a:prstGeom prst="rect">
            <a:avLst/>
          </a:prstGeom>
          <a:noFill/>
          <a:ln/>
        </p:spPr>
        <p:txBody>
          <a:bodyPr wrap="square" rtlCol="0" anchor="ctr"/>
          <a:lstStyle/>
          <a:p>
            <a:pPr marL="0" indent="0">
              <a:buNone/>
            </a:pPr>
            <a:r>
              <a:rPr lang="en-US" sz="2200" b="1" dirty="0">
                <a:solidFill>
                  <a:srgbClr val="0F1B2D"/>
                </a:solidFill>
                <a:latin typeface="Georgia" pitchFamily="34" charset="0"/>
                <a:ea typeface="Georgia" pitchFamily="34" charset="-122"/>
                <a:cs typeface="Georgia" pitchFamily="34" charset="-120"/>
              </a:rPr>
              <a:t>Each Module Has One Job — And Does It Well</a:t>
            </a:r>
            <a:endParaRPr lang="en-US" sz="2200" dirty="0"/>
          </a:p>
        </p:txBody>
      </p:sp>
      <p:pic>
        <p:nvPicPr>
          <p:cNvPr id="6" name="Image 0" descr="preencoded.png"/>
          <p:cNvPicPr>
            <a:picLocks noChangeAspect="1"/>
          </p:cNvPicPr>
          <p:nvPr/>
        </p:nvPicPr>
        <p:blipFill>
          <a:blip r:embed="rId3"/>
          <a:stretch>
            <a:fillRect/>
          </a:stretch>
        </p:blipFill>
        <p:spPr>
          <a:xfrm>
            <a:off x="457200" y="1325880"/>
            <a:ext cx="320040" cy="320040"/>
          </a:xfrm>
          <a:prstGeom prst="rect">
            <a:avLst/>
          </a:prstGeom>
        </p:spPr>
      </p:pic>
      <p:sp>
        <p:nvSpPr>
          <p:cNvPr id="7" name="Text 4"/>
          <p:cNvSpPr/>
          <p:nvPr/>
        </p:nvSpPr>
        <p:spPr>
          <a:xfrm>
            <a:off x="914400" y="1280160"/>
            <a:ext cx="3200400" cy="274320"/>
          </a:xfrm>
          <a:prstGeom prst="rect">
            <a:avLst/>
          </a:prstGeom>
          <a:noFill/>
          <a:ln/>
        </p:spPr>
        <p:txBody>
          <a:bodyPr wrap="square" lIns="0" tIns="0" rIns="0" bIns="0" rtlCol="0" anchor="ctr"/>
          <a:lstStyle/>
          <a:p>
            <a:pPr marL="0" indent="0">
              <a:buNone/>
            </a:pPr>
            <a:r>
              <a:rPr lang="en-US" sz="1300" b="1" dirty="0">
                <a:solidFill>
                  <a:srgbClr val="0F1B2D"/>
                </a:solidFill>
              </a:rPr>
              <a:t>PDF Downloader</a:t>
            </a:r>
            <a:endParaRPr lang="en-US" sz="1300" dirty="0"/>
          </a:p>
        </p:txBody>
      </p:sp>
      <p:sp>
        <p:nvSpPr>
          <p:cNvPr id="8" name="Text 5"/>
          <p:cNvSpPr/>
          <p:nvPr/>
        </p:nvSpPr>
        <p:spPr>
          <a:xfrm>
            <a:off x="914400" y="1600200"/>
            <a:ext cx="3474720" cy="274320"/>
          </a:xfrm>
          <a:prstGeom prst="rect">
            <a:avLst/>
          </a:prstGeom>
          <a:noFill/>
          <a:ln/>
        </p:spPr>
        <p:txBody>
          <a:bodyPr wrap="square" lIns="0" tIns="0" rIns="0" bIns="0" rtlCol="0" anchor="ctr"/>
          <a:lstStyle/>
          <a:p>
            <a:pPr marL="0" indent="0">
              <a:buNone/>
            </a:pPr>
            <a:r>
              <a:rPr lang="en-US" sz="1000" dirty="0">
                <a:solidFill>
                  <a:srgbClr val="475569"/>
                </a:solidFill>
              </a:rPr>
              <a:t>API rate-limit handling, multi-source retrieval</a:t>
            </a:r>
            <a:endParaRPr lang="en-US" sz="1000" dirty="0"/>
          </a:p>
        </p:txBody>
      </p:sp>
      <p:pic>
        <p:nvPicPr>
          <p:cNvPr id="9" name="Image 1" descr="preencoded.png"/>
          <p:cNvPicPr>
            <a:picLocks noChangeAspect="1"/>
          </p:cNvPicPr>
          <p:nvPr/>
        </p:nvPicPr>
        <p:blipFill>
          <a:blip r:embed="rId4"/>
          <a:stretch>
            <a:fillRect/>
          </a:stretch>
        </p:blipFill>
        <p:spPr>
          <a:xfrm>
            <a:off x="4754880" y="1325880"/>
            <a:ext cx="320040" cy="320040"/>
          </a:xfrm>
          <a:prstGeom prst="rect">
            <a:avLst/>
          </a:prstGeom>
        </p:spPr>
      </p:pic>
      <p:sp>
        <p:nvSpPr>
          <p:cNvPr id="10" name="Text 6"/>
          <p:cNvSpPr/>
          <p:nvPr/>
        </p:nvSpPr>
        <p:spPr>
          <a:xfrm>
            <a:off x="5212080" y="1280160"/>
            <a:ext cx="3200400" cy="274320"/>
          </a:xfrm>
          <a:prstGeom prst="rect">
            <a:avLst/>
          </a:prstGeom>
          <a:noFill/>
          <a:ln/>
        </p:spPr>
        <p:txBody>
          <a:bodyPr wrap="square" lIns="0" tIns="0" rIns="0" bIns="0" rtlCol="0" anchor="ctr"/>
          <a:lstStyle/>
          <a:p>
            <a:pPr marL="0" indent="0">
              <a:buNone/>
            </a:pPr>
            <a:r>
              <a:rPr lang="en-US" sz="1300" b="1" dirty="0">
                <a:solidFill>
                  <a:srgbClr val="0F1B2D"/>
                </a:solidFill>
              </a:rPr>
              <a:t>Alias Generator</a:t>
            </a:r>
            <a:endParaRPr lang="en-US" sz="1300" dirty="0"/>
          </a:p>
        </p:txBody>
      </p:sp>
      <p:sp>
        <p:nvSpPr>
          <p:cNvPr id="11" name="Text 7"/>
          <p:cNvSpPr/>
          <p:nvPr/>
        </p:nvSpPr>
        <p:spPr>
          <a:xfrm>
            <a:off x="5212080" y="1600200"/>
            <a:ext cx="3474720" cy="274320"/>
          </a:xfrm>
          <a:prstGeom prst="rect">
            <a:avLst/>
          </a:prstGeom>
          <a:noFill/>
          <a:ln/>
        </p:spPr>
        <p:txBody>
          <a:bodyPr wrap="square" lIns="0" tIns="0" rIns="0" bIns="0" rtlCol="0" anchor="ctr"/>
          <a:lstStyle/>
          <a:p>
            <a:pPr marL="0" indent="0">
              <a:buNone/>
            </a:pPr>
            <a:r>
              <a:rPr lang="en-US" sz="1000" dirty="0">
                <a:solidFill>
                  <a:srgbClr val="475569"/>
                </a:solidFill>
              </a:rPr>
              <a:t>LLM-powered synonym detection for technical entities</a:t>
            </a:r>
            <a:endParaRPr lang="en-US" sz="1000" dirty="0"/>
          </a:p>
        </p:txBody>
      </p:sp>
      <p:pic>
        <p:nvPicPr>
          <p:cNvPr id="12" name="Image 2" descr="preencoded.png"/>
          <p:cNvPicPr>
            <a:picLocks noChangeAspect="1"/>
          </p:cNvPicPr>
          <p:nvPr/>
        </p:nvPicPr>
        <p:blipFill>
          <a:blip r:embed="rId5"/>
          <a:stretch>
            <a:fillRect/>
          </a:stretch>
        </p:blipFill>
        <p:spPr>
          <a:xfrm>
            <a:off x="457200" y="2240280"/>
            <a:ext cx="320040" cy="320040"/>
          </a:xfrm>
          <a:prstGeom prst="rect">
            <a:avLst/>
          </a:prstGeom>
        </p:spPr>
      </p:pic>
      <p:sp>
        <p:nvSpPr>
          <p:cNvPr id="13" name="Text 8"/>
          <p:cNvSpPr/>
          <p:nvPr/>
        </p:nvSpPr>
        <p:spPr>
          <a:xfrm>
            <a:off x="914400" y="2194560"/>
            <a:ext cx="3200400" cy="274320"/>
          </a:xfrm>
          <a:prstGeom prst="rect">
            <a:avLst/>
          </a:prstGeom>
          <a:noFill/>
          <a:ln/>
        </p:spPr>
        <p:txBody>
          <a:bodyPr wrap="square" lIns="0" tIns="0" rIns="0" bIns="0" rtlCol="0" anchor="ctr"/>
          <a:lstStyle/>
          <a:p>
            <a:pPr marL="0" indent="0">
              <a:buNone/>
            </a:pPr>
            <a:r>
              <a:rPr lang="en-US" sz="1300" b="1" dirty="0">
                <a:solidFill>
                  <a:srgbClr val="0F1B2D"/>
                </a:solidFill>
              </a:rPr>
              <a:t>Page Analyzer</a:t>
            </a:r>
            <a:endParaRPr lang="en-US" sz="1300" dirty="0"/>
          </a:p>
        </p:txBody>
      </p:sp>
      <p:sp>
        <p:nvSpPr>
          <p:cNvPr id="14" name="Text 9"/>
          <p:cNvSpPr/>
          <p:nvPr/>
        </p:nvSpPr>
        <p:spPr>
          <a:xfrm>
            <a:off x="914400" y="2514600"/>
            <a:ext cx="3474720" cy="274320"/>
          </a:xfrm>
          <a:prstGeom prst="rect">
            <a:avLst/>
          </a:prstGeom>
          <a:noFill/>
          <a:ln/>
        </p:spPr>
        <p:txBody>
          <a:bodyPr wrap="square" lIns="0" tIns="0" rIns="0" bIns="0" rtlCol="0" anchor="ctr"/>
          <a:lstStyle/>
          <a:p>
            <a:pPr marL="0" indent="0">
              <a:buNone/>
            </a:pPr>
            <a:r>
              <a:rPr lang="en-US" sz="1000" dirty="0">
                <a:solidFill>
                  <a:srgbClr val="475569"/>
                </a:solidFill>
              </a:rPr>
              <a:t>Layout zone detection: headers, figures, tables</a:t>
            </a:r>
            <a:endParaRPr lang="en-US" sz="1000" dirty="0"/>
          </a:p>
        </p:txBody>
      </p:sp>
      <p:pic>
        <p:nvPicPr>
          <p:cNvPr id="15" name="Image 3" descr="preencoded.png"/>
          <p:cNvPicPr>
            <a:picLocks noChangeAspect="1"/>
          </p:cNvPicPr>
          <p:nvPr/>
        </p:nvPicPr>
        <p:blipFill>
          <a:blip r:embed="rId6"/>
          <a:stretch>
            <a:fillRect/>
          </a:stretch>
        </p:blipFill>
        <p:spPr>
          <a:xfrm>
            <a:off x="4754880" y="2240280"/>
            <a:ext cx="320040" cy="320040"/>
          </a:xfrm>
          <a:prstGeom prst="rect">
            <a:avLst/>
          </a:prstGeom>
        </p:spPr>
      </p:pic>
      <p:sp>
        <p:nvSpPr>
          <p:cNvPr id="16" name="Text 10"/>
          <p:cNvSpPr/>
          <p:nvPr/>
        </p:nvSpPr>
        <p:spPr>
          <a:xfrm>
            <a:off x="5212080" y="2194560"/>
            <a:ext cx="3200400" cy="274320"/>
          </a:xfrm>
          <a:prstGeom prst="rect">
            <a:avLst/>
          </a:prstGeom>
          <a:noFill/>
          <a:ln/>
        </p:spPr>
        <p:txBody>
          <a:bodyPr wrap="square" lIns="0" tIns="0" rIns="0" bIns="0" rtlCol="0" anchor="ctr"/>
          <a:lstStyle/>
          <a:p>
            <a:pPr marL="0" indent="0">
              <a:buNone/>
            </a:pPr>
            <a:r>
              <a:rPr lang="en-US" sz="1300" b="1" dirty="0">
                <a:solidFill>
                  <a:srgbClr val="0F1B2D"/>
                </a:solidFill>
              </a:rPr>
              <a:t>Text Extractor</a:t>
            </a:r>
            <a:endParaRPr lang="en-US" sz="1300" dirty="0"/>
          </a:p>
        </p:txBody>
      </p:sp>
      <p:sp>
        <p:nvSpPr>
          <p:cNvPr id="17" name="Text 11"/>
          <p:cNvSpPr/>
          <p:nvPr/>
        </p:nvSpPr>
        <p:spPr>
          <a:xfrm>
            <a:off x="5212080" y="2514600"/>
            <a:ext cx="3474720" cy="274320"/>
          </a:xfrm>
          <a:prstGeom prst="rect">
            <a:avLst/>
          </a:prstGeom>
          <a:noFill/>
          <a:ln/>
        </p:spPr>
        <p:txBody>
          <a:bodyPr wrap="square" lIns="0" tIns="0" rIns="0" bIns="0" rtlCol="0" anchor="ctr"/>
          <a:lstStyle/>
          <a:p>
            <a:pPr marL="0" indent="0">
              <a:buNone/>
            </a:pPr>
            <a:r>
              <a:rPr lang="en-US" sz="1000" dirty="0">
                <a:solidFill>
                  <a:srgbClr val="475569"/>
                </a:solidFill>
              </a:rPr>
              <a:t>Semantic parsing of experimental sections</a:t>
            </a:r>
            <a:endParaRPr lang="en-US" sz="1000" dirty="0"/>
          </a:p>
        </p:txBody>
      </p:sp>
      <p:pic>
        <p:nvPicPr>
          <p:cNvPr id="18" name="Image 4" descr="preencoded.png"/>
          <p:cNvPicPr>
            <a:picLocks noChangeAspect="1"/>
          </p:cNvPicPr>
          <p:nvPr/>
        </p:nvPicPr>
        <p:blipFill>
          <a:blip r:embed="rId7"/>
          <a:stretch>
            <a:fillRect/>
          </a:stretch>
        </p:blipFill>
        <p:spPr>
          <a:xfrm>
            <a:off x="457200" y="3154680"/>
            <a:ext cx="320040" cy="320040"/>
          </a:xfrm>
          <a:prstGeom prst="rect">
            <a:avLst/>
          </a:prstGeom>
        </p:spPr>
      </p:pic>
      <p:sp>
        <p:nvSpPr>
          <p:cNvPr id="19" name="Text 12"/>
          <p:cNvSpPr/>
          <p:nvPr/>
        </p:nvSpPr>
        <p:spPr>
          <a:xfrm>
            <a:off x="914400" y="3108960"/>
            <a:ext cx="3200400" cy="274320"/>
          </a:xfrm>
          <a:prstGeom prst="rect">
            <a:avLst/>
          </a:prstGeom>
          <a:noFill/>
          <a:ln/>
        </p:spPr>
        <p:txBody>
          <a:bodyPr wrap="square" lIns="0" tIns="0" rIns="0" bIns="0" rtlCol="0" anchor="ctr"/>
          <a:lstStyle/>
          <a:p>
            <a:pPr marL="0" indent="0">
              <a:buNone/>
            </a:pPr>
            <a:r>
              <a:rPr lang="en-US" sz="1300" b="1" dirty="0">
                <a:solidFill>
                  <a:srgbClr val="0F1B2D"/>
                </a:solidFill>
              </a:rPr>
              <a:t>Table Processor</a:t>
            </a:r>
            <a:endParaRPr lang="en-US" sz="1300" dirty="0"/>
          </a:p>
        </p:txBody>
      </p:sp>
      <p:sp>
        <p:nvSpPr>
          <p:cNvPr id="20" name="Text 13"/>
          <p:cNvSpPr/>
          <p:nvPr/>
        </p:nvSpPr>
        <p:spPr>
          <a:xfrm>
            <a:off x="914400" y="3429000"/>
            <a:ext cx="3474720" cy="274320"/>
          </a:xfrm>
          <a:prstGeom prst="rect">
            <a:avLst/>
          </a:prstGeom>
          <a:noFill/>
          <a:ln/>
        </p:spPr>
        <p:txBody>
          <a:bodyPr wrap="square" lIns="0" tIns="0" rIns="0" bIns="0" rtlCol="0" anchor="ctr"/>
          <a:lstStyle/>
          <a:p>
            <a:pPr marL="0" indent="0">
              <a:buNone/>
            </a:pPr>
            <a:r>
              <a:rPr lang="en-US" sz="1000" dirty="0">
                <a:solidFill>
                  <a:srgbClr val="475569"/>
                </a:solidFill>
              </a:rPr>
              <a:t>Reconstructs structure from semi-structured data</a:t>
            </a:r>
            <a:endParaRPr lang="en-US" sz="1000" dirty="0"/>
          </a:p>
        </p:txBody>
      </p:sp>
      <p:pic>
        <p:nvPicPr>
          <p:cNvPr id="21" name="Image 5" descr="preencoded.png"/>
          <p:cNvPicPr>
            <a:picLocks noChangeAspect="1"/>
          </p:cNvPicPr>
          <p:nvPr/>
        </p:nvPicPr>
        <p:blipFill>
          <a:blip r:embed="rId8"/>
          <a:stretch>
            <a:fillRect/>
          </a:stretch>
        </p:blipFill>
        <p:spPr>
          <a:xfrm>
            <a:off x="4754880" y="3154680"/>
            <a:ext cx="320040" cy="320040"/>
          </a:xfrm>
          <a:prstGeom prst="rect">
            <a:avLst/>
          </a:prstGeom>
        </p:spPr>
      </p:pic>
      <p:sp>
        <p:nvSpPr>
          <p:cNvPr id="22" name="Text 14"/>
          <p:cNvSpPr/>
          <p:nvPr/>
        </p:nvSpPr>
        <p:spPr>
          <a:xfrm>
            <a:off x="5212080" y="3108960"/>
            <a:ext cx="3200400" cy="274320"/>
          </a:xfrm>
          <a:prstGeom prst="rect">
            <a:avLst/>
          </a:prstGeom>
          <a:noFill/>
          <a:ln/>
        </p:spPr>
        <p:txBody>
          <a:bodyPr wrap="square" lIns="0" tIns="0" rIns="0" bIns="0" rtlCol="0" anchor="ctr"/>
          <a:lstStyle/>
          <a:p>
            <a:pPr marL="0" indent="0">
              <a:buNone/>
            </a:pPr>
            <a:r>
              <a:rPr lang="en-US" sz="1300" b="1" dirty="0">
                <a:solidFill>
                  <a:srgbClr val="0F1B2D"/>
                </a:solidFill>
              </a:rPr>
              <a:t>Graph Digitizer</a:t>
            </a:r>
            <a:endParaRPr lang="en-US" sz="1300" dirty="0"/>
          </a:p>
        </p:txBody>
      </p:sp>
      <p:sp>
        <p:nvSpPr>
          <p:cNvPr id="23" name="Text 15"/>
          <p:cNvSpPr/>
          <p:nvPr/>
        </p:nvSpPr>
        <p:spPr>
          <a:xfrm>
            <a:off x="5212080" y="3429000"/>
            <a:ext cx="3474720" cy="274320"/>
          </a:xfrm>
          <a:prstGeom prst="rect">
            <a:avLst/>
          </a:prstGeom>
          <a:noFill/>
          <a:ln/>
        </p:spPr>
        <p:txBody>
          <a:bodyPr wrap="square" lIns="0" tIns="0" rIns="0" bIns="0" rtlCol="0" anchor="ctr"/>
          <a:lstStyle/>
          <a:p>
            <a:pPr marL="0" indent="0">
              <a:buNone/>
            </a:pPr>
            <a:r>
              <a:rPr lang="en-US" sz="1000" dirty="0">
                <a:solidFill>
                  <a:srgbClr val="475569"/>
                </a:solidFill>
              </a:rPr>
              <a:t>Axis detection, scale calibration, curve tracing</a:t>
            </a:r>
            <a:endParaRPr lang="en-US" sz="1000" dirty="0"/>
          </a:p>
        </p:txBody>
      </p:sp>
      <p:pic>
        <p:nvPicPr>
          <p:cNvPr id="24" name="Image 6" descr="preencoded.png"/>
          <p:cNvPicPr>
            <a:picLocks noChangeAspect="1"/>
          </p:cNvPicPr>
          <p:nvPr/>
        </p:nvPicPr>
        <p:blipFill>
          <a:blip r:embed="rId9"/>
          <a:stretch>
            <a:fillRect/>
          </a:stretch>
        </p:blipFill>
        <p:spPr>
          <a:xfrm>
            <a:off x="457200" y="4069080"/>
            <a:ext cx="320040" cy="320040"/>
          </a:xfrm>
          <a:prstGeom prst="rect">
            <a:avLst/>
          </a:prstGeom>
        </p:spPr>
      </p:pic>
      <p:sp>
        <p:nvSpPr>
          <p:cNvPr id="25" name="Text 16"/>
          <p:cNvSpPr/>
          <p:nvPr/>
        </p:nvSpPr>
        <p:spPr>
          <a:xfrm>
            <a:off x="914400" y="4023360"/>
            <a:ext cx="3200400" cy="274320"/>
          </a:xfrm>
          <a:prstGeom prst="rect">
            <a:avLst/>
          </a:prstGeom>
          <a:noFill/>
          <a:ln/>
        </p:spPr>
        <p:txBody>
          <a:bodyPr wrap="square" lIns="0" tIns="0" rIns="0" bIns="0" rtlCol="0" anchor="ctr"/>
          <a:lstStyle/>
          <a:p>
            <a:pPr marL="0" indent="0">
              <a:buNone/>
            </a:pPr>
            <a:r>
              <a:rPr lang="en-US" sz="1300" b="1" dirty="0">
                <a:solidFill>
                  <a:srgbClr val="0F1B2D"/>
                </a:solidFill>
              </a:rPr>
              <a:t>Validation Engine</a:t>
            </a:r>
            <a:endParaRPr lang="en-US" sz="1300" dirty="0"/>
          </a:p>
        </p:txBody>
      </p:sp>
      <p:sp>
        <p:nvSpPr>
          <p:cNvPr id="26" name="Text 17"/>
          <p:cNvSpPr/>
          <p:nvPr/>
        </p:nvSpPr>
        <p:spPr>
          <a:xfrm>
            <a:off x="914400" y="4343400"/>
            <a:ext cx="3474720" cy="274320"/>
          </a:xfrm>
          <a:prstGeom prst="rect">
            <a:avLst/>
          </a:prstGeom>
          <a:noFill/>
          <a:ln/>
        </p:spPr>
        <p:txBody>
          <a:bodyPr wrap="square" lIns="0" tIns="0" rIns="0" bIns="0" rtlCol="0" anchor="ctr"/>
          <a:lstStyle/>
          <a:p>
            <a:pPr marL="0" indent="0">
              <a:buNone/>
            </a:pPr>
            <a:r>
              <a:rPr lang="en-US" sz="1000" dirty="0">
                <a:solidFill>
                  <a:srgbClr val="475569"/>
                </a:solidFill>
              </a:rPr>
              <a:t>Unit checks, range validation, consistency rules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94A3B8"/>
                </a:solidFill>
              </a:rPr>
              <a:t>10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94A3B8"/>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FF6B35"/>
                </a:solidFill>
              </a:rPr>
              <a:t>KEY INNOVATION</a:t>
            </a:r>
            <a:endParaRPr lang="en-US" sz="1300" dirty="0"/>
          </a:p>
        </p:txBody>
      </p:sp>
      <p:sp>
        <p:nvSpPr>
          <p:cNvPr id="5" name="Text 3"/>
          <p:cNvSpPr/>
          <p:nvPr/>
        </p:nvSpPr>
        <p:spPr>
          <a:xfrm>
            <a:off x="457200" y="640080"/>
            <a:ext cx="8229600" cy="82296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Graph Digitization:</a:t>
            </a:r>
            <a:endParaRPr lang="en-US" sz="2600" dirty="0"/>
          </a:p>
          <a:p>
            <a:pPr marL="0" indent="0">
              <a:buNone/>
            </a:pPr>
            <a:r>
              <a:rPr lang="en-US" sz="2600" b="1" dirty="0">
                <a:solidFill>
                  <a:srgbClr val="FFFFFF"/>
                </a:solidFill>
                <a:latin typeface="Georgia" pitchFamily="34" charset="0"/>
                <a:ea typeface="Georgia" pitchFamily="34" charset="-122"/>
                <a:cs typeface="Georgia" pitchFamily="34" charset="-120"/>
              </a:rPr>
              <a:t>Bringing Dead Data Back to Life</a:t>
            </a:r>
            <a:endParaRPr lang="en-US" sz="2600" dirty="0"/>
          </a:p>
        </p:txBody>
      </p:sp>
      <p:sp>
        <p:nvSpPr>
          <p:cNvPr id="6" name="Shape 4"/>
          <p:cNvSpPr/>
          <p:nvPr/>
        </p:nvSpPr>
        <p:spPr>
          <a:xfrm>
            <a:off x="274320" y="1737360"/>
            <a:ext cx="2011680" cy="1645920"/>
          </a:xfrm>
          <a:prstGeom prst="rect">
            <a:avLst/>
          </a:prstGeom>
          <a:solidFill>
            <a:srgbClr val="1A2744"/>
          </a:solidFill>
          <a:ln/>
          <a:effectLst>
            <a:outerShdw blurRad="101600" dist="38100" dir="8100000" algn="bl" rotWithShape="0">
              <a:srgbClr val="000000">
                <a:alpha val="12000"/>
              </a:srgbClr>
            </a:outerShdw>
          </a:effectLst>
        </p:spPr>
      </p:sp>
      <p:sp>
        <p:nvSpPr>
          <p:cNvPr id="7" name="Shape 5"/>
          <p:cNvSpPr/>
          <p:nvPr/>
        </p:nvSpPr>
        <p:spPr>
          <a:xfrm>
            <a:off x="1005840" y="1828800"/>
            <a:ext cx="457200" cy="457200"/>
          </a:xfrm>
          <a:prstGeom prst="ellipse">
            <a:avLst/>
          </a:prstGeom>
          <a:solidFill>
            <a:srgbClr val="00B4D8"/>
          </a:solidFill>
          <a:ln/>
        </p:spPr>
      </p:sp>
      <p:sp>
        <p:nvSpPr>
          <p:cNvPr id="8" name="Text 6"/>
          <p:cNvSpPr/>
          <p:nvPr/>
        </p:nvSpPr>
        <p:spPr>
          <a:xfrm>
            <a:off x="1005840" y="1828800"/>
            <a:ext cx="457200" cy="457200"/>
          </a:xfrm>
          <a:prstGeom prst="rect">
            <a:avLst/>
          </a:prstGeom>
          <a:noFill/>
          <a:ln/>
        </p:spPr>
        <p:txBody>
          <a:bodyPr wrap="square" rtlCol="0" anchor="ctr"/>
          <a:lstStyle/>
          <a:p>
            <a:pPr marL="0" indent="0" algn="ctr">
              <a:buNone/>
            </a:pPr>
            <a:r>
              <a:rPr lang="en-US" sz="1800" b="1" dirty="0">
                <a:solidFill>
                  <a:srgbClr val="FFFFFF"/>
                </a:solidFill>
              </a:rPr>
              <a:t>1</a:t>
            </a:r>
            <a:endParaRPr lang="en-US" sz="1800" dirty="0"/>
          </a:p>
        </p:txBody>
      </p:sp>
      <p:sp>
        <p:nvSpPr>
          <p:cNvPr id="9" name="Text 7"/>
          <p:cNvSpPr/>
          <p:nvPr/>
        </p:nvSpPr>
        <p:spPr>
          <a:xfrm>
            <a:off x="365760" y="2377440"/>
            <a:ext cx="1828800" cy="274320"/>
          </a:xfrm>
          <a:prstGeom prst="rect">
            <a:avLst/>
          </a:prstGeom>
          <a:noFill/>
          <a:ln/>
        </p:spPr>
        <p:txBody>
          <a:bodyPr wrap="square" lIns="0" tIns="0" rIns="0" bIns="0" rtlCol="0" anchor="ctr"/>
          <a:lstStyle/>
          <a:p>
            <a:pPr marL="0" indent="0" algn="ctr">
              <a:buNone/>
            </a:pPr>
            <a:r>
              <a:rPr lang="en-US" sz="1300" b="1" dirty="0">
                <a:solidFill>
                  <a:srgbClr val="FFFFFF"/>
                </a:solidFill>
              </a:rPr>
              <a:t>Detect Axes</a:t>
            </a:r>
            <a:endParaRPr lang="en-US" sz="1300" dirty="0"/>
          </a:p>
        </p:txBody>
      </p:sp>
      <p:sp>
        <p:nvSpPr>
          <p:cNvPr id="10" name="Text 8"/>
          <p:cNvSpPr/>
          <p:nvPr/>
        </p:nvSpPr>
        <p:spPr>
          <a:xfrm>
            <a:off x="365760" y="2697480"/>
            <a:ext cx="1828800" cy="548640"/>
          </a:xfrm>
          <a:prstGeom prst="rect">
            <a:avLst/>
          </a:prstGeom>
          <a:noFill/>
          <a:ln/>
        </p:spPr>
        <p:txBody>
          <a:bodyPr wrap="square" lIns="0" tIns="0" rIns="0" bIns="0" rtlCol="0" anchor="ctr"/>
          <a:lstStyle/>
          <a:p>
            <a:pPr marL="0" indent="0" algn="ctr">
              <a:buNone/>
            </a:pPr>
            <a:r>
              <a:rPr lang="en-US" sz="900" dirty="0">
                <a:solidFill>
                  <a:srgbClr val="CBD5E1"/>
                </a:solidFill>
              </a:rPr>
              <a:t>Identify axis labels, units, and scale type (log vs linear)</a:t>
            </a:r>
            <a:endParaRPr lang="en-US" sz="900" dirty="0"/>
          </a:p>
        </p:txBody>
      </p:sp>
      <p:sp>
        <p:nvSpPr>
          <p:cNvPr id="11" name="Shape 9"/>
          <p:cNvSpPr/>
          <p:nvPr/>
        </p:nvSpPr>
        <p:spPr>
          <a:xfrm>
            <a:off x="2514600" y="1737360"/>
            <a:ext cx="2011680" cy="1645920"/>
          </a:xfrm>
          <a:prstGeom prst="rect">
            <a:avLst/>
          </a:prstGeom>
          <a:solidFill>
            <a:srgbClr val="1A2744"/>
          </a:solidFill>
          <a:ln/>
          <a:effectLst>
            <a:outerShdw blurRad="101600" dist="38100" dir="8100000" algn="bl" rotWithShape="0">
              <a:srgbClr val="000000">
                <a:alpha val="12000"/>
              </a:srgbClr>
            </a:outerShdw>
          </a:effectLst>
        </p:spPr>
      </p:sp>
      <p:sp>
        <p:nvSpPr>
          <p:cNvPr id="12" name="Shape 10"/>
          <p:cNvSpPr/>
          <p:nvPr/>
        </p:nvSpPr>
        <p:spPr>
          <a:xfrm>
            <a:off x="3246120" y="1828800"/>
            <a:ext cx="457200" cy="457200"/>
          </a:xfrm>
          <a:prstGeom prst="ellipse">
            <a:avLst/>
          </a:prstGeom>
          <a:solidFill>
            <a:srgbClr val="00B4D8"/>
          </a:solidFill>
          <a:ln/>
        </p:spPr>
      </p:sp>
      <p:sp>
        <p:nvSpPr>
          <p:cNvPr id="13" name="Text 11"/>
          <p:cNvSpPr/>
          <p:nvPr/>
        </p:nvSpPr>
        <p:spPr>
          <a:xfrm>
            <a:off x="3246120" y="1828800"/>
            <a:ext cx="457200" cy="457200"/>
          </a:xfrm>
          <a:prstGeom prst="rect">
            <a:avLst/>
          </a:prstGeom>
          <a:noFill/>
          <a:ln/>
        </p:spPr>
        <p:txBody>
          <a:bodyPr wrap="square" rtlCol="0" anchor="ctr"/>
          <a:lstStyle/>
          <a:p>
            <a:pPr marL="0" indent="0" algn="ctr">
              <a:buNone/>
            </a:pPr>
            <a:r>
              <a:rPr lang="en-US" sz="1800" b="1" dirty="0">
                <a:solidFill>
                  <a:srgbClr val="FFFFFF"/>
                </a:solidFill>
              </a:rPr>
              <a:t>2</a:t>
            </a:r>
            <a:endParaRPr lang="en-US" sz="1800" dirty="0"/>
          </a:p>
        </p:txBody>
      </p:sp>
      <p:sp>
        <p:nvSpPr>
          <p:cNvPr id="14" name="Text 12"/>
          <p:cNvSpPr/>
          <p:nvPr/>
        </p:nvSpPr>
        <p:spPr>
          <a:xfrm>
            <a:off x="2606040" y="2377440"/>
            <a:ext cx="1828800" cy="274320"/>
          </a:xfrm>
          <a:prstGeom prst="rect">
            <a:avLst/>
          </a:prstGeom>
          <a:noFill/>
          <a:ln/>
        </p:spPr>
        <p:txBody>
          <a:bodyPr wrap="square" lIns="0" tIns="0" rIns="0" bIns="0" rtlCol="0" anchor="ctr"/>
          <a:lstStyle/>
          <a:p>
            <a:pPr marL="0" indent="0" algn="ctr">
              <a:buNone/>
            </a:pPr>
            <a:r>
              <a:rPr lang="en-US" sz="1300" b="1" dirty="0">
                <a:solidFill>
                  <a:srgbClr val="FFFFFF"/>
                </a:solidFill>
              </a:rPr>
              <a:t>Calibrate Scale</a:t>
            </a:r>
            <a:endParaRPr lang="en-US" sz="1300" dirty="0"/>
          </a:p>
        </p:txBody>
      </p:sp>
      <p:sp>
        <p:nvSpPr>
          <p:cNvPr id="15" name="Text 13"/>
          <p:cNvSpPr/>
          <p:nvPr/>
        </p:nvSpPr>
        <p:spPr>
          <a:xfrm>
            <a:off x="2606040" y="2697480"/>
            <a:ext cx="1828800" cy="548640"/>
          </a:xfrm>
          <a:prstGeom prst="rect">
            <a:avLst/>
          </a:prstGeom>
          <a:noFill/>
          <a:ln/>
        </p:spPr>
        <p:txBody>
          <a:bodyPr wrap="square" lIns="0" tIns="0" rIns="0" bIns="0" rtlCol="0" anchor="ctr"/>
          <a:lstStyle/>
          <a:p>
            <a:pPr marL="0" indent="0" algn="ctr">
              <a:buNone/>
            </a:pPr>
            <a:r>
              <a:rPr lang="en-US" sz="900" dirty="0">
                <a:solidFill>
                  <a:srgbClr val="CBD5E1"/>
                </a:solidFill>
              </a:rPr>
              <a:t>Map pixel positions to real-world coordinate values</a:t>
            </a:r>
            <a:endParaRPr lang="en-US" sz="900" dirty="0"/>
          </a:p>
        </p:txBody>
      </p:sp>
      <p:sp>
        <p:nvSpPr>
          <p:cNvPr id="16" name="Shape 14"/>
          <p:cNvSpPr/>
          <p:nvPr/>
        </p:nvSpPr>
        <p:spPr>
          <a:xfrm>
            <a:off x="4754880" y="1737360"/>
            <a:ext cx="2011680" cy="1645920"/>
          </a:xfrm>
          <a:prstGeom prst="rect">
            <a:avLst/>
          </a:prstGeom>
          <a:solidFill>
            <a:srgbClr val="1A2744"/>
          </a:solidFill>
          <a:ln/>
          <a:effectLst>
            <a:outerShdw blurRad="101600" dist="38100" dir="8100000" algn="bl" rotWithShape="0">
              <a:srgbClr val="000000">
                <a:alpha val="12000"/>
              </a:srgbClr>
            </a:outerShdw>
          </a:effectLst>
        </p:spPr>
      </p:sp>
      <p:sp>
        <p:nvSpPr>
          <p:cNvPr id="17" name="Shape 15"/>
          <p:cNvSpPr/>
          <p:nvPr/>
        </p:nvSpPr>
        <p:spPr>
          <a:xfrm>
            <a:off x="5486400" y="1828800"/>
            <a:ext cx="457200" cy="457200"/>
          </a:xfrm>
          <a:prstGeom prst="ellipse">
            <a:avLst/>
          </a:prstGeom>
          <a:solidFill>
            <a:srgbClr val="00B4D8"/>
          </a:solidFill>
          <a:ln/>
        </p:spPr>
      </p:sp>
      <p:sp>
        <p:nvSpPr>
          <p:cNvPr id="18" name="Text 16"/>
          <p:cNvSpPr/>
          <p:nvPr/>
        </p:nvSpPr>
        <p:spPr>
          <a:xfrm>
            <a:off x="5486400" y="1828800"/>
            <a:ext cx="457200" cy="457200"/>
          </a:xfrm>
          <a:prstGeom prst="rect">
            <a:avLst/>
          </a:prstGeom>
          <a:noFill/>
          <a:ln/>
        </p:spPr>
        <p:txBody>
          <a:bodyPr wrap="square" rtlCol="0" anchor="ctr"/>
          <a:lstStyle/>
          <a:p>
            <a:pPr marL="0" indent="0" algn="ctr">
              <a:buNone/>
            </a:pPr>
            <a:r>
              <a:rPr lang="en-US" sz="1800" b="1" dirty="0">
                <a:solidFill>
                  <a:srgbClr val="FFFFFF"/>
                </a:solidFill>
              </a:rPr>
              <a:t>3</a:t>
            </a:r>
            <a:endParaRPr lang="en-US" sz="1800" dirty="0"/>
          </a:p>
        </p:txBody>
      </p:sp>
      <p:sp>
        <p:nvSpPr>
          <p:cNvPr id="19" name="Text 17"/>
          <p:cNvSpPr/>
          <p:nvPr/>
        </p:nvSpPr>
        <p:spPr>
          <a:xfrm>
            <a:off x="4846320" y="2377440"/>
            <a:ext cx="1828800" cy="274320"/>
          </a:xfrm>
          <a:prstGeom prst="rect">
            <a:avLst/>
          </a:prstGeom>
          <a:noFill/>
          <a:ln/>
        </p:spPr>
        <p:txBody>
          <a:bodyPr wrap="square" lIns="0" tIns="0" rIns="0" bIns="0" rtlCol="0" anchor="ctr"/>
          <a:lstStyle/>
          <a:p>
            <a:pPr marL="0" indent="0" algn="ctr">
              <a:buNone/>
            </a:pPr>
            <a:r>
              <a:rPr lang="en-US" sz="1300" b="1" dirty="0">
                <a:solidFill>
                  <a:srgbClr val="FFFFFF"/>
                </a:solidFill>
              </a:rPr>
              <a:t>Trace Curves</a:t>
            </a:r>
            <a:endParaRPr lang="en-US" sz="1300" dirty="0"/>
          </a:p>
        </p:txBody>
      </p:sp>
      <p:sp>
        <p:nvSpPr>
          <p:cNvPr id="20" name="Text 18"/>
          <p:cNvSpPr/>
          <p:nvPr/>
        </p:nvSpPr>
        <p:spPr>
          <a:xfrm>
            <a:off x="4846320" y="2697480"/>
            <a:ext cx="1828800" cy="548640"/>
          </a:xfrm>
          <a:prstGeom prst="rect">
            <a:avLst/>
          </a:prstGeom>
          <a:noFill/>
          <a:ln/>
        </p:spPr>
        <p:txBody>
          <a:bodyPr wrap="square" lIns="0" tIns="0" rIns="0" bIns="0" rtlCol="0" anchor="ctr"/>
          <a:lstStyle/>
          <a:p>
            <a:pPr marL="0" indent="0" algn="ctr">
              <a:buNone/>
            </a:pPr>
            <a:r>
              <a:rPr lang="en-US" sz="900" dirty="0">
                <a:solidFill>
                  <a:srgbClr val="CBD5E1"/>
                </a:solidFill>
              </a:rPr>
              <a:t>Segment data curves, identify markers and line styles</a:t>
            </a:r>
            <a:endParaRPr lang="en-US" sz="900" dirty="0"/>
          </a:p>
        </p:txBody>
      </p:sp>
      <p:sp>
        <p:nvSpPr>
          <p:cNvPr id="21" name="Shape 19"/>
          <p:cNvSpPr/>
          <p:nvPr/>
        </p:nvSpPr>
        <p:spPr>
          <a:xfrm>
            <a:off x="6995160" y="1737360"/>
            <a:ext cx="2011680" cy="1645920"/>
          </a:xfrm>
          <a:prstGeom prst="rect">
            <a:avLst/>
          </a:prstGeom>
          <a:solidFill>
            <a:srgbClr val="1A2744"/>
          </a:solidFill>
          <a:ln/>
          <a:effectLst>
            <a:outerShdw blurRad="101600" dist="38100" dir="8100000" algn="bl" rotWithShape="0">
              <a:srgbClr val="000000">
                <a:alpha val="12000"/>
              </a:srgbClr>
            </a:outerShdw>
          </a:effectLst>
        </p:spPr>
      </p:sp>
      <p:sp>
        <p:nvSpPr>
          <p:cNvPr id="22" name="Shape 20"/>
          <p:cNvSpPr/>
          <p:nvPr/>
        </p:nvSpPr>
        <p:spPr>
          <a:xfrm>
            <a:off x="7726680" y="1828800"/>
            <a:ext cx="457200" cy="457200"/>
          </a:xfrm>
          <a:prstGeom prst="ellipse">
            <a:avLst/>
          </a:prstGeom>
          <a:solidFill>
            <a:srgbClr val="00B4D8"/>
          </a:solidFill>
          <a:ln/>
        </p:spPr>
      </p:sp>
      <p:sp>
        <p:nvSpPr>
          <p:cNvPr id="23" name="Text 21"/>
          <p:cNvSpPr/>
          <p:nvPr/>
        </p:nvSpPr>
        <p:spPr>
          <a:xfrm>
            <a:off x="7726680" y="1828800"/>
            <a:ext cx="457200" cy="457200"/>
          </a:xfrm>
          <a:prstGeom prst="rect">
            <a:avLst/>
          </a:prstGeom>
          <a:noFill/>
          <a:ln/>
        </p:spPr>
        <p:txBody>
          <a:bodyPr wrap="square" rtlCol="0" anchor="ctr"/>
          <a:lstStyle/>
          <a:p>
            <a:pPr marL="0" indent="0" algn="ctr">
              <a:buNone/>
            </a:pPr>
            <a:r>
              <a:rPr lang="en-US" sz="1800" b="1" dirty="0">
                <a:solidFill>
                  <a:srgbClr val="FFFFFF"/>
                </a:solidFill>
              </a:rPr>
              <a:t>4</a:t>
            </a:r>
            <a:endParaRPr lang="en-US" sz="1800" dirty="0"/>
          </a:p>
        </p:txBody>
      </p:sp>
      <p:sp>
        <p:nvSpPr>
          <p:cNvPr id="24" name="Text 22"/>
          <p:cNvSpPr/>
          <p:nvPr/>
        </p:nvSpPr>
        <p:spPr>
          <a:xfrm>
            <a:off x="7086600" y="2377440"/>
            <a:ext cx="1828800" cy="274320"/>
          </a:xfrm>
          <a:prstGeom prst="rect">
            <a:avLst/>
          </a:prstGeom>
          <a:noFill/>
          <a:ln/>
        </p:spPr>
        <p:txBody>
          <a:bodyPr wrap="square" lIns="0" tIns="0" rIns="0" bIns="0" rtlCol="0" anchor="ctr"/>
          <a:lstStyle/>
          <a:p>
            <a:pPr marL="0" indent="0" algn="ctr">
              <a:buNone/>
            </a:pPr>
            <a:r>
              <a:rPr lang="en-US" sz="1300" b="1" dirty="0">
                <a:solidFill>
                  <a:srgbClr val="FFFFFF"/>
                </a:solidFill>
              </a:rPr>
              <a:t>Output Data</a:t>
            </a:r>
            <a:endParaRPr lang="en-US" sz="1300" dirty="0"/>
          </a:p>
        </p:txBody>
      </p:sp>
      <p:sp>
        <p:nvSpPr>
          <p:cNvPr id="25" name="Text 23"/>
          <p:cNvSpPr/>
          <p:nvPr/>
        </p:nvSpPr>
        <p:spPr>
          <a:xfrm>
            <a:off x="7086600" y="2697480"/>
            <a:ext cx="1828800" cy="548640"/>
          </a:xfrm>
          <a:prstGeom prst="rect">
            <a:avLst/>
          </a:prstGeom>
          <a:noFill/>
          <a:ln/>
        </p:spPr>
        <p:txBody>
          <a:bodyPr wrap="square" lIns="0" tIns="0" rIns="0" bIns="0" rtlCol="0" anchor="ctr"/>
          <a:lstStyle/>
          <a:p>
            <a:pPr marL="0" indent="0" algn="ctr">
              <a:buNone/>
            </a:pPr>
            <a:r>
              <a:rPr lang="en-US" sz="900" dirty="0">
                <a:solidFill>
                  <a:srgbClr val="CBD5E1"/>
                </a:solidFill>
              </a:rPr>
              <a:t>Generate precise (x,y) coordinate arrays</a:t>
            </a:r>
            <a:endParaRPr lang="en-US" sz="900" dirty="0"/>
          </a:p>
        </p:txBody>
      </p:sp>
      <p:sp>
        <p:nvSpPr>
          <p:cNvPr id="26" name="Shape 24"/>
          <p:cNvSpPr/>
          <p:nvPr/>
        </p:nvSpPr>
        <p:spPr>
          <a:xfrm>
            <a:off x="457200" y="3749040"/>
            <a:ext cx="8229600" cy="640080"/>
          </a:xfrm>
          <a:prstGeom prst="rect">
            <a:avLst/>
          </a:prstGeom>
          <a:solidFill>
            <a:srgbClr val="1A2744"/>
          </a:solidFill>
          <a:ln/>
        </p:spPr>
      </p:sp>
      <p:sp>
        <p:nvSpPr>
          <p:cNvPr id="27" name="Text 25"/>
          <p:cNvSpPr/>
          <p:nvPr/>
        </p:nvSpPr>
        <p:spPr>
          <a:xfrm>
            <a:off x="640080" y="3794760"/>
            <a:ext cx="7772400" cy="548640"/>
          </a:xfrm>
          <a:prstGeom prst="rect">
            <a:avLst/>
          </a:prstGeom>
          <a:noFill/>
          <a:ln/>
        </p:spPr>
        <p:txBody>
          <a:bodyPr wrap="square" rtlCol="0" anchor="ctr"/>
          <a:lstStyle/>
          <a:p>
            <a:pPr marL="0" indent="0">
              <a:buNone/>
            </a:pPr>
            <a:r>
              <a:rPr lang="en-US" sz="1200" i="1" dirty="0">
                <a:solidFill>
                  <a:srgbClr val="00B4D8"/>
                </a:solidFill>
              </a:rPr>
              <a:t>Result: A graph from a 1995 paper → reconstructed as raw (x,y) data → ready for modern ML analysis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475569"/>
                </a:solidFill>
              </a:rPr>
              <a:t>11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475569"/>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00B4D8"/>
                </a:solidFill>
              </a:rPr>
              <a:t>CASE STUDY</a:t>
            </a:r>
            <a:endParaRPr lang="en-US" sz="1300" dirty="0"/>
          </a:p>
        </p:txBody>
      </p:sp>
      <p:sp>
        <p:nvSpPr>
          <p:cNvPr id="5" name="Text 3"/>
          <p:cNvSpPr/>
          <p:nvPr/>
        </p:nvSpPr>
        <p:spPr>
          <a:xfrm>
            <a:off x="457200" y="640080"/>
            <a:ext cx="8229600" cy="457200"/>
          </a:xfrm>
          <a:prstGeom prst="rect">
            <a:avLst/>
          </a:prstGeom>
          <a:noFill/>
          <a:ln/>
        </p:spPr>
        <p:txBody>
          <a:bodyPr wrap="square" rtlCol="0" anchor="ctr"/>
          <a:lstStyle/>
          <a:p>
            <a:pPr marL="0" indent="0">
              <a:buNone/>
            </a:pPr>
            <a:r>
              <a:rPr lang="en-US" sz="2200" b="1" dirty="0">
                <a:solidFill>
                  <a:srgbClr val="0F1B2D"/>
                </a:solidFill>
                <a:latin typeface="Georgia" pitchFamily="34" charset="0"/>
                <a:ea typeface="Georgia" pitchFamily="34" charset="-122"/>
                <a:cs typeface="Georgia" pitchFamily="34" charset="-120"/>
              </a:rPr>
              <a:t>End-to-End: Processing a Single PDF</a:t>
            </a:r>
            <a:endParaRPr lang="en-US" sz="2200" dirty="0"/>
          </a:p>
        </p:txBody>
      </p:sp>
      <p:sp>
        <p:nvSpPr>
          <p:cNvPr id="6" name="Shape 4"/>
          <p:cNvSpPr/>
          <p:nvPr/>
        </p:nvSpPr>
        <p:spPr>
          <a:xfrm>
            <a:off x="457200" y="1188720"/>
            <a:ext cx="8229600" cy="457200"/>
          </a:xfrm>
          <a:prstGeom prst="rect">
            <a:avLst/>
          </a:prstGeom>
          <a:solidFill>
            <a:srgbClr val="0F1B2D"/>
          </a:solidFill>
          <a:ln/>
        </p:spPr>
      </p:sp>
      <p:sp>
        <p:nvSpPr>
          <p:cNvPr id="7" name="Text 5"/>
          <p:cNvSpPr/>
          <p:nvPr/>
        </p:nvSpPr>
        <p:spPr>
          <a:xfrm>
            <a:off x="640080" y="1188720"/>
            <a:ext cx="7863840" cy="457200"/>
          </a:xfrm>
          <a:prstGeom prst="rect">
            <a:avLst/>
          </a:prstGeom>
          <a:noFill/>
          <a:ln/>
        </p:spPr>
        <p:txBody>
          <a:bodyPr wrap="square" lIns="0" tIns="0" rIns="0" bIns="0" rtlCol="0" anchor="ctr"/>
          <a:lstStyle/>
          <a:p>
            <a:pPr marL="0" indent="0">
              <a:buNone/>
            </a:pPr>
            <a:r>
              <a:rPr lang="en-US" sz="1200" b="1" dirty="0">
                <a:solidFill>
                  <a:srgbClr val="FFFFFF"/>
                </a:solidFill>
              </a:rPr>
              <a:t>Input: "Experimental Calibration of SPIONs for Cardiac Hyperthermia"</a:t>
            </a:r>
            <a:endParaRPr lang="en-US" sz="1200" dirty="0"/>
          </a:p>
        </p:txBody>
      </p:sp>
      <p:sp>
        <p:nvSpPr>
          <p:cNvPr id="8" name="Shape 6"/>
          <p:cNvSpPr/>
          <p:nvPr/>
        </p:nvSpPr>
        <p:spPr>
          <a:xfrm>
            <a:off x="457200" y="182880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57200" y="1828800"/>
            <a:ext cx="54864" cy="777240"/>
          </a:xfrm>
          <a:prstGeom prst="rect">
            <a:avLst/>
          </a:prstGeom>
          <a:solidFill>
            <a:srgbClr val="00B4D8"/>
          </a:solidFill>
          <a:ln/>
        </p:spPr>
      </p:sp>
      <p:sp>
        <p:nvSpPr>
          <p:cNvPr id="10" name="Text 8"/>
          <p:cNvSpPr/>
          <p:nvPr/>
        </p:nvSpPr>
        <p:spPr>
          <a:xfrm>
            <a:off x="731520" y="1874520"/>
            <a:ext cx="2743200" cy="274320"/>
          </a:xfrm>
          <a:prstGeom prst="rect">
            <a:avLst/>
          </a:prstGeom>
          <a:noFill/>
          <a:ln/>
        </p:spPr>
        <p:txBody>
          <a:bodyPr wrap="square" lIns="0" tIns="0" rIns="0" bIns="0" rtlCol="0" anchor="ctr"/>
          <a:lstStyle/>
          <a:p>
            <a:pPr marL="0" indent="0">
              <a:buNone/>
            </a:pPr>
            <a:r>
              <a:rPr lang="en-US" sz="1200" b="1" dirty="0">
                <a:solidFill>
                  <a:srgbClr val="0F1B2D"/>
                </a:solidFill>
              </a:rPr>
              <a:t>Step 1 — Alias Generation</a:t>
            </a:r>
            <a:endParaRPr lang="en-US" sz="1200" dirty="0"/>
          </a:p>
        </p:txBody>
      </p:sp>
      <p:sp>
        <p:nvSpPr>
          <p:cNvPr id="11" name="Text 9"/>
          <p:cNvSpPr/>
          <p:nvPr/>
        </p:nvSpPr>
        <p:spPr>
          <a:xfrm>
            <a:off x="731520" y="2148840"/>
            <a:ext cx="7772400" cy="411480"/>
          </a:xfrm>
          <a:prstGeom prst="rect">
            <a:avLst/>
          </a:prstGeom>
          <a:noFill/>
          <a:ln/>
        </p:spPr>
        <p:txBody>
          <a:bodyPr wrap="square" lIns="0" tIns="0" rIns="0" bIns="0" rtlCol="0" anchor="ctr"/>
          <a:lstStyle/>
          <a:p>
            <a:pPr marL="0" indent="0">
              <a:buNone/>
            </a:pPr>
            <a:r>
              <a:rPr lang="en-US" sz="1000" dirty="0">
                <a:solidFill>
                  <a:srgbClr val="475569"/>
                </a:solidFill>
              </a:rPr>
              <a:t>AI identifies "H_amf" = AMF Amplitude</a:t>
            </a:r>
            <a:endParaRPr lang="en-US" sz="1000" dirty="0"/>
          </a:p>
          <a:p>
            <a:pPr marL="0" indent="0">
              <a:buNone/>
            </a:pPr>
            <a:r>
              <a:rPr lang="en-US" sz="1000" dirty="0">
                <a:solidFill>
                  <a:srgbClr val="475569"/>
                </a:solidFill>
              </a:rPr>
              <a:t>Sets bounds: core diameter [1–100 nm]</a:t>
            </a:r>
            <a:endParaRPr lang="en-US" sz="1000" dirty="0"/>
          </a:p>
        </p:txBody>
      </p:sp>
      <p:sp>
        <p:nvSpPr>
          <p:cNvPr id="12" name="Shape 10"/>
          <p:cNvSpPr/>
          <p:nvPr/>
        </p:nvSpPr>
        <p:spPr>
          <a:xfrm>
            <a:off x="457200" y="269748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13" name="Shape 11"/>
          <p:cNvSpPr/>
          <p:nvPr/>
        </p:nvSpPr>
        <p:spPr>
          <a:xfrm>
            <a:off x="457200" y="2697480"/>
            <a:ext cx="54864" cy="777240"/>
          </a:xfrm>
          <a:prstGeom prst="rect">
            <a:avLst/>
          </a:prstGeom>
          <a:solidFill>
            <a:srgbClr val="0090AD"/>
          </a:solidFill>
          <a:ln/>
        </p:spPr>
      </p:sp>
      <p:sp>
        <p:nvSpPr>
          <p:cNvPr id="14" name="Text 12"/>
          <p:cNvSpPr/>
          <p:nvPr/>
        </p:nvSpPr>
        <p:spPr>
          <a:xfrm>
            <a:off x="731520" y="2743200"/>
            <a:ext cx="2743200" cy="274320"/>
          </a:xfrm>
          <a:prstGeom prst="rect">
            <a:avLst/>
          </a:prstGeom>
          <a:noFill/>
          <a:ln/>
        </p:spPr>
        <p:txBody>
          <a:bodyPr wrap="square" lIns="0" tIns="0" rIns="0" bIns="0" rtlCol="0" anchor="ctr"/>
          <a:lstStyle/>
          <a:p>
            <a:pPr marL="0" indent="0">
              <a:buNone/>
            </a:pPr>
            <a:r>
              <a:rPr lang="en-US" sz="1200" b="1" dirty="0">
                <a:solidFill>
                  <a:srgbClr val="0F1B2D"/>
                </a:solidFill>
              </a:rPr>
              <a:t>Step 2 — Dual Extraction</a:t>
            </a:r>
            <a:endParaRPr lang="en-US" sz="1200" dirty="0"/>
          </a:p>
        </p:txBody>
      </p:sp>
      <p:sp>
        <p:nvSpPr>
          <p:cNvPr id="15" name="Text 13"/>
          <p:cNvSpPr/>
          <p:nvPr/>
        </p:nvSpPr>
        <p:spPr>
          <a:xfrm>
            <a:off x="731520" y="3017520"/>
            <a:ext cx="7772400" cy="411480"/>
          </a:xfrm>
          <a:prstGeom prst="rect">
            <a:avLst/>
          </a:prstGeom>
          <a:noFill/>
          <a:ln/>
        </p:spPr>
        <p:txBody>
          <a:bodyPr wrap="square" lIns="0" tIns="0" rIns="0" bIns="0" rtlCol="0" anchor="ctr"/>
          <a:lstStyle/>
          <a:p>
            <a:pPr marL="0" indent="0">
              <a:buNone/>
            </a:pPr>
            <a:r>
              <a:rPr lang="en-US" sz="1000" dirty="0">
                <a:solidFill>
                  <a:srgbClr val="475569"/>
                </a:solidFill>
              </a:rPr>
              <a:t>Table Engine (p.4): Core Diameter = 15.2 nm</a:t>
            </a:r>
            <a:endParaRPr lang="en-US" sz="1000" dirty="0"/>
          </a:p>
          <a:p>
            <a:pPr marL="0" indent="0">
              <a:buNone/>
            </a:pPr>
            <a:r>
              <a:rPr lang="en-US" sz="1000" dirty="0">
                <a:solidFill>
                  <a:srgbClr val="475569"/>
                </a:solidFill>
              </a:rPr>
              <a:t>Plot Engine (p.9): SAR = 422.5 W/kg</a:t>
            </a:r>
            <a:endParaRPr lang="en-US" sz="1000" dirty="0"/>
          </a:p>
        </p:txBody>
      </p:sp>
      <p:sp>
        <p:nvSpPr>
          <p:cNvPr id="16" name="Shape 14"/>
          <p:cNvSpPr/>
          <p:nvPr/>
        </p:nvSpPr>
        <p:spPr>
          <a:xfrm>
            <a:off x="457200" y="356616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17" name="Shape 15"/>
          <p:cNvSpPr/>
          <p:nvPr/>
        </p:nvSpPr>
        <p:spPr>
          <a:xfrm>
            <a:off x="457200" y="3566160"/>
            <a:ext cx="54864" cy="777240"/>
          </a:xfrm>
          <a:prstGeom prst="rect">
            <a:avLst/>
          </a:prstGeom>
          <a:solidFill>
            <a:srgbClr val="1E3A5F"/>
          </a:solidFill>
          <a:ln/>
        </p:spPr>
      </p:sp>
      <p:sp>
        <p:nvSpPr>
          <p:cNvPr id="18" name="Text 16"/>
          <p:cNvSpPr/>
          <p:nvPr/>
        </p:nvSpPr>
        <p:spPr>
          <a:xfrm>
            <a:off x="731520" y="3611880"/>
            <a:ext cx="2743200" cy="274320"/>
          </a:xfrm>
          <a:prstGeom prst="rect">
            <a:avLst/>
          </a:prstGeom>
          <a:noFill/>
          <a:ln/>
        </p:spPr>
        <p:txBody>
          <a:bodyPr wrap="square" lIns="0" tIns="0" rIns="0" bIns="0" rtlCol="0" anchor="ctr"/>
          <a:lstStyle/>
          <a:p>
            <a:pPr marL="0" indent="0">
              <a:buNone/>
            </a:pPr>
            <a:r>
              <a:rPr lang="en-US" sz="1200" b="1" dirty="0">
                <a:solidFill>
                  <a:srgbClr val="0F1B2D"/>
                </a:solidFill>
              </a:rPr>
              <a:t>Step 3 — Validation</a:t>
            </a:r>
            <a:endParaRPr lang="en-US" sz="1200" dirty="0"/>
          </a:p>
        </p:txBody>
      </p:sp>
      <p:sp>
        <p:nvSpPr>
          <p:cNvPr id="19" name="Text 17"/>
          <p:cNvSpPr/>
          <p:nvPr/>
        </p:nvSpPr>
        <p:spPr>
          <a:xfrm>
            <a:off x="731520" y="3886200"/>
            <a:ext cx="7772400" cy="411480"/>
          </a:xfrm>
          <a:prstGeom prst="rect">
            <a:avLst/>
          </a:prstGeom>
          <a:noFill/>
          <a:ln/>
        </p:spPr>
        <p:txBody>
          <a:bodyPr wrap="square" lIns="0" tIns="0" rIns="0" bIns="0" rtlCol="0" anchor="ctr"/>
          <a:lstStyle/>
          <a:p>
            <a:pPr marL="0" indent="0">
              <a:buNone/>
            </a:pPr>
            <a:r>
              <a:rPr lang="en-US" sz="1000" dirty="0">
                <a:solidFill>
                  <a:srgbClr val="475569"/>
                </a:solidFill>
              </a:rPr>
              <a:t>Cross-verifies: both values within</a:t>
            </a:r>
            <a:endParaRPr lang="en-US" sz="1000" dirty="0"/>
          </a:p>
          <a:p>
            <a:pPr marL="0" indent="0">
              <a:buNone/>
            </a:pPr>
            <a:r>
              <a:rPr lang="en-US" sz="1000" dirty="0">
                <a:solidFill>
                  <a:srgbClr val="475569"/>
                </a:solidFill>
              </a:rPr>
              <a:t>physically valid ranges</a:t>
            </a:r>
            <a:endParaRPr lang="en-US" sz="1000" dirty="0"/>
          </a:p>
        </p:txBody>
      </p:sp>
      <p:sp>
        <p:nvSpPr>
          <p:cNvPr id="20" name="Shape 18"/>
          <p:cNvSpPr/>
          <p:nvPr/>
        </p:nvSpPr>
        <p:spPr>
          <a:xfrm>
            <a:off x="457200" y="4434840"/>
            <a:ext cx="8229600" cy="457200"/>
          </a:xfrm>
          <a:prstGeom prst="rect">
            <a:avLst/>
          </a:prstGeom>
          <a:solidFill>
            <a:srgbClr val="00D4AA"/>
          </a:solidFill>
          <a:ln/>
        </p:spPr>
      </p:sp>
      <p:sp>
        <p:nvSpPr>
          <p:cNvPr id="21" name="Text 19"/>
          <p:cNvSpPr/>
          <p:nvPr/>
        </p:nvSpPr>
        <p:spPr>
          <a:xfrm>
            <a:off x="640080" y="4434840"/>
            <a:ext cx="7863840" cy="457200"/>
          </a:xfrm>
          <a:prstGeom prst="rect">
            <a:avLst/>
          </a:prstGeom>
          <a:noFill/>
          <a:ln/>
        </p:spPr>
        <p:txBody>
          <a:bodyPr wrap="square" lIns="0" tIns="0" rIns="0" bIns="0" rtlCol="0" anchor="ctr"/>
          <a:lstStyle/>
          <a:p>
            <a:pPr marL="0" indent="0">
              <a:buNone/>
            </a:pPr>
            <a:r>
              <a:rPr lang="en-US" sz="1100" b="1" dirty="0">
                <a:solidFill>
                  <a:srgbClr val="0F1B2D"/>
                </a:solidFill>
              </a:rPr>
              <a:t>Output: [15.2 nm, 422.5 W/kg, 100 kHz, DOI:10.103...] — fully traceable to Figure 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94A3B8"/>
                </a:solidFill>
              </a:rPr>
              <a:t>12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94A3B8"/>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00B4D8"/>
                </a:solidFill>
              </a:rPr>
              <a:t>OUTPUT</a:t>
            </a:r>
            <a:endParaRPr lang="en-US" sz="1300" dirty="0"/>
          </a:p>
        </p:txBody>
      </p:sp>
      <p:sp>
        <p:nvSpPr>
          <p:cNvPr id="5" name="Text 3"/>
          <p:cNvSpPr/>
          <p:nvPr/>
        </p:nvSpPr>
        <p:spPr>
          <a:xfrm>
            <a:off x="457200" y="640080"/>
            <a:ext cx="7315200"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Production-Ready, Fully Traceable</a:t>
            </a:r>
            <a:endParaRPr lang="en-US" sz="2400" dirty="0"/>
          </a:p>
        </p:txBody>
      </p:sp>
      <p:sp>
        <p:nvSpPr>
          <p:cNvPr id="6" name="Shape 4"/>
          <p:cNvSpPr/>
          <p:nvPr/>
        </p:nvSpPr>
        <p:spPr>
          <a:xfrm>
            <a:off x="457200" y="1371600"/>
            <a:ext cx="8229600" cy="914400"/>
          </a:xfrm>
          <a:prstGeom prst="rect">
            <a:avLst/>
          </a:prstGeom>
          <a:solidFill>
            <a:srgbClr val="1A2744"/>
          </a:solidFill>
          <a:ln/>
          <a:effectLst>
            <a:outerShdw blurRad="101600" dist="38100" dir="81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731520" y="1600200"/>
            <a:ext cx="411480" cy="411480"/>
          </a:xfrm>
          <a:prstGeom prst="rect">
            <a:avLst/>
          </a:prstGeom>
        </p:spPr>
      </p:pic>
      <p:sp>
        <p:nvSpPr>
          <p:cNvPr id="8" name="Text 5"/>
          <p:cNvSpPr/>
          <p:nvPr/>
        </p:nvSpPr>
        <p:spPr>
          <a:xfrm>
            <a:off x="1371600" y="1463040"/>
            <a:ext cx="6858000" cy="320040"/>
          </a:xfrm>
          <a:prstGeom prst="rect">
            <a:avLst/>
          </a:prstGeom>
          <a:noFill/>
          <a:ln/>
        </p:spPr>
        <p:txBody>
          <a:bodyPr wrap="square" lIns="0" tIns="0" rIns="0" bIns="0" rtlCol="0" anchor="ctr"/>
          <a:lstStyle/>
          <a:p>
            <a:pPr marL="0" indent="0">
              <a:buNone/>
            </a:pPr>
            <a:r>
              <a:rPr lang="en-US" sz="1500" b="1" dirty="0">
                <a:solidFill>
                  <a:srgbClr val="00B4D8"/>
                </a:solidFill>
                <a:latin typeface="Consolas" pitchFamily="34" charset="0"/>
                <a:ea typeface="Consolas" pitchFamily="34" charset="-122"/>
                <a:cs typeface="Consolas" pitchFamily="34" charset="-120"/>
              </a:rPr>
              <a:t>resultant_dataset.csv</a:t>
            </a:r>
            <a:endParaRPr lang="en-US" sz="1500" dirty="0"/>
          </a:p>
        </p:txBody>
      </p:sp>
      <p:sp>
        <p:nvSpPr>
          <p:cNvPr id="9" name="Text 6"/>
          <p:cNvSpPr/>
          <p:nvPr/>
        </p:nvSpPr>
        <p:spPr>
          <a:xfrm>
            <a:off x="1371600" y="1828800"/>
            <a:ext cx="6858000" cy="320040"/>
          </a:xfrm>
          <a:prstGeom prst="rect">
            <a:avLst/>
          </a:prstGeom>
          <a:noFill/>
          <a:ln/>
        </p:spPr>
        <p:txBody>
          <a:bodyPr wrap="square" lIns="0" tIns="0" rIns="0" bIns="0" rtlCol="0" anchor="ctr"/>
          <a:lstStyle/>
          <a:p>
            <a:pPr marL="0" indent="0">
              <a:buNone/>
            </a:pPr>
            <a:r>
              <a:rPr lang="en-US" sz="1100" dirty="0">
                <a:solidFill>
                  <a:srgbClr val="CBD5E1"/>
                </a:solidFill>
              </a:rPr>
              <a:t>Material Name, Property Value, Unit, DOI, Source Page — every row traceable</a:t>
            </a:r>
            <a:endParaRPr lang="en-US" sz="1100" dirty="0"/>
          </a:p>
        </p:txBody>
      </p:sp>
      <p:sp>
        <p:nvSpPr>
          <p:cNvPr id="10" name="Shape 7"/>
          <p:cNvSpPr/>
          <p:nvPr/>
        </p:nvSpPr>
        <p:spPr>
          <a:xfrm>
            <a:off x="457200" y="2468880"/>
            <a:ext cx="8229600" cy="914400"/>
          </a:xfrm>
          <a:prstGeom prst="rect">
            <a:avLst/>
          </a:prstGeom>
          <a:solidFill>
            <a:srgbClr val="1A2744"/>
          </a:solidFill>
          <a:ln/>
          <a:effectLst>
            <a:outerShdw blurRad="101600" dist="38100" dir="81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731520" y="2697480"/>
            <a:ext cx="411480" cy="411480"/>
          </a:xfrm>
          <a:prstGeom prst="rect">
            <a:avLst/>
          </a:prstGeom>
        </p:spPr>
      </p:pic>
      <p:sp>
        <p:nvSpPr>
          <p:cNvPr id="12" name="Text 8"/>
          <p:cNvSpPr/>
          <p:nvPr/>
        </p:nvSpPr>
        <p:spPr>
          <a:xfrm>
            <a:off x="1371600" y="2560320"/>
            <a:ext cx="6858000" cy="320040"/>
          </a:xfrm>
          <a:prstGeom prst="rect">
            <a:avLst/>
          </a:prstGeom>
          <a:noFill/>
          <a:ln/>
        </p:spPr>
        <p:txBody>
          <a:bodyPr wrap="square" lIns="0" tIns="0" rIns="0" bIns="0" rtlCol="0" anchor="ctr"/>
          <a:lstStyle/>
          <a:p>
            <a:pPr marL="0" indent="0">
              <a:buNone/>
            </a:pPr>
            <a:r>
              <a:rPr lang="en-US" sz="1500" b="1" dirty="0">
                <a:solidFill>
                  <a:srgbClr val="00B4D8"/>
                </a:solidFill>
                <a:latin typeface="Consolas" pitchFamily="34" charset="0"/>
                <a:ea typeface="Consolas" pitchFamily="34" charset="-122"/>
                <a:cs typeface="Consolas" pitchFamily="34" charset="-120"/>
              </a:rPr>
              <a:t>plot_dataset.json</a:t>
            </a:r>
            <a:endParaRPr lang="en-US" sz="1500" dirty="0"/>
          </a:p>
        </p:txBody>
      </p:sp>
      <p:sp>
        <p:nvSpPr>
          <p:cNvPr id="13" name="Text 9"/>
          <p:cNvSpPr/>
          <p:nvPr/>
        </p:nvSpPr>
        <p:spPr>
          <a:xfrm>
            <a:off x="1371600" y="2926080"/>
            <a:ext cx="6858000" cy="320040"/>
          </a:xfrm>
          <a:prstGeom prst="rect">
            <a:avLst/>
          </a:prstGeom>
          <a:noFill/>
          <a:ln/>
        </p:spPr>
        <p:txBody>
          <a:bodyPr wrap="square" lIns="0" tIns="0" rIns="0" bIns="0" rtlCol="0" anchor="ctr"/>
          <a:lstStyle/>
          <a:p>
            <a:pPr marL="0" indent="0">
              <a:buNone/>
            </a:pPr>
            <a:r>
              <a:rPr lang="en-US" sz="1100" dirty="0">
                <a:solidFill>
                  <a:srgbClr val="CBD5E1"/>
                </a:solidFill>
              </a:rPr>
              <a:t>Dense (x,y) coordinate arrays extracted from every digitized figure</a:t>
            </a:r>
            <a:endParaRPr lang="en-US" sz="1100" dirty="0"/>
          </a:p>
        </p:txBody>
      </p:sp>
      <p:sp>
        <p:nvSpPr>
          <p:cNvPr id="14" name="Shape 10"/>
          <p:cNvSpPr/>
          <p:nvPr/>
        </p:nvSpPr>
        <p:spPr>
          <a:xfrm>
            <a:off x="457200" y="3566160"/>
            <a:ext cx="8229600" cy="914400"/>
          </a:xfrm>
          <a:prstGeom prst="rect">
            <a:avLst/>
          </a:prstGeom>
          <a:solidFill>
            <a:srgbClr val="1A2744"/>
          </a:solidFill>
          <a:ln/>
          <a:effectLst>
            <a:outerShdw blurRad="101600" dist="38100" dir="8100000" algn="bl" rotWithShape="0">
              <a:srgbClr val="000000">
                <a:alpha val="12000"/>
              </a:srgbClr>
            </a:outerShdw>
          </a:effectLst>
        </p:spPr>
      </p:sp>
      <p:pic>
        <p:nvPicPr>
          <p:cNvPr id="15" name="Image 2" descr="preencoded.png"/>
          <p:cNvPicPr>
            <a:picLocks noChangeAspect="1"/>
          </p:cNvPicPr>
          <p:nvPr/>
        </p:nvPicPr>
        <p:blipFill>
          <a:blip r:embed="rId5"/>
          <a:stretch>
            <a:fillRect/>
          </a:stretch>
        </p:blipFill>
        <p:spPr>
          <a:xfrm>
            <a:off x="731520" y="3794760"/>
            <a:ext cx="411480" cy="411480"/>
          </a:xfrm>
          <a:prstGeom prst="rect">
            <a:avLst/>
          </a:prstGeom>
        </p:spPr>
      </p:pic>
      <p:sp>
        <p:nvSpPr>
          <p:cNvPr id="16" name="Text 11"/>
          <p:cNvSpPr/>
          <p:nvPr/>
        </p:nvSpPr>
        <p:spPr>
          <a:xfrm>
            <a:off x="1371600" y="3657600"/>
            <a:ext cx="6858000" cy="320040"/>
          </a:xfrm>
          <a:prstGeom prst="rect">
            <a:avLst/>
          </a:prstGeom>
          <a:noFill/>
          <a:ln/>
        </p:spPr>
        <p:txBody>
          <a:bodyPr wrap="square" lIns="0" tIns="0" rIns="0" bIns="0" rtlCol="0" anchor="ctr"/>
          <a:lstStyle/>
          <a:p>
            <a:pPr marL="0" indent="0">
              <a:buNone/>
            </a:pPr>
            <a:r>
              <a:rPr lang="en-US" sz="1500" b="1" dirty="0">
                <a:solidFill>
                  <a:srgbClr val="00B4D8"/>
                </a:solidFill>
                <a:latin typeface="Consolas" pitchFamily="34" charset="0"/>
                <a:ea typeface="Consolas" pitchFamily="34" charset="-122"/>
                <a:cs typeface="Consolas" pitchFamily="34" charset="-120"/>
              </a:rPr>
              <a:t>Full Audit Trail</a:t>
            </a:r>
            <a:endParaRPr lang="en-US" sz="1500" dirty="0"/>
          </a:p>
        </p:txBody>
      </p:sp>
      <p:sp>
        <p:nvSpPr>
          <p:cNvPr id="17" name="Text 12"/>
          <p:cNvSpPr/>
          <p:nvPr/>
        </p:nvSpPr>
        <p:spPr>
          <a:xfrm>
            <a:off x="1371600" y="4023360"/>
            <a:ext cx="6858000" cy="320040"/>
          </a:xfrm>
          <a:prstGeom prst="rect">
            <a:avLst/>
          </a:prstGeom>
          <a:noFill/>
          <a:ln/>
        </p:spPr>
        <p:txBody>
          <a:bodyPr wrap="square" lIns="0" tIns="0" rIns="0" bIns="0" rtlCol="0" anchor="ctr"/>
          <a:lstStyle/>
          <a:p>
            <a:pPr marL="0" indent="0">
              <a:buNone/>
            </a:pPr>
            <a:r>
              <a:rPr lang="en-US" sz="1100" dirty="0">
                <a:solidFill>
                  <a:srgbClr val="CBD5E1"/>
                </a:solidFill>
              </a:rPr>
              <a:t>Every data point links to its source paper, page number, and extraction method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475569"/>
                </a:solidFill>
              </a:rPr>
              <a:t>13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475569"/>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FF6B35"/>
                </a:solidFill>
              </a:rPr>
              <a:t>CHALLENGES</a:t>
            </a:r>
            <a:endParaRPr lang="en-US" sz="1300" dirty="0"/>
          </a:p>
        </p:txBody>
      </p:sp>
      <p:sp>
        <p:nvSpPr>
          <p:cNvPr id="5" name="Text 3"/>
          <p:cNvSpPr/>
          <p:nvPr/>
        </p:nvSpPr>
        <p:spPr>
          <a:xfrm>
            <a:off x="457200" y="640080"/>
            <a:ext cx="7315200" cy="457200"/>
          </a:xfrm>
          <a:prstGeom prst="rect">
            <a:avLst/>
          </a:prstGeom>
          <a:noFill/>
          <a:ln/>
        </p:spPr>
        <p:txBody>
          <a:bodyPr wrap="square" rtlCol="0" anchor="ctr"/>
          <a:lstStyle/>
          <a:p>
            <a:pPr marL="0" indent="0">
              <a:buNone/>
            </a:pPr>
            <a:r>
              <a:rPr lang="en-US" sz="2400" b="1" dirty="0">
                <a:solidFill>
                  <a:srgbClr val="0F1B2D"/>
                </a:solidFill>
                <a:latin typeface="Georgia" pitchFamily="34" charset="0"/>
                <a:ea typeface="Georgia" pitchFamily="34" charset="-122"/>
                <a:cs typeface="Georgia" pitchFamily="34" charset="-120"/>
              </a:rPr>
              <a:t>Hard Problems We Solved</a:t>
            </a:r>
            <a:endParaRPr lang="en-US" sz="2400" dirty="0"/>
          </a:p>
        </p:txBody>
      </p:sp>
      <p:sp>
        <p:nvSpPr>
          <p:cNvPr id="6" name="Shape 4"/>
          <p:cNvSpPr/>
          <p:nvPr/>
        </p:nvSpPr>
        <p:spPr>
          <a:xfrm>
            <a:off x="457200" y="1371600"/>
            <a:ext cx="3931920" cy="137160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457200" y="1371600"/>
            <a:ext cx="3931920" cy="54864"/>
          </a:xfrm>
          <a:prstGeom prst="rect">
            <a:avLst/>
          </a:prstGeom>
          <a:solidFill>
            <a:srgbClr val="FF6B35"/>
          </a:solidFill>
          <a:ln/>
        </p:spPr>
      </p:sp>
      <p:pic>
        <p:nvPicPr>
          <p:cNvPr id="8" name="Image 0" descr="preencoded.png"/>
          <p:cNvPicPr>
            <a:picLocks noChangeAspect="1"/>
          </p:cNvPicPr>
          <p:nvPr/>
        </p:nvPicPr>
        <p:blipFill>
          <a:blip r:embed="rId3"/>
          <a:stretch>
            <a:fillRect/>
          </a:stretch>
        </p:blipFill>
        <p:spPr>
          <a:xfrm>
            <a:off x="640080" y="1600200"/>
            <a:ext cx="320040" cy="320040"/>
          </a:xfrm>
          <a:prstGeom prst="rect">
            <a:avLst/>
          </a:prstGeom>
        </p:spPr>
      </p:pic>
      <p:sp>
        <p:nvSpPr>
          <p:cNvPr id="9" name="Text 6"/>
          <p:cNvSpPr/>
          <p:nvPr/>
        </p:nvSpPr>
        <p:spPr>
          <a:xfrm>
            <a:off x="1097280" y="1554480"/>
            <a:ext cx="3017520" cy="274320"/>
          </a:xfrm>
          <a:prstGeom prst="rect">
            <a:avLst/>
          </a:prstGeom>
          <a:noFill/>
          <a:ln/>
        </p:spPr>
        <p:txBody>
          <a:bodyPr wrap="square" lIns="0" tIns="0" rIns="0" bIns="0" rtlCol="0" anchor="ctr"/>
          <a:lstStyle/>
          <a:p>
            <a:pPr marL="0" indent="0">
              <a:buNone/>
            </a:pPr>
            <a:r>
              <a:rPr lang="en-US" sz="1400" b="1" dirty="0">
                <a:solidFill>
                  <a:srgbClr val="0F1B2D"/>
                </a:solidFill>
              </a:rPr>
              <a:t>OCR Noise</a:t>
            </a:r>
            <a:endParaRPr lang="en-US" sz="1400" dirty="0"/>
          </a:p>
        </p:txBody>
      </p:sp>
      <p:sp>
        <p:nvSpPr>
          <p:cNvPr id="10" name="Text 7"/>
          <p:cNvSpPr/>
          <p:nvPr/>
        </p:nvSpPr>
        <p:spPr>
          <a:xfrm>
            <a:off x="640080" y="2011680"/>
            <a:ext cx="3566160" cy="548640"/>
          </a:xfrm>
          <a:prstGeom prst="rect">
            <a:avLst/>
          </a:prstGeom>
          <a:noFill/>
          <a:ln/>
        </p:spPr>
        <p:txBody>
          <a:bodyPr wrap="square" lIns="0" tIns="0" rIns="0" bIns="0" rtlCol="0" anchor="ctr"/>
          <a:lstStyle/>
          <a:p>
            <a:pPr marL="0" indent="0">
              <a:buNone/>
            </a:pPr>
            <a:r>
              <a:rPr lang="en-US" sz="1000" dirty="0">
                <a:solidFill>
                  <a:srgbClr val="475569"/>
                </a:solidFill>
              </a:rPr>
              <a:t>Distinguishing '1' from 'l' and '0' from 'O' in scientific formulas at small font sizes</a:t>
            </a:r>
            <a:endParaRPr lang="en-US" sz="1000" dirty="0"/>
          </a:p>
        </p:txBody>
      </p:sp>
      <p:sp>
        <p:nvSpPr>
          <p:cNvPr id="11" name="Shape 8"/>
          <p:cNvSpPr/>
          <p:nvPr/>
        </p:nvSpPr>
        <p:spPr>
          <a:xfrm>
            <a:off x="4754880" y="1371600"/>
            <a:ext cx="3931920" cy="1371600"/>
          </a:xfrm>
          <a:prstGeom prst="rect">
            <a:avLst/>
          </a:prstGeom>
          <a:solidFill>
            <a:srgbClr val="FFFFFF"/>
          </a:solidFill>
          <a:ln/>
          <a:effectLst>
            <a:outerShdw blurRad="101600" dist="38100" dir="8100000" algn="bl" rotWithShape="0">
              <a:srgbClr val="000000">
                <a:alpha val="12000"/>
              </a:srgbClr>
            </a:outerShdw>
          </a:effectLst>
        </p:spPr>
      </p:sp>
      <p:sp>
        <p:nvSpPr>
          <p:cNvPr id="12" name="Shape 9"/>
          <p:cNvSpPr/>
          <p:nvPr/>
        </p:nvSpPr>
        <p:spPr>
          <a:xfrm>
            <a:off x="4754880" y="1371600"/>
            <a:ext cx="3931920" cy="54864"/>
          </a:xfrm>
          <a:prstGeom prst="rect">
            <a:avLst/>
          </a:prstGeom>
          <a:solidFill>
            <a:srgbClr val="FF6B35"/>
          </a:solidFill>
          <a:ln/>
        </p:spPr>
      </p:sp>
      <p:pic>
        <p:nvPicPr>
          <p:cNvPr id="13" name="Image 1" descr="preencoded.png"/>
          <p:cNvPicPr>
            <a:picLocks noChangeAspect="1"/>
          </p:cNvPicPr>
          <p:nvPr/>
        </p:nvPicPr>
        <p:blipFill>
          <a:blip r:embed="rId4"/>
          <a:stretch>
            <a:fillRect/>
          </a:stretch>
        </p:blipFill>
        <p:spPr>
          <a:xfrm>
            <a:off x="4937760" y="1600200"/>
            <a:ext cx="320040" cy="320040"/>
          </a:xfrm>
          <a:prstGeom prst="rect">
            <a:avLst/>
          </a:prstGeom>
        </p:spPr>
      </p:pic>
      <p:sp>
        <p:nvSpPr>
          <p:cNvPr id="14" name="Text 10"/>
          <p:cNvSpPr/>
          <p:nvPr/>
        </p:nvSpPr>
        <p:spPr>
          <a:xfrm>
            <a:off x="5394960" y="1554480"/>
            <a:ext cx="3017520" cy="274320"/>
          </a:xfrm>
          <a:prstGeom prst="rect">
            <a:avLst/>
          </a:prstGeom>
          <a:noFill/>
          <a:ln/>
        </p:spPr>
        <p:txBody>
          <a:bodyPr wrap="square" lIns="0" tIns="0" rIns="0" bIns="0" rtlCol="0" anchor="ctr"/>
          <a:lstStyle/>
          <a:p>
            <a:pPr marL="0" indent="0">
              <a:buNone/>
            </a:pPr>
            <a:r>
              <a:rPr lang="en-US" sz="1400" b="1" dirty="0">
                <a:solidFill>
                  <a:srgbClr val="0F1B2D"/>
                </a:solidFill>
              </a:rPr>
              <a:t>Complex Tables</a:t>
            </a:r>
            <a:endParaRPr lang="en-US" sz="1400" dirty="0"/>
          </a:p>
        </p:txBody>
      </p:sp>
      <p:sp>
        <p:nvSpPr>
          <p:cNvPr id="15" name="Text 11"/>
          <p:cNvSpPr/>
          <p:nvPr/>
        </p:nvSpPr>
        <p:spPr>
          <a:xfrm>
            <a:off x="4937760" y="2011680"/>
            <a:ext cx="3566160" cy="548640"/>
          </a:xfrm>
          <a:prstGeom prst="rect">
            <a:avLst/>
          </a:prstGeom>
          <a:noFill/>
          <a:ln/>
        </p:spPr>
        <p:txBody>
          <a:bodyPr wrap="square" lIns="0" tIns="0" rIns="0" bIns="0" rtlCol="0" anchor="ctr"/>
          <a:lstStyle/>
          <a:p>
            <a:pPr marL="0" indent="0">
              <a:buNone/>
            </a:pPr>
            <a:r>
              <a:rPr lang="en-US" sz="1000" dirty="0">
                <a:solidFill>
                  <a:srgbClr val="475569"/>
                </a:solidFill>
              </a:rPr>
              <a:t>Multi-page tables with nested headers, merged cells, and inconsistent formatting</a:t>
            </a:r>
            <a:endParaRPr lang="en-US" sz="1000" dirty="0"/>
          </a:p>
        </p:txBody>
      </p:sp>
      <p:sp>
        <p:nvSpPr>
          <p:cNvPr id="16" name="Shape 12"/>
          <p:cNvSpPr/>
          <p:nvPr/>
        </p:nvSpPr>
        <p:spPr>
          <a:xfrm>
            <a:off x="457200" y="3017520"/>
            <a:ext cx="3931920" cy="1371600"/>
          </a:xfrm>
          <a:prstGeom prst="rect">
            <a:avLst/>
          </a:prstGeom>
          <a:solidFill>
            <a:srgbClr val="FFFFFF"/>
          </a:solidFill>
          <a:ln/>
          <a:effectLst>
            <a:outerShdw blurRad="101600" dist="38100" dir="8100000" algn="bl" rotWithShape="0">
              <a:srgbClr val="000000">
                <a:alpha val="12000"/>
              </a:srgbClr>
            </a:outerShdw>
          </a:effectLst>
        </p:spPr>
      </p:sp>
      <p:sp>
        <p:nvSpPr>
          <p:cNvPr id="17" name="Shape 13"/>
          <p:cNvSpPr/>
          <p:nvPr/>
        </p:nvSpPr>
        <p:spPr>
          <a:xfrm>
            <a:off x="457200" y="3017520"/>
            <a:ext cx="3931920" cy="54864"/>
          </a:xfrm>
          <a:prstGeom prst="rect">
            <a:avLst/>
          </a:prstGeom>
          <a:solidFill>
            <a:srgbClr val="FF6B35"/>
          </a:solidFill>
          <a:ln/>
        </p:spPr>
      </p:sp>
      <p:pic>
        <p:nvPicPr>
          <p:cNvPr id="18" name="Image 2" descr="preencoded.png"/>
          <p:cNvPicPr>
            <a:picLocks noChangeAspect="1"/>
          </p:cNvPicPr>
          <p:nvPr/>
        </p:nvPicPr>
        <p:blipFill>
          <a:blip r:embed="rId5"/>
          <a:stretch>
            <a:fillRect/>
          </a:stretch>
        </p:blipFill>
        <p:spPr>
          <a:xfrm>
            <a:off x="640080" y="3246120"/>
            <a:ext cx="320040" cy="320040"/>
          </a:xfrm>
          <a:prstGeom prst="rect">
            <a:avLst/>
          </a:prstGeom>
        </p:spPr>
      </p:pic>
      <p:sp>
        <p:nvSpPr>
          <p:cNvPr id="19" name="Text 14"/>
          <p:cNvSpPr/>
          <p:nvPr/>
        </p:nvSpPr>
        <p:spPr>
          <a:xfrm>
            <a:off x="1097280" y="3200400"/>
            <a:ext cx="3017520" cy="274320"/>
          </a:xfrm>
          <a:prstGeom prst="rect">
            <a:avLst/>
          </a:prstGeom>
          <a:noFill/>
          <a:ln/>
        </p:spPr>
        <p:txBody>
          <a:bodyPr wrap="square" lIns="0" tIns="0" rIns="0" bIns="0" rtlCol="0" anchor="ctr"/>
          <a:lstStyle/>
          <a:p>
            <a:pPr marL="0" indent="0">
              <a:buNone/>
            </a:pPr>
            <a:r>
              <a:rPr lang="en-US" sz="1400" b="1" dirty="0">
                <a:solidFill>
                  <a:srgbClr val="0F1B2D"/>
                </a:solidFill>
              </a:rPr>
              <a:t>API Volatility</a:t>
            </a:r>
            <a:endParaRPr lang="en-US" sz="1400" dirty="0"/>
          </a:p>
        </p:txBody>
      </p:sp>
      <p:sp>
        <p:nvSpPr>
          <p:cNvPr id="20" name="Text 15"/>
          <p:cNvSpPr/>
          <p:nvPr/>
        </p:nvSpPr>
        <p:spPr>
          <a:xfrm>
            <a:off x="640080" y="3657600"/>
            <a:ext cx="3566160" cy="548640"/>
          </a:xfrm>
          <a:prstGeom prst="rect">
            <a:avLst/>
          </a:prstGeom>
          <a:noFill/>
          <a:ln/>
        </p:spPr>
        <p:txBody>
          <a:bodyPr wrap="square" lIns="0" tIns="0" rIns="0" bIns="0" rtlCol="0" anchor="ctr"/>
          <a:lstStyle/>
          <a:p>
            <a:pPr marL="0" indent="0">
              <a:buNone/>
            </a:pPr>
            <a:r>
              <a:rPr lang="en-US" sz="1000" dirty="0">
                <a:solidFill>
                  <a:srgbClr val="475569"/>
                </a:solidFill>
              </a:rPr>
              <a:t>Rate limits, model downtime, and provider-specific response variations</a:t>
            </a:r>
            <a:endParaRPr lang="en-US" sz="1000" dirty="0"/>
          </a:p>
        </p:txBody>
      </p:sp>
      <p:sp>
        <p:nvSpPr>
          <p:cNvPr id="21" name="Shape 16"/>
          <p:cNvSpPr/>
          <p:nvPr/>
        </p:nvSpPr>
        <p:spPr>
          <a:xfrm>
            <a:off x="4754880" y="3017520"/>
            <a:ext cx="3931920" cy="1371600"/>
          </a:xfrm>
          <a:prstGeom prst="rect">
            <a:avLst/>
          </a:prstGeom>
          <a:solidFill>
            <a:srgbClr val="FFFFFF"/>
          </a:solidFill>
          <a:ln/>
          <a:effectLst>
            <a:outerShdw blurRad="101600" dist="38100" dir="8100000" algn="bl" rotWithShape="0">
              <a:srgbClr val="000000">
                <a:alpha val="12000"/>
              </a:srgbClr>
            </a:outerShdw>
          </a:effectLst>
        </p:spPr>
      </p:sp>
      <p:sp>
        <p:nvSpPr>
          <p:cNvPr id="22" name="Shape 17"/>
          <p:cNvSpPr/>
          <p:nvPr/>
        </p:nvSpPr>
        <p:spPr>
          <a:xfrm>
            <a:off x="4754880" y="3017520"/>
            <a:ext cx="3931920" cy="54864"/>
          </a:xfrm>
          <a:prstGeom prst="rect">
            <a:avLst/>
          </a:prstGeom>
          <a:solidFill>
            <a:srgbClr val="FF6B35"/>
          </a:solidFill>
          <a:ln/>
        </p:spPr>
      </p:sp>
      <p:pic>
        <p:nvPicPr>
          <p:cNvPr id="23" name="Image 3" descr="preencoded.png"/>
          <p:cNvPicPr>
            <a:picLocks noChangeAspect="1"/>
          </p:cNvPicPr>
          <p:nvPr/>
        </p:nvPicPr>
        <p:blipFill>
          <a:blip r:embed="rId6"/>
          <a:stretch>
            <a:fillRect/>
          </a:stretch>
        </p:blipFill>
        <p:spPr>
          <a:xfrm>
            <a:off x="4937760" y="3246120"/>
            <a:ext cx="320040" cy="320040"/>
          </a:xfrm>
          <a:prstGeom prst="rect">
            <a:avLst/>
          </a:prstGeom>
        </p:spPr>
      </p:pic>
      <p:sp>
        <p:nvSpPr>
          <p:cNvPr id="24" name="Text 18"/>
          <p:cNvSpPr/>
          <p:nvPr/>
        </p:nvSpPr>
        <p:spPr>
          <a:xfrm>
            <a:off x="5394960" y="3200400"/>
            <a:ext cx="3017520" cy="274320"/>
          </a:xfrm>
          <a:prstGeom prst="rect">
            <a:avLst/>
          </a:prstGeom>
          <a:noFill/>
          <a:ln/>
        </p:spPr>
        <p:txBody>
          <a:bodyPr wrap="square" lIns="0" tIns="0" rIns="0" bIns="0" rtlCol="0" anchor="ctr"/>
          <a:lstStyle/>
          <a:p>
            <a:pPr marL="0" indent="0">
              <a:buNone/>
            </a:pPr>
            <a:r>
              <a:rPr lang="en-US" sz="1400" b="1" dirty="0">
                <a:solidFill>
                  <a:srgbClr val="0F1B2D"/>
                </a:solidFill>
              </a:rPr>
              <a:t>Graph Variety</a:t>
            </a:r>
            <a:endParaRPr lang="en-US" sz="1400" dirty="0"/>
          </a:p>
        </p:txBody>
      </p:sp>
      <p:sp>
        <p:nvSpPr>
          <p:cNvPr id="25" name="Text 19"/>
          <p:cNvSpPr/>
          <p:nvPr/>
        </p:nvSpPr>
        <p:spPr>
          <a:xfrm>
            <a:off x="4937760" y="3657600"/>
            <a:ext cx="3566160" cy="548640"/>
          </a:xfrm>
          <a:prstGeom prst="rect">
            <a:avLst/>
          </a:prstGeom>
          <a:noFill/>
          <a:ln/>
        </p:spPr>
        <p:txBody>
          <a:bodyPr wrap="square" lIns="0" tIns="0" rIns="0" bIns="0" rtlCol="0" anchor="ctr"/>
          <a:lstStyle/>
          <a:p>
            <a:pPr marL="0" indent="0">
              <a:buNone/>
            </a:pPr>
            <a:r>
              <a:rPr lang="en-US" sz="1000" dirty="0">
                <a:solidFill>
                  <a:srgbClr val="475569"/>
                </a:solidFill>
              </a:rPr>
              <a:t>Overlaid curves, legend occlusion, log scales, and low-resolution images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94A3B8"/>
                </a:solidFill>
              </a:rPr>
              <a:t>14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94A3B8"/>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00B4D8"/>
                </a:solidFill>
              </a:rPr>
              <a:t>SOLUTIONS</a:t>
            </a:r>
            <a:endParaRPr lang="en-US" sz="1300" dirty="0"/>
          </a:p>
        </p:txBody>
      </p:sp>
      <p:sp>
        <p:nvSpPr>
          <p:cNvPr id="5" name="Text 3"/>
          <p:cNvSpPr/>
          <p:nvPr/>
        </p:nvSpPr>
        <p:spPr>
          <a:xfrm>
            <a:off x="457200" y="640080"/>
            <a:ext cx="8229600"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Engineering Resilience Into Every Layer</a:t>
            </a:r>
            <a:endParaRPr lang="en-US" sz="2400" dirty="0"/>
          </a:p>
        </p:txBody>
      </p:sp>
      <p:sp>
        <p:nvSpPr>
          <p:cNvPr id="6" name="Shape 4"/>
          <p:cNvSpPr/>
          <p:nvPr/>
        </p:nvSpPr>
        <p:spPr>
          <a:xfrm>
            <a:off x="457200" y="1371600"/>
            <a:ext cx="8229600" cy="777240"/>
          </a:xfrm>
          <a:prstGeom prst="rect">
            <a:avLst/>
          </a:prstGeom>
          <a:solidFill>
            <a:srgbClr val="1A2744"/>
          </a:solidFill>
          <a:ln/>
        </p:spPr>
      </p:sp>
      <p:pic>
        <p:nvPicPr>
          <p:cNvPr id="7" name="Image 0" descr="preencoded.png"/>
          <p:cNvPicPr>
            <a:picLocks noChangeAspect="1"/>
          </p:cNvPicPr>
          <p:nvPr/>
        </p:nvPicPr>
        <p:blipFill>
          <a:blip r:embed="rId3"/>
          <a:stretch>
            <a:fillRect/>
          </a:stretch>
        </p:blipFill>
        <p:spPr>
          <a:xfrm>
            <a:off x="731520" y="1536192"/>
            <a:ext cx="365760" cy="365760"/>
          </a:xfrm>
          <a:prstGeom prst="rect">
            <a:avLst/>
          </a:prstGeom>
        </p:spPr>
      </p:pic>
      <p:sp>
        <p:nvSpPr>
          <p:cNvPr id="8" name="Text 5"/>
          <p:cNvSpPr/>
          <p:nvPr/>
        </p:nvSpPr>
        <p:spPr>
          <a:xfrm>
            <a:off x="1371600" y="1417320"/>
            <a:ext cx="2743200" cy="320040"/>
          </a:xfrm>
          <a:prstGeom prst="rect">
            <a:avLst/>
          </a:prstGeom>
          <a:noFill/>
          <a:ln/>
        </p:spPr>
        <p:txBody>
          <a:bodyPr wrap="square" lIns="0" tIns="0" rIns="0" bIns="0" rtlCol="0" anchor="ctr"/>
          <a:lstStyle/>
          <a:p>
            <a:pPr marL="0" indent="0">
              <a:buNone/>
            </a:pPr>
            <a:r>
              <a:rPr lang="en-US" sz="1400" b="1" dirty="0">
                <a:solidFill>
                  <a:srgbClr val="00B4D8"/>
                </a:solidFill>
              </a:rPr>
              <a:t>Multi-API Failover</a:t>
            </a:r>
            <a:endParaRPr lang="en-US" sz="1400" dirty="0"/>
          </a:p>
        </p:txBody>
      </p:sp>
      <p:sp>
        <p:nvSpPr>
          <p:cNvPr id="9" name="Text 6"/>
          <p:cNvSpPr/>
          <p:nvPr/>
        </p:nvSpPr>
        <p:spPr>
          <a:xfrm>
            <a:off x="1371600" y="1737360"/>
            <a:ext cx="6858000" cy="320040"/>
          </a:xfrm>
          <a:prstGeom prst="rect">
            <a:avLst/>
          </a:prstGeom>
          <a:noFill/>
          <a:ln/>
        </p:spPr>
        <p:txBody>
          <a:bodyPr wrap="square" lIns="0" tIns="0" rIns="0" bIns="0" rtlCol="0" anchor="ctr"/>
          <a:lstStyle/>
          <a:p>
            <a:pPr marL="0" indent="0">
              <a:buNone/>
            </a:pPr>
            <a:r>
              <a:rPr lang="en-US" sz="1100" dirty="0">
                <a:solidFill>
                  <a:srgbClr val="CBD5E1"/>
                </a:solidFill>
              </a:rPr>
              <a:t>Groq → Gemini → Together → OpenRouter with exponential backoff</a:t>
            </a:r>
            <a:endParaRPr lang="en-US" sz="1100" dirty="0"/>
          </a:p>
        </p:txBody>
      </p:sp>
      <p:sp>
        <p:nvSpPr>
          <p:cNvPr id="10" name="Shape 7"/>
          <p:cNvSpPr/>
          <p:nvPr/>
        </p:nvSpPr>
        <p:spPr>
          <a:xfrm>
            <a:off x="457200" y="2240280"/>
            <a:ext cx="8229600" cy="777240"/>
          </a:xfrm>
          <a:prstGeom prst="rect">
            <a:avLst/>
          </a:prstGeom>
          <a:solidFill>
            <a:srgbClr val="1A2744"/>
          </a:solidFill>
          <a:ln/>
        </p:spPr>
      </p:sp>
      <p:pic>
        <p:nvPicPr>
          <p:cNvPr id="11" name="Image 1" descr="preencoded.png"/>
          <p:cNvPicPr>
            <a:picLocks noChangeAspect="1"/>
          </p:cNvPicPr>
          <p:nvPr/>
        </p:nvPicPr>
        <p:blipFill>
          <a:blip r:embed="rId4"/>
          <a:stretch>
            <a:fillRect/>
          </a:stretch>
        </p:blipFill>
        <p:spPr>
          <a:xfrm>
            <a:off x="731520" y="2404872"/>
            <a:ext cx="365760" cy="365760"/>
          </a:xfrm>
          <a:prstGeom prst="rect">
            <a:avLst/>
          </a:prstGeom>
        </p:spPr>
      </p:pic>
      <p:sp>
        <p:nvSpPr>
          <p:cNvPr id="12" name="Text 8"/>
          <p:cNvSpPr/>
          <p:nvPr/>
        </p:nvSpPr>
        <p:spPr>
          <a:xfrm>
            <a:off x="1371600" y="2286000"/>
            <a:ext cx="2743200" cy="320040"/>
          </a:xfrm>
          <a:prstGeom prst="rect">
            <a:avLst/>
          </a:prstGeom>
          <a:noFill/>
          <a:ln/>
        </p:spPr>
        <p:txBody>
          <a:bodyPr wrap="square" lIns="0" tIns="0" rIns="0" bIns="0" rtlCol="0" anchor="ctr"/>
          <a:lstStyle/>
          <a:p>
            <a:pPr marL="0" indent="0">
              <a:buNone/>
            </a:pPr>
            <a:r>
              <a:rPr lang="en-US" sz="1400" b="1" dirty="0">
                <a:solidFill>
                  <a:srgbClr val="00B4D8"/>
                </a:solidFill>
              </a:rPr>
              <a:t>Hybrid Pipeline</a:t>
            </a:r>
            <a:endParaRPr lang="en-US" sz="1400" dirty="0"/>
          </a:p>
        </p:txBody>
      </p:sp>
      <p:sp>
        <p:nvSpPr>
          <p:cNvPr id="13" name="Text 9"/>
          <p:cNvSpPr/>
          <p:nvPr/>
        </p:nvSpPr>
        <p:spPr>
          <a:xfrm>
            <a:off x="1371600" y="2606040"/>
            <a:ext cx="6858000" cy="320040"/>
          </a:xfrm>
          <a:prstGeom prst="rect">
            <a:avLst/>
          </a:prstGeom>
          <a:noFill/>
          <a:ln/>
        </p:spPr>
        <p:txBody>
          <a:bodyPr wrap="square" lIns="0" tIns="0" rIns="0" bIns="0" rtlCol="0" anchor="ctr"/>
          <a:lstStyle/>
          <a:p>
            <a:pPr marL="0" indent="0">
              <a:buNone/>
            </a:pPr>
            <a:r>
              <a:rPr lang="en-US" sz="1100" dirty="0">
                <a:solidFill>
                  <a:srgbClr val="CBD5E1"/>
                </a:solidFill>
              </a:rPr>
              <a:t>Rule-based logic for structure + LLM flexibility for semantics</a:t>
            </a:r>
            <a:endParaRPr lang="en-US" sz="1100" dirty="0"/>
          </a:p>
        </p:txBody>
      </p:sp>
      <p:sp>
        <p:nvSpPr>
          <p:cNvPr id="14" name="Shape 10"/>
          <p:cNvSpPr/>
          <p:nvPr/>
        </p:nvSpPr>
        <p:spPr>
          <a:xfrm>
            <a:off x="457200" y="3108960"/>
            <a:ext cx="8229600" cy="777240"/>
          </a:xfrm>
          <a:prstGeom prst="rect">
            <a:avLst/>
          </a:prstGeom>
          <a:solidFill>
            <a:srgbClr val="1A2744"/>
          </a:solidFill>
          <a:ln/>
        </p:spPr>
      </p:sp>
      <p:pic>
        <p:nvPicPr>
          <p:cNvPr id="15" name="Image 2" descr="preencoded.png"/>
          <p:cNvPicPr>
            <a:picLocks noChangeAspect="1"/>
          </p:cNvPicPr>
          <p:nvPr/>
        </p:nvPicPr>
        <p:blipFill>
          <a:blip r:embed="rId5"/>
          <a:stretch>
            <a:fillRect/>
          </a:stretch>
        </p:blipFill>
        <p:spPr>
          <a:xfrm>
            <a:off x="731520" y="3273552"/>
            <a:ext cx="365760" cy="365760"/>
          </a:xfrm>
          <a:prstGeom prst="rect">
            <a:avLst/>
          </a:prstGeom>
        </p:spPr>
      </p:pic>
      <p:sp>
        <p:nvSpPr>
          <p:cNvPr id="16" name="Text 11"/>
          <p:cNvSpPr/>
          <p:nvPr/>
        </p:nvSpPr>
        <p:spPr>
          <a:xfrm>
            <a:off x="1371600" y="3154680"/>
            <a:ext cx="2743200" cy="320040"/>
          </a:xfrm>
          <a:prstGeom prst="rect">
            <a:avLst/>
          </a:prstGeom>
          <a:noFill/>
          <a:ln/>
        </p:spPr>
        <p:txBody>
          <a:bodyPr wrap="square" lIns="0" tIns="0" rIns="0" bIns="0" rtlCol="0" anchor="ctr"/>
          <a:lstStyle/>
          <a:p>
            <a:pPr marL="0" indent="0">
              <a:buNone/>
            </a:pPr>
            <a:r>
              <a:rPr lang="en-US" sz="1400" b="1" dirty="0">
                <a:solidFill>
                  <a:srgbClr val="00B4D8"/>
                </a:solidFill>
              </a:rPr>
              <a:t>Self-Correction Loop</a:t>
            </a:r>
            <a:endParaRPr lang="en-US" sz="1400" dirty="0"/>
          </a:p>
        </p:txBody>
      </p:sp>
      <p:sp>
        <p:nvSpPr>
          <p:cNvPr id="17" name="Text 12"/>
          <p:cNvSpPr/>
          <p:nvPr/>
        </p:nvSpPr>
        <p:spPr>
          <a:xfrm>
            <a:off x="1371600" y="3474720"/>
            <a:ext cx="6858000" cy="320040"/>
          </a:xfrm>
          <a:prstGeom prst="rect">
            <a:avLst/>
          </a:prstGeom>
          <a:noFill/>
          <a:ln/>
        </p:spPr>
        <p:txBody>
          <a:bodyPr wrap="square" lIns="0" tIns="0" rIns="0" bIns="0" rtlCol="0" anchor="ctr"/>
          <a:lstStyle/>
          <a:p>
            <a:pPr marL="0" indent="0">
              <a:buNone/>
            </a:pPr>
            <a:r>
              <a:rPr lang="en-US" sz="1100" dirty="0">
                <a:solidFill>
                  <a:srgbClr val="CBD5E1"/>
                </a:solidFill>
              </a:rPr>
              <a:t>Validation engine re-queries the LLM when data looks suspicious</a:t>
            </a:r>
            <a:endParaRPr lang="en-US" sz="1100" dirty="0"/>
          </a:p>
        </p:txBody>
      </p:sp>
      <p:sp>
        <p:nvSpPr>
          <p:cNvPr id="18" name="Shape 13"/>
          <p:cNvSpPr/>
          <p:nvPr/>
        </p:nvSpPr>
        <p:spPr>
          <a:xfrm>
            <a:off x="457200" y="3977640"/>
            <a:ext cx="8229600" cy="777240"/>
          </a:xfrm>
          <a:prstGeom prst="rect">
            <a:avLst/>
          </a:prstGeom>
          <a:solidFill>
            <a:srgbClr val="1A2744"/>
          </a:solidFill>
          <a:ln/>
        </p:spPr>
      </p:sp>
      <p:pic>
        <p:nvPicPr>
          <p:cNvPr id="19" name="Image 3" descr="preencoded.png"/>
          <p:cNvPicPr>
            <a:picLocks noChangeAspect="1"/>
          </p:cNvPicPr>
          <p:nvPr/>
        </p:nvPicPr>
        <p:blipFill>
          <a:blip r:embed="rId6"/>
          <a:stretch>
            <a:fillRect/>
          </a:stretch>
        </p:blipFill>
        <p:spPr>
          <a:xfrm>
            <a:off x="731520" y="4142232"/>
            <a:ext cx="365760" cy="365760"/>
          </a:xfrm>
          <a:prstGeom prst="rect">
            <a:avLst/>
          </a:prstGeom>
        </p:spPr>
      </p:pic>
      <p:sp>
        <p:nvSpPr>
          <p:cNvPr id="20" name="Text 14"/>
          <p:cNvSpPr/>
          <p:nvPr/>
        </p:nvSpPr>
        <p:spPr>
          <a:xfrm>
            <a:off x="1371600" y="4023360"/>
            <a:ext cx="2743200" cy="320040"/>
          </a:xfrm>
          <a:prstGeom prst="rect">
            <a:avLst/>
          </a:prstGeom>
          <a:noFill/>
          <a:ln/>
        </p:spPr>
        <p:txBody>
          <a:bodyPr wrap="square" lIns="0" tIns="0" rIns="0" bIns="0" rtlCol="0" anchor="ctr"/>
          <a:lstStyle/>
          <a:p>
            <a:pPr marL="0" indent="0">
              <a:buNone/>
            </a:pPr>
            <a:r>
              <a:rPr lang="en-US" sz="1400" b="1" dirty="0">
                <a:solidFill>
                  <a:srgbClr val="00B4D8"/>
                </a:solidFill>
              </a:rPr>
              <a:t>Image Enhancement</a:t>
            </a:r>
            <a:endParaRPr lang="en-US" sz="1400" dirty="0"/>
          </a:p>
        </p:txBody>
      </p:sp>
      <p:sp>
        <p:nvSpPr>
          <p:cNvPr id="21" name="Text 15"/>
          <p:cNvSpPr/>
          <p:nvPr/>
        </p:nvSpPr>
        <p:spPr>
          <a:xfrm>
            <a:off x="1371600" y="4343400"/>
            <a:ext cx="6858000" cy="320040"/>
          </a:xfrm>
          <a:prstGeom prst="rect">
            <a:avLst/>
          </a:prstGeom>
          <a:noFill/>
          <a:ln/>
        </p:spPr>
        <p:txBody>
          <a:bodyPr wrap="square" lIns="0" tIns="0" rIns="0" bIns="0" rtlCol="0" anchor="ctr"/>
          <a:lstStyle/>
          <a:p>
            <a:pPr marL="0" indent="0">
              <a:buNone/>
            </a:pPr>
            <a:r>
              <a:rPr lang="en-US" sz="1100" dirty="0">
                <a:solidFill>
                  <a:srgbClr val="CBD5E1"/>
                </a:solidFill>
              </a:rPr>
              <a:t>Pre-processing boosts plot clarity before digitization begins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475569"/>
                </a:solidFill>
              </a:rPr>
              <a:t>15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475569"/>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00B4D8"/>
                </a:solidFill>
              </a:rPr>
              <a:t>RESULTS</a:t>
            </a:r>
            <a:endParaRPr lang="en-US" sz="1300" dirty="0"/>
          </a:p>
        </p:txBody>
      </p:sp>
      <p:sp>
        <p:nvSpPr>
          <p:cNvPr id="5" name="Text 3"/>
          <p:cNvSpPr/>
          <p:nvPr/>
        </p:nvSpPr>
        <p:spPr>
          <a:xfrm>
            <a:off x="457200" y="640080"/>
            <a:ext cx="7315200" cy="457200"/>
          </a:xfrm>
          <a:prstGeom prst="rect">
            <a:avLst/>
          </a:prstGeom>
          <a:noFill/>
          <a:ln/>
        </p:spPr>
        <p:txBody>
          <a:bodyPr wrap="square" rtlCol="0" anchor="ctr"/>
          <a:lstStyle/>
          <a:p>
            <a:pPr marL="0" indent="0">
              <a:buNone/>
            </a:pPr>
            <a:r>
              <a:rPr lang="en-US" sz="2800" b="1" dirty="0">
                <a:solidFill>
                  <a:srgbClr val="0F1B2D"/>
                </a:solidFill>
                <a:latin typeface="Georgia" pitchFamily="34" charset="0"/>
                <a:ea typeface="Georgia" pitchFamily="34" charset="-122"/>
                <a:cs typeface="Georgia" pitchFamily="34" charset="-120"/>
              </a:rPr>
              <a:t>Before vs. After</a:t>
            </a:r>
            <a:endParaRPr lang="en-US" sz="2800" dirty="0"/>
          </a:p>
        </p:txBody>
      </p:sp>
      <p:sp>
        <p:nvSpPr>
          <p:cNvPr id="6" name="Shape 4"/>
          <p:cNvSpPr/>
          <p:nvPr/>
        </p:nvSpPr>
        <p:spPr>
          <a:xfrm>
            <a:off x="457200" y="1280160"/>
            <a:ext cx="3840480" cy="320040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457200" y="1280160"/>
            <a:ext cx="3840480" cy="457200"/>
          </a:xfrm>
          <a:prstGeom prst="rect">
            <a:avLst/>
          </a:prstGeom>
          <a:solidFill>
            <a:srgbClr val="475569"/>
          </a:solidFill>
          <a:ln/>
        </p:spPr>
      </p:sp>
      <p:sp>
        <p:nvSpPr>
          <p:cNvPr id="8" name="Text 6"/>
          <p:cNvSpPr/>
          <p:nvPr/>
        </p:nvSpPr>
        <p:spPr>
          <a:xfrm>
            <a:off x="457200" y="1280160"/>
            <a:ext cx="3840480" cy="457200"/>
          </a:xfrm>
          <a:prstGeom prst="rect">
            <a:avLst/>
          </a:prstGeom>
          <a:noFill/>
          <a:ln/>
        </p:spPr>
        <p:txBody>
          <a:bodyPr wrap="square" rtlCol="0" anchor="ctr"/>
          <a:lstStyle/>
          <a:p>
            <a:pPr marL="0" indent="0" algn="ctr">
              <a:buNone/>
            </a:pPr>
            <a:r>
              <a:rPr lang="en-US" sz="1400" b="1" dirty="0">
                <a:solidFill>
                  <a:srgbClr val="FFFFFF"/>
                </a:solidFill>
              </a:rPr>
              <a:t>BEFORE (Manual)</a:t>
            </a:r>
            <a:endParaRPr lang="en-US" sz="1400" dirty="0"/>
          </a:p>
        </p:txBody>
      </p:sp>
      <p:sp>
        <p:nvSpPr>
          <p:cNvPr id="9" name="Text 7"/>
          <p:cNvSpPr/>
          <p:nvPr/>
        </p:nvSpPr>
        <p:spPr>
          <a:xfrm>
            <a:off x="640080" y="1920240"/>
            <a:ext cx="1371600" cy="274320"/>
          </a:xfrm>
          <a:prstGeom prst="rect">
            <a:avLst/>
          </a:prstGeom>
          <a:noFill/>
          <a:ln/>
        </p:spPr>
        <p:txBody>
          <a:bodyPr wrap="square" lIns="0" tIns="0" rIns="0" bIns="0" rtlCol="0" anchor="ctr"/>
          <a:lstStyle/>
          <a:p>
            <a:pPr marL="0" indent="0">
              <a:buNone/>
            </a:pPr>
            <a:r>
              <a:rPr lang="en-US" sz="2000" b="1" dirty="0">
                <a:solidFill>
                  <a:srgbClr val="FF6B35"/>
                </a:solidFill>
                <a:latin typeface="Georgia" pitchFamily="34" charset="0"/>
                <a:ea typeface="Georgia" pitchFamily="34" charset="-122"/>
                <a:cs typeface="Georgia" pitchFamily="34" charset="-120"/>
              </a:rPr>
              <a:t>6 weeks</a:t>
            </a:r>
            <a:endParaRPr lang="en-US" sz="2000" dirty="0"/>
          </a:p>
        </p:txBody>
      </p:sp>
      <p:sp>
        <p:nvSpPr>
          <p:cNvPr id="10" name="Text 8"/>
          <p:cNvSpPr/>
          <p:nvPr/>
        </p:nvSpPr>
        <p:spPr>
          <a:xfrm>
            <a:off x="2011680" y="1920240"/>
            <a:ext cx="2103120" cy="274320"/>
          </a:xfrm>
          <a:prstGeom prst="rect">
            <a:avLst/>
          </a:prstGeom>
          <a:noFill/>
          <a:ln/>
        </p:spPr>
        <p:txBody>
          <a:bodyPr wrap="square" lIns="0" tIns="0" rIns="0" bIns="0" rtlCol="0" anchor="ctr"/>
          <a:lstStyle/>
          <a:p>
            <a:pPr marL="0" indent="0">
              <a:buNone/>
            </a:pPr>
            <a:r>
              <a:rPr lang="en-US" sz="1100" dirty="0">
                <a:solidFill>
                  <a:srgbClr val="475569"/>
                </a:solidFill>
              </a:rPr>
              <a:t>to extract one dataset</a:t>
            </a:r>
            <a:endParaRPr lang="en-US" sz="1100" dirty="0"/>
          </a:p>
        </p:txBody>
      </p:sp>
      <p:sp>
        <p:nvSpPr>
          <p:cNvPr id="11" name="Text 9"/>
          <p:cNvSpPr/>
          <p:nvPr/>
        </p:nvSpPr>
        <p:spPr>
          <a:xfrm>
            <a:off x="640080" y="2560320"/>
            <a:ext cx="1371600" cy="274320"/>
          </a:xfrm>
          <a:prstGeom prst="rect">
            <a:avLst/>
          </a:prstGeom>
          <a:noFill/>
          <a:ln/>
        </p:spPr>
        <p:txBody>
          <a:bodyPr wrap="square" lIns="0" tIns="0" rIns="0" bIns="0" rtlCol="0" anchor="ctr"/>
          <a:lstStyle/>
          <a:p>
            <a:pPr marL="0" indent="0">
              <a:buNone/>
            </a:pPr>
            <a:r>
              <a:rPr lang="en-US" sz="2000" b="1" dirty="0">
                <a:solidFill>
                  <a:srgbClr val="FF6B35"/>
                </a:solidFill>
                <a:latin typeface="Georgia" pitchFamily="34" charset="0"/>
                <a:ea typeface="Georgia" pitchFamily="34" charset="-122"/>
                <a:cs typeface="Georgia" pitchFamily="34" charset="-120"/>
              </a:rPr>
              <a:t>23%</a:t>
            </a:r>
            <a:endParaRPr lang="en-US" sz="2000" dirty="0"/>
          </a:p>
        </p:txBody>
      </p:sp>
      <p:sp>
        <p:nvSpPr>
          <p:cNvPr id="12" name="Text 10"/>
          <p:cNvSpPr/>
          <p:nvPr/>
        </p:nvSpPr>
        <p:spPr>
          <a:xfrm>
            <a:off x="2011680" y="2560320"/>
            <a:ext cx="2103120" cy="274320"/>
          </a:xfrm>
          <a:prstGeom prst="rect">
            <a:avLst/>
          </a:prstGeom>
          <a:noFill/>
          <a:ln/>
        </p:spPr>
        <p:txBody>
          <a:bodyPr wrap="square" lIns="0" tIns="0" rIns="0" bIns="0" rtlCol="0" anchor="ctr"/>
          <a:lstStyle/>
          <a:p>
            <a:pPr marL="0" indent="0">
              <a:buNone/>
            </a:pPr>
            <a:r>
              <a:rPr lang="en-US" sz="1100" dirty="0">
                <a:solidFill>
                  <a:srgbClr val="475569"/>
                </a:solidFill>
              </a:rPr>
              <a:t>error rate</a:t>
            </a:r>
            <a:endParaRPr lang="en-US" sz="1100" dirty="0"/>
          </a:p>
        </p:txBody>
      </p:sp>
      <p:sp>
        <p:nvSpPr>
          <p:cNvPr id="13" name="Text 11"/>
          <p:cNvSpPr/>
          <p:nvPr/>
        </p:nvSpPr>
        <p:spPr>
          <a:xfrm>
            <a:off x="640080" y="3200400"/>
            <a:ext cx="1371600" cy="274320"/>
          </a:xfrm>
          <a:prstGeom prst="rect">
            <a:avLst/>
          </a:prstGeom>
          <a:noFill/>
          <a:ln/>
        </p:spPr>
        <p:txBody>
          <a:bodyPr wrap="square" lIns="0" tIns="0" rIns="0" bIns="0" rtlCol="0" anchor="ctr"/>
          <a:lstStyle/>
          <a:p>
            <a:pPr marL="0" indent="0">
              <a:buNone/>
            </a:pPr>
            <a:r>
              <a:rPr lang="en-US" sz="2000" b="1" dirty="0">
                <a:solidFill>
                  <a:srgbClr val="FF6B35"/>
                </a:solidFill>
                <a:latin typeface="Georgia" pitchFamily="34" charset="0"/>
                <a:ea typeface="Georgia" pitchFamily="34" charset="-122"/>
                <a:cs typeface="Georgia" pitchFamily="34" charset="-120"/>
              </a:rPr>
              <a:t>~50</a:t>
            </a:r>
            <a:endParaRPr lang="en-US" sz="2000" dirty="0"/>
          </a:p>
        </p:txBody>
      </p:sp>
      <p:sp>
        <p:nvSpPr>
          <p:cNvPr id="14" name="Text 12"/>
          <p:cNvSpPr/>
          <p:nvPr/>
        </p:nvSpPr>
        <p:spPr>
          <a:xfrm>
            <a:off x="2011680" y="3200400"/>
            <a:ext cx="2103120" cy="274320"/>
          </a:xfrm>
          <a:prstGeom prst="rect">
            <a:avLst/>
          </a:prstGeom>
          <a:noFill/>
          <a:ln/>
        </p:spPr>
        <p:txBody>
          <a:bodyPr wrap="square" lIns="0" tIns="0" rIns="0" bIns="0" rtlCol="0" anchor="ctr"/>
          <a:lstStyle/>
          <a:p>
            <a:pPr marL="0" indent="0">
              <a:buNone/>
            </a:pPr>
            <a:r>
              <a:rPr lang="en-US" sz="1100" dirty="0">
                <a:solidFill>
                  <a:srgbClr val="475569"/>
                </a:solidFill>
              </a:rPr>
              <a:t>papers per researcher/month</a:t>
            </a:r>
            <a:endParaRPr lang="en-US" sz="1100" dirty="0"/>
          </a:p>
        </p:txBody>
      </p:sp>
      <p:sp>
        <p:nvSpPr>
          <p:cNvPr id="15" name="Text 13"/>
          <p:cNvSpPr/>
          <p:nvPr/>
        </p:nvSpPr>
        <p:spPr>
          <a:xfrm>
            <a:off x="640080" y="3840480"/>
            <a:ext cx="1371600" cy="274320"/>
          </a:xfrm>
          <a:prstGeom prst="rect">
            <a:avLst/>
          </a:prstGeom>
          <a:noFill/>
          <a:ln/>
        </p:spPr>
        <p:txBody>
          <a:bodyPr wrap="square" lIns="0" tIns="0" rIns="0" bIns="0" rtlCol="0" anchor="ctr"/>
          <a:lstStyle/>
          <a:p>
            <a:pPr marL="0" indent="0">
              <a:buNone/>
            </a:pPr>
            <a:r>
              <a:rPr lang="en-US" sz="2000" b="1" dirty="0">
                <a:solidFill>
                  <a:srgbClr val="FF6B35"/>
                </a:solidFill>
                <a:latin typeface="Georgia" pitchFamily="34" charset="0"/>
                <a:ea typeface="Georgia" pitchFamily="34" charset="-122"/>
                <a:cs typeface="Georgia" pitchFamily="34" charset="-120"/>
              </a:rPr>
              <a:t>0%</a:t>
            </a:r>
            <a:endParaRPr lang="en-US" sz="2000" dirty="0"/>
          </a:p>
        </p:txBody>
      </p:sp>
      <p:sp>
        <p:nvSpPr>
          <p:cNvPr id="16" name="Text 14"/>
          <p:cNvSpPr/>
          <p:nvPr/>
        </p:nvSpPr>
        <p:spPr>
          <a:xfrm>
            <a:off x="2011680" y="3840480"/>
            <a:ext cx="2103120" cy="274320"/>
          </a:xfrm>
          <a:prstGeom prst="rect">
            <a:avLst/>
          </a:prstGeom>
          <a:noFill/>
          <a:ln/>
        </p:spPr>
        <p:txBody>
          <a:bodyPr wrap="square" lIns="0" tIns="0" rIns="0" bIns="0" rtlCol="0" anchor="ctr"/>
          <a:lstStyle/>
          <a:p>
            <a:pPr marL="0" indent="0">
              <a:buNone/>
            </a:pPr>
            <a:r>
              <a:rPr lang="en-US" sz="1100" dirty="0">
                <a:solidFill>
                  <a:srgbClr val="475569"/>
                </a:solidFill>
              </a:rPr>
              <a:t>graph data recovered</a:t>
            </a:r>
            <a:endParaRPr lang="en-US" sz="1100" dirty="0"/>
          </a:p>
        </p:txBody>
      </p:sp>
      <p:sp>
        <p:nvSpPr>
          <p:cNvPr id="17" name="Shape 15"/>
          <p:cNvSpPr/>
          <p:nvPr/>
        </p:nvSpPr>
        <p:spPr>
          <a:xfrm>
            <a:off x="4846320" y="1280160"/>
            <a:ext cx="3840480" cy="3200400"/>
          </a:xfrm>
          <a:prstGeom prst="rect">
            <a:avLst/>
          </a:prstGeom>
          <a:solidFill>
            <a:srgbClr val="FFFFFF"/>
          </a:solidFill>
          <a:ln/>
          <a:effectLst>
            <a:outerShdw blurRad="101600" dist="38100" dir="8100000" algn="bl" rotWithShape="0">
              <a:srgbClr val="000000">
                <a:alpha val="12000"/>
              </a:srgbClr>
            </a:outerShdw>
          </a:effectLst>
        </p:spPr>
      </p:sp>
      <p:sp>
        <p:nvSpPr>
          <p:cNvPr id="18" name="Shape 16"/>
          <p:cNvSpPr/>
          <p:nvPr/>
        </p:nvSpPr>
        <p:spPr>
          <a:xfrm>
            <a:off x="4846320" y="1280160"/>
            <a:ext cx="3840480" cy="457200"/>
          </a:xfrm>
          <a:prstGeom prst="rect">
            <a:avLst/>
          </a:prstGeom>
          <a:solidFill>
            <a:srgbClr val="00B4D8"/>
          </a:solidFill>
          <a:ln/>
        </p:spPr>
      </p:sp>
      <p:sp>
        <p:nvSpPr>
          <p:cNvPr id="19" name="Text 17"/>
          <p:cNvSpPr/>
          <p:nvPr/>
        </p:nvSpPr>
        <p:spPr>
          <a:xfrm>
            <a:off x="4846320" y="1280160"/>
            <a:ext cx="3840480" cy="457200"/>
          </a:xfrm>
          <a:prstGeom prst="rect">
            <a:avLst/>
          </a:prstGeom>
          <a:noFill/>
          <a:ln/>
        </p:spPr>
        <p:txBody>
          <a:bodyPr wrap="square" rtlCol="0" anchor="ctr"/>
          <a:lstStyle/>
          <a:p>
            <a:pPr marL="0" indent="0" algn="ctr">
              <a:buNone/>
            </a:pPr>
            <a:r>
              <a:rPr lang="en-US" sz="1400" b="1" dirty="0">
                <a:solidFill>
                  <a:srgbClr val="FFFFFF"/>
                </a:solidFill>
              </a:rPr>
              <a:t>AFTER (Research Mining Pro)</a:t>
            </a:r>
            <a:endParaRPr lang="en-US" sz="1400" dirty="0"/>
          </a:p>
        </p:txBody>
      </p:sp>
      <p:sp>
        <p:nvSpPr>
          <p:cNvPr id="20" name="Text 18"/>
          <p:cNvSpPr/>
          <p:nvPr/>
        </p:nvSpPr>
        <p:spPr>
          <a:xfrm>
            <a:off x="5029200" y="1920240"/>
            <a:ext cx="1371600" cy="274320"/>
          </a:xfrm>
          <a:prstGeom prst="rect">
            <a:avLst/>
          </a:prstGeom>
          <a:noFill/>
          <a:ln/>
        </p:spPr>
        <p:txBody>
          <a:bodyPr wrap="square" lIns="0" tIns="0" rIns="0" bIns="0" rtlCol="0" anchor="ctr"/>
          <a:lstStyle/>
          <a:p>
            <a:pPr marL="0" indent="0">
              <a:buNone/>
            </a:pPr>
            <a:r>
              <a:rPr lang="en-US" sz="2000" b="1" dirty="0">
                <a:solidFill>
                  <a:srgbClr val="00B4D8"/>
                </a:solidFill>
                <a:latin typeface="Georgia" pitchFamily="34" charset="0"/>
                <a:ea typeface="Georgia" pitchFamily="34" charset="-122"/>
                <a:cs typeface="Georgia" pitchFamily="34" charset="-120"/>
              </a:rPr>
              <a:t>12 min</a:t>
            </a:r>
            <a:endParaRPr lang="en-US" sz="2000" dirty="0"/>
          </a:p>
        </p:txBody>
      </p:sp>
      <p:sp>
        <p:nvSpPr>
          <p:cNvPr id="21" name="Text 19"/>
          <p:cNvSpPr/>
          <p:nvPr/>
        </p:nvSpPr>
        <p:spPr>
          <a:xfrm>
            <a:off x="6400800" y="1920240"/>
            <a:ext cx="2103120" cy="274320"/>
          </a:xfrm>
          <a:prstGeom prst="rect">
            <a:avLst/>
          </a:prstGeom>
          <a:noFill/>
          <a:ln/>
        </p:spPr>
        <p:txBody>
          <a:bodyPr wrap="square" lIns="0" tIns="0" rIns="0" bIns="0" rtlCol="0" anchor="ctr"/>
          <a:lstStyle/>
          <a:p>
            <a:pPr marL="0" indent="0">
              <a:buNone/>
            </a:pPr>
            <a:r>
              <a:rPr lang="en-US" sz="1100" dirty="0">
                <a:solidFill>
                  <a:srgbClr val="475569"/>
                </a:solidFill>
              </a:rPr>
              <a:t>per 100-paper dataset</a:t>
            </a:r>
            <a:endParaRPr lang="en-US" sz="1100" dirty="0"/>
          </a:p>
        </p:txBody>
      </p:sp>
      <p:sp>
        <p:nvSpPr>
          <p:cNvPr id="22" name="Text 20"/>
          <p:cNvSpPr/>
          <p:nvPr/>
        </p:nvSpPr>
        <p:spPr>
          <a:xfrm>
            <a:off x="5029200" y="2560320"/>
            <a:ext cx="1371600" cy="274320"/>
          </a:xfrm>
          <a:prstGeom prst="rect">
            <a:avLst/>
          </a:prstGeom>
          <a:noFill/>
          <a:ln/>
        </p:spPr>
        <p:txBody>
          <a:bodyPr wrap="square" lIns="0" tIns="0" rIns="0" bIns="0" rtlCol="0" anchor="ctr"/>
          <a:lstStyle/>
          <a:p>
            <a:pPr marL="0" indent="0">
              <a:buNone/>
            </a:pPr>
            <a:r>
              <a:rPr lang="en-US" sz="2000" b="1" dirty="0">
                <a:solidFill>
                  <a:srgbClr val="00B4D8"/>
                </a:solidFill>
                <a:latin typeface="Georgia" pitchFamily="34" charset="0"/>
                <a:ea typeface="Georgia" pitchFamily="34" charset="-122"/>
                <a:cs typeface="Georgia" pitchFamily="34" charset="-120"/>
              </a:rPr>
              <a:t>98%+</a:t>
            </a:r>
            <a:endParaRPr lang="en-US" sz="2000" dirty="0"/>
          </a:p>
        </p:txBody>
      </p:sp>
      <p:sp>
        <p:nvSpPr>
          <p:cNvPr id="23" name="Text 21"/>
          <p:cNvSpPr/>
          <p:nvPr/>
        </p:nvSpPr>
        <p:spPr>
          <a:xfrm>
            <a:off x="6400800" y="2560320"/>
            <a:ext cx="2103120" cy="274320"/>
          </a:xfrm>
          <a:prstGeom prst="rect">
            <a:avLst/>
          </a:prstGeom>
          <a:noFill/>
          <a:ln/>
        </p:spPr>
        <p:txBody>
          <a:bodyPr wrap="square" lIns="0" tIns="0" rIns="0" bIns="0" rtlCol="0" anchor="ctr"/>
          <a:lstStyle/>
          <a:p>
            <a:pPr marL="0" indent="0">
              <a:buNone/>
            </a:pPr>
            <a:r>
              <a:rPr lang="en-US" sz="1100" dirty="0">
                <a:solidFill>
                  <a:srgbClr val="475569"/>
                </a:solidFill>
              </a:rPr>
              <a:t>extraction accuracy</a:t>
            </a:r>
            <a:endParaRPr lang="en-US" sz="1100" dirty="0"/>
          </a:p>
        </p:txBody>
      </p:sp>
      <p:sp>
        <p:nvSpPr>
          <p:cNvPr id="24" name="Text 22"/>
          <p:cNvSpPr/>
          <p:nvPr/>
        </p:nvSpPr>
        <p:spPr>
          <a:xfrm>
            <a:off x="5029200" y="3200400"/>
            <a:ext cx="1371600" cy="274320"/>
          </a:xfrm>
          <a:prstGeom prst="rect">
            <a:avLst/>
          </a:prstGeom>
          <a:noFill/>
          <a:ln/>
        </p:spPr>
        <p:txBody>
          <a:bodyPr wrap="square" lIns="0" tIns="0" rIns="0" bIns="0" rtlCol="0" anchor="ctr"/>
          <a:lstStyle/>
          <a:p>
            <a:pPr marL="0" indent="0">
              <a:buNone/>
            </a:pPr>
            <a:r>
              <a:rPr lang="en-US" sz="2000" b="1" dirty="0">
                <a:solidFill>
                  <a:srgbClr val="00B4D8"/>
                </a:solidFill>
                <a:latin typeface="Georgia" pitchFamily="34" charset="0"/>
                <a:ea typeface="Georgia" pitchFamily="34" charset="-122"/>
                <a:cs typeface="Georgia" pitchFamily="34" charset="-120"/>
              </a:rPr>
              <a:t>1,000+</a:t>
            </a:r>
            <a:endParaRPr lang="en-US" sz="2000" dirty="0"/>
          </a:p>
        </p:txBody>
      </p:sp>
      <p:sp>
        <p:nvSpPr>
          <p:cNvPr id="25" name="Text 23"/>
          <p:cNvSpPr/>
          <p:nvPr/>
        </p:nvSpPr>
        <p:spPr>
          <a:xfrm>
            <a:off x="6400800" y="3200400"/>
            <a:ext cx="2103120" cy="274320"/>
          </a:xfrm>
          <a:prstGeom prst="rect">
            <a:avLst/>
          </a:prstGeom>
          <a:noFill/>
          <a:ln/>
        </p:spPr>
        <p:txBody>
          <a:bodyPr wrap="square" lIns="0" tIns="0" rIns="0" bIns="0" rtlCol="0" anchor="ctr"/>
          <a:lstStyle/>
          <a:p>
            <a:pPr marL="0" indent="0">
              <a:buNone/>
            </a:pPr>
            <a:r>
              <a:rPr lang="en-US" sz="1100" dirty="0">
                <a:solidFill>
                  <a:srgbClr val="475569"/>
                </a:solidFill>
              </a:rPr>
              <a:t>papers processed per run</a:t>
            </a:r>
            <a:endParaRPr lang="en-US" sz="1100" dirty="0"/>
          </a:p>
        </p:txBody>
      </p:sp>
      <p:sp>
        <p:nvSpPr>
          <p:cNvPr id="26" name="Text 24"/>
          <p:cNvSpPr/>
          <p:nvPr/>
        </p:nvSpPr>
        <p:spPr>
          <a:xfrm>
            <a:off x="5029200" y="3840480"/>
            <a:ext cx="1371600" cy="274320"/>
          </a:xfrm>
          <a:prstGeom prst="rect">
            <a:avLst/>
          </a:prstGeom>
          <a:noFill/>
          <a:ln/>
        </p:spPr>
        <p:txBody>
          <a:bodyPr wrap="square" lIns="0" tIns="0" rIns="0" bIns="0" rtlCol="0" anchor="ctr"/>
          <a:lstStyle/>
          <a:p>
            <a:pPr marL="0" indent="0">
              <a:buNone/>
            </a:pPr>
            <a:r>
              <a:rPr lang="en-US" sz="2000" b="1" dirty="0">
                <a:solidFill>
                  <a:srgbClr val="00B4D8"/>
                </a:solidFill>
                <a:latin typeface="Georgia" pitchFamily="34" charset="0"/>
                <a:ea typeface="Georgia" pitchFamily="34" charset="-122"/>
                <a:cs typeface="Georgia" pitchFamily="34" charset="-120"/>
              </a:rPr>
              <a:t>100%</a:t>
            </a:r>
            <a:endParaRPr lang="en-US" sz="2000" dirty="0"/>
          </a:p>
        </p:txBody>
      </p:sp>
      <p:sp>
        <p:nvSpPr>
          <p:cNvPr id="27" name="Text 25"/>
          <p:cNvSpPr/>
          <p:nvPr/>
        </p:nvSpPr>
        <p:spPr>
          <a:xfrm>
            <a:off x="6400800" y="3840480"/>
            <a:ext cx="2103120" cy="274320"/>
          </a:xfrm>
          <a:prstGeom prst="rect">
            <a:avLst/>
          </a:prstGeom>
          <a:noFill/>
          <a:ln/>
        </p:spPr>
        <p:txBody>
          <a:bodyPr wrap="square" lIns="0" tIns="0" rIns="0" bIns="0" rtlCol="0" anchor="ctr"/>
          <a:lstStyle/>
          <a:p>
            <a:pPr marL="0" indent="0">
              <a:buNone/>
            </a:pPr>
            <a:r>
              <a:rPr lang="en-US" sz="1100" dirty="0">
                <a:solidFill>
                  <a:srgbClr val="475569"/>
                </a:solidFill>
              </a:rPr>
              <a:t>graph digitization</a:t>
            </a:r>
            <a:endParaRPr lang="en-US" sz="1100" dirty="0"/>
          </a:p>
        </p:txBody>
      </p:sp>
      <p:sp>
        <p:nvSpPr>
          <p:cNvPr id="28" name="Text 26"/>
          <p:cNvSpPr/>
          <p:nvPr/>
        </p:nvSpPr>
        <p:spPr>
          <a:xfrm>
            <a:off x="457200" y="4572000"/>
            <a:ext cx="8229600" cy="274320"/>
          </a:xfrm>
          <a:prstGeom prst="rect">
            <a:avLst/>
          </a:prstGeom>
          <a:noFill/>
          <a:ln/>
        </p:spPr>
        <p:txBody>
          <a:bodyPr wrap="square" rtlCol="0" anchor="ctr"/>
          <a:lstStyle/>
          <a:p>
            <a:pPr marL="0" indent="0" algn="ctr">
              <a:buNone/>
            </a:pPr>
            <a:r>
              <a:rPr lang="en-US" sz="1100" i="1" dirty="0">
                <a:solidFill>
                  <a:srgbClr val="475569"/>
                </a:solidFill>
              </a:rPr>
              <a:t>Zero duplicates. SI-unit normalization. 95% confidence floor on every data point.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94A3B8"/>
                </a:solidFill>
              </a:rPr>
              <a:t>16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94A3B8"/>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00B4D8"/>
                </a:solidFill>
              </a:rPr>
              <a:t>USE CASES</a:t>
            </a:r>
            <a:endParaRPr lang="en-US" sz="1300" dirty="0"/>
          </a:p>
        </p:txBody>
      </p:sp>
      <p:sp>
        <p:nvSpPr>
          <p:cNvPr id="5" name="Text 3"/>
          <p:cNvSpPr/>
          <p:nvPr/>
        </p:nvSpPr>
        <p:spPr>
          <a:xfrm>
            <a:off x="457200" y="640080"/>
            <a:ext cx="7315200"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Who Benefits?</a:t>
            </a:r>
            <a:endParaRPr lang="en-US" sz="2400" dirty="0"/>
          </a:p>
        </p:txBody>
      </p:sp>
      <p:sp>
        <p:nvSpPr>
          <p:cNvPr id="6" name="Shape 4"/>
          <p:cNvSpPr/>
          <p:nvPr/>
        </p:nvSpPr>
        <p:spPr>
          <a:xfrm>
            <a:off x="457200" y="1371600"/>
            <a:ext cx="3931920" cy="1280160"/>
          </a:xfrm>
          <a:prstGeom prst="rect">
            <a:avLst/>
          </a:prstGeom>
          <a:solidFill>
            <a:srgbClr val="1A2744"/>
          </a:solidFill>
          <a:ln/>
          <a:effectLst>
            <a:outerShdw blurRad="101600" dist="38100" dir="81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640080" y="1554480"/>
            <a:ext cx="411480" cy="411480"/>
          </a:xfrm>
          <a:prstGeom prst="rect">
            <a:avLst/>
          </a:prstGeom>
        </p:spPr>
      </p:pic>
      <p:sp>
        <p:nvSpPr>
          <p:cNvPr id="8" name="Text 5"/>
          <p:cNvSpPr/>
          <p:nvPr/>
        </p:nvSpPr>
        <p:spPr>
          <a:xfrm>
            <a:off x="1188720" y="1508760"/>
            <a:ext cx="2926080" cy="320040"/>
          </a:xfrm>
          <a:prstGeom prst="rect">
            <a:avLst/>
          </a:prstGeom>
          <a:noFill/>
          <a:ln/>
        </p:spPr>
        <p:txBody>
          <a:bodyPr wrap="square" lIns="0" tIns="0" rIns="0" bIns="0" rtlCol="0" anchor="ctr"/>
          <a:lstStyle/>
          <a:p>
            <a:pPr marL="0" indent="0">
              <a:buNone/>
            </a:pPr>
            <a:r>
              <a:rPr lang="en-US" sz="1500" b="1" dirty="0">
                <a:solidFill>
                  <a:srgbClr val="FFFFFF"/>
                </a:solidFill>
              </a:rPr>
              <a:t>Materials Science</a:t>
            </a:r>
            <a:endParaRPr lang="en-US" sz="1500" dirty="0"/>
          </a:p>
        </p:txBody>
      </p:sp>
      <p:sp>
        <p:nvSpPr>
          <p:cNvPr id="9" name="Text 6"/>
          <p:cNvSpPr/>
          <p:nvPr/>
        </p:nvSpPr>
        <p:spPr>
          <a:xfrm>
            <a:off x="1188720" y="1874520"/>
            <a:ext cx="2926080" cy="548640"/>
          </a:xfrm>
          <a:prstGeom prst="rect">
            <a:avLst/>
          </a:prstGeom>
          <a:noFill/>
          <a:ln/>
        </p:spPr>
        <p:txBody>
          <a:bodyPr wrap="square" lIns="0" tIns="0" rIns="0" bIns="0" rtlCol="0" anchor="ctr"/>
          <a:lstStyle/>
          <a:p>
            <a:pPr marL="0" indent="0">
              <a:buNone/>
            </a:pPr>
            <a:r>
              <a:rPr lang="en-US" sz="1100" dirty="0">
                <a:solidFill>
                  <a:srgbClr val="CBD5E1"/>
                </a:solidFill>
              </a:rPr>
              <a:t>Map semiconductor performance across thousands of papers</a:t>
            </a:r>
            <a:endParaRPr lang="en-US" sz="1100" dirty="0"/>
          </a:p>
        </p:txBody>
      </p:sp>
      <p:sp>
        <p:nvSpPr>
          <p:cNvPr id="10" name="Shape 7"/>
          <p:cNvSpPr/>
          <p:nvPr/>
        </p:nvSpPr>
        <p:spPr>
          <a:xfrm>
            <a:off x="4846320" y="1371600"/>
            <a:ext cx="3931920" cy="1280160"/>
          </a:xfrm>
          <a:prstGeom prst="rect">
            <a:avLst/>
          </a:prstGeom>
          <a:solidFill>
            <a:srgbClr val="1A2744"/>
          </a:solidFill>
          <a:ln/>
          <a:effectLst>
            <a:outerShdw blurRad="101600" dist="38100" dir="81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5029200" y="1554480"/>
            <a:ext cx="411480" cy="411480"/>
          </a:xfrm>
          <a:prstGeom prst="rect">
            <a:avLst/>
          </a:prstGeom>
        </p:spPr>
      </p:pic>
      <p:sp>
        <p:nvSpPr>
          <p:cNvPr id="12" name="Text 8"/>
          <p:cNvSpPr/>
          <p:nvPr/>
        </p:nvSpPr>
        <p:spPr>
          <a:xfrm>
            <a:off x="5577840" y="1508760"/>
            <a:ext cx="2926080" cy="320040"/>
          </a:xfrm>
          <a:prstGeom prst="rect">
            <a:avLst/>
          </a:prstGeom>
          <a:noFill/>
          <a:ln/>
        </p:spPr>
        <p:txBody>
          <a:bodyPr wrap="square" lIns="0" tIns="0" rIns="0" bIns="0" rtlCol="0" anchor="ctr"/>
          <a:lstStyle/>
          <a:p>
            <a:pPr marL="0" indent="0">
              <a:buNone/>
            </a:pPr>
            <a:r>
              <a:rPr lang="en-US" sz="1500" b="1" dirty="0">
                <a:solidFill>
                  <a:srgbClr val="FFFFFF"/>
                </a:solidFill>
              </a:rPr>
              <a:t>Drug Discovery</a:t>
            </a:r>
            <a:endParaRPr lang="en-US" sz="1500" dirty="0"/>
          </a:p>
        </p:txBody>
      </p:sp>
      <p:sp>
        <p:nvSpPr>
          <p:cNvPr id="13" name="Text 9"/>
          <p:cNvSpPr/>
          <p:nvPr/>
        </p:nvSpPr>
        <p:spPr>
          <a:xfrm>
            <a:off x="5577840" y="1874520"/>
            <a:ext cx="2926080" cy="548640"/>
          </a:xfrm>
          <a:prstGeom prst="rect">
            <a:avLst/>
          </a:prstGeom>
          <a:noFill/>
          <a:ln/>
        </p:spPr>
        <p:txBody>
          <a:bodyPr wrap="square" lIns="0" tIns="0" rIns="0" bIns="0" rtlCol="0" anchor="ctr"/>
          <a:lstStyle/>
          <a:p>
            <a:pPr marL="0" indent="0">
              <a:buNone/>
            </a:pPr>
            <a:r>
              <a:rPr lang="en-US" sz="1100" dirty="0">
                <a:solidFill>
                  <a:srgbClr val="CBD5E1"/>
                </a:solidFill>
              </a:rPr>
              <a:t>Aggregate binding affinities and clinical outcomes at scale</a:t>
            </a:r>
            <a:endParaRPr lang="en-US" sz="1100" dirty="0"/>
          </a:p>
        </p:txBody>
      </p:sp>
      <p:sp>
        <p:nvSpPr>
          <p:cNvPr id="14" name="Shape 10"/>
          <p:cNvSpPr/>
          <p:nvPr/>
        </p:nvSpPr>
        <p:spPr>
          <a:xfrm>
            <a:off x="457200" y="2926080"/>
            <a:ext cx="3931920" cy="1280160"/>
          </a:xfrm>
          <a:prstGeom prst="rect">
            <a:avLst/>
          </a:prstGeom>
          <a:solidFill>
            <a:srgbClr val="1A2744"/>
          </a:solidFill>
          <a:ln/>
          <a:effectLst>
            <a:outerShdw blurRad="101600" dist="38100" dir="8100000" algn="bl" rotWithShape="0">
              <a:srgbClr val="000000">
                <a:alpha val="12000"/>
              </a:srgbClr>
            </a:outerShdw>
          </a:effectLst>
        </p:spPr>
      </p:sp>
      <p:pic>
        <p:nvPicPr>
          <p:cNvPr id="15" name="Image 2" descr="preencoded.png"/>
          <p:cNvPicPr>
            <a:picLocks noChangeAspect="1"/>
          </p:cNvPicPr>
          <p:nvPr/>
        </p:nvPicPr>
        <p:blipFill>
          <a:blip r:embed="rId5"/>
          <a:stretch>
            <a:fillRect/>
          </a:stretch>
        </p:blipFill>
        <p:spPr>
          <a:xfrm>
            <a:off x="640080" y="3108960"/>
            <a:ext cx="411480" cy="411480"/>
          </a:xfrm>
          <a:prstGeom prst="rect">
            <a:avLst/>
          </a:prstGeom>
        </p:spPr>
      </p:pic>
      <p:sp>
        <p:nvSpPr>
          <p:cNvPr id="16" name="Text 11"/>
          <p:cNvSpPr/>
          <p:nvPr/>
        </p:nvSpPr>
        <p:spPr>
          <a:xfrm>
            <a:off x="1188720" y="3063240"/>
            <a:ext cx="2926080" cy="320040"/>
          </a:xfrm>
          <a:prstGeom prst="rect">
            <a:avLst/>
          </a:prstGeom>
          <a:noFill/>
          <a:ln/>
        </p:spPr>
        <p:txBody>
          <a:bodyPr wrap="square" lIns="0" tIns="0" rIns="0" bIns="0" rtlCol="0" anchor="ctr"/>
          <a:lstStyle/>
          <a:p>
            <a:pPr marL="0" indent="0">
              <a:buNone/>
            </a:pPr>
            <a:r>
              <a:rPr lang="en-US" sz="1500" b="1" dirty="0">
                <a:solidFill>
                  <a:srgbClr val="FFFFFF"/>
                </a:solidFill>
              </a:rPr>
              <a:t>Energy &amp; Batteries</a:t>
            </a:r>
            <a:endParaRPr lang="en-US" sz="1500" dirty="0"/>
          </a:p>
        </p:txBody>
      </p:sp>
      <p:sp>
        <p:nvSpPr>
          <p:cNvPr id="17" name="Text 12"/>
          <p:cNvSpPr/>
          <p:nvPr/>
        </p:nvSpPr>
        <p:spPr>
          <a:xfrm>
            <a:off x="1188720" y="3429000"/>
            <a:ext cx="2926080" cy="548640"/>
          </a:xfrm>
          <a:prstGeom prst="rect">
            <a:avLst/>
          </a:prstGeom>
          <a:noFill/>
          <a:ln/>
        </p:spPr>
        <p:txBody>
          <a:bodyPr wrap="square" lIns="0" tIns="0" rIns="0" bIns="0" rtlCol="0" anchor="ctr"/>
          <a:lstStyle/>
          <a:p>
            <a:pPr marL="0" indent="0">
              <a:buNone/>
            </a:pPr>
            <a:r>
              <a:rPr lang="en-US" sz="1100" dirty="0">
                <a:solidFill>
                  <a:srgbClr val="CBD5E1"/>
                </a:solidFill>
              </a:rPr>
              <a:t>Track performance metrics across competing technologies</a:t>
            </a:r>
            <a:endParaRPr lang="en-US" sz="1100" dirty="0"/>
          </a:p>
        </p:txBody>
      </p:sp>
      <p:sp>
        <p:nvSpPr>
          <p:cNvPr id="18" name="Shape 13"/>
          <p:cNvSpPr/>
          <p:nvPr/>
        </p:nvSpPr>
        <p:spPr>
          <a:xfrm>
            <a:off x="4846320" y="2926080"/>
            <a:ext cx="3931920" cy="1280160"/>
          </a:xfrm>
          <a:prstGeom prst="rect">
            <a:avLst/>
          </a:prstGeom>
          <a:solidFill>
            <a:srgbClr val="1A2744"/>
          </a:solidFill>
          <a:ln/>
          <a:effectLst>
            <a:outerShdw blurRad="101600" dist="38100" dir="8100000" algn="bl" rotWithShape="0">
              <a:srgbClr val="000000">
                <a:alpha val="12000"/>
              </a:srgbClr>
            </a:outerShdw>
          </a:effectLst>
        </p:spPr>
      </p:sp>
      <p:pic>
        <p:nvPicPr>
          <p:cNvPr id="19" name="Image 3" descr="preencoded.png"/>
          <p:cNvPicPr>
            <a:picLocks noChangeAspect="1"/>
          </p:cNvPicPr>
          <p:nvPr/>
        </p:nvPicPr>
        <p:blipFill>
          <a:blip r:embed="rId6"/>
          <a:stretch>
            <a:fillRect/>
          </a:stretch>
        </p:blipFill>
        <p:spPr>
          <a:xfrm>
            <a:off x="5029200" y="3108960"/>
            <a:ext cx="411480" cy="411480"/>
          </a:xfrm>
          <a:prstGeom prst="rect">
            <a:avLst/>
          </a:prstGeom>
        </p:spPr>
      </p:pic>
      <p:sp>
        <p:nvSpPr>
          <p:cNvPr id="20" name="Text 14"/>
          <p:cNvSpPr/>
          <p:nvPr/>
        </p:nvSpPr>
        <p:spPr>
          <a:xfrm>
            <a:off x="5577840" y="3063240"/>
            <a:ext cx="2926080" cy="320040"/>
          </a:xfrm>
          <a:prstGeom prst="rect">
            <a:avLst/>
          </a:prstGeom>
          <a:noFill/>
          <a:ln/>
        </p:spPr>
        <p:txBody>
          <a:bodyPr wrap="square" lIns="0" tIns="0" rIns="0" bIns="0" rtlCol="0" anchor="ctr"/>
          <a:lstStyle/>
          <a:p>
            <a:pPr marL="0" indent="0">
              <a:buNone/>
            </a:pPr>
            <a:r>
              <a:rPr lang="en-US" sz="1500" b="1" dirty="0">
                <a:solidFill>
                  <a:srgbClr val="FFFFFF"/>
                </a:solidFill>
              </a:rPr>
              <a:t>ML Dataset Creation</a:t>
            </a:r>
            <a:endParaRPr lang="en-US" sz="1500" dirty="0"/>
          </a:p>
        </p:txBody>
      </p:sp>
      <p:sp>
        <p:nvSpPr>
          <p:cNvPr id="21" name="Text 15"/>
          <p:cNvSpPr/>
          <p:nvPr/>
        </p:nvSpPr>
        <p:spPr>
          <a:xfrm>
            <a:off x="5577840" y="3429000"/>
            <a:ext cx="2926080" cy="548640"/>
          </a:xfrm>
          <a:prstGeom prst="rect">
            <a:avLst/>
          </a:prstGeom>
          <a:noFill/>
          <a:ln/>
        </p:spPr>
        <p:txBody>
          <a:bodyPr wrap="square" lIns="0" tIns="0" rIns="0" bIns="0" rtlCol="0" anchor="ctr"/>
          <a:lstStyle/>
          <a:p>
            <a:pPr marL="0" indent="0">
              <a:buNone/>
            </a:pPr>
            <a:r>
              <a:rPr lang="en-US" sz="1100" dirty="0">
                <a:solidFill>
                  <a:srgbClr val="CBD5E1"/>
                </a:solidFill>
              </a:rPr>
              <a:t>Build large-scale training data for scientific foundation models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475569"/>
                </a:solidFill>
              </a:rPr>
              <a:t>17 / 18</a:t>
            </a:r>
            <a:endParaRPr lang="en-US" sz="900" dirty="0"/>
          </a:p>
        </p:txBody>
      </p:sp>
      <p:sp>
        <p:nvSpPr>
          <p:cNvPr id="3" name="Text 1"/>
          <p:cNvSpPr/>
          <p:nvPr/>
        </p:nvSpPr>
        <p:spPr>
          <a:xfrm>
            <a:off x="274320" y="4754880"/>
            <a:ext cx="1828800" cy="274320"/>
          </a:xfrm>
          <a:prstGeom prst="rect">
            <a:avLst/>
          </a:prstGeom>
          <a:noFill/>
          <a:ln/>
        </p:spPr>
        <p:txBody>
          <a:bodyPr wrap="square" rtlCol="0" anchor="ctr"/>
          <a:lstStyle/>
          <a:p>
            <a:pPr marL="0" indent="0">
              <a:buNone/>
            </a:pPr>
            <a:r>
              <a:rPr lang="en-US" sz="900" dirty="0">
                <a:solidFill>
                  <a:srgbClr val="475569"/>
                </a:solidFill>
              </a:rPr>
              <a:t>Research Mining Pro</a:t>
            </a:r>
            <a:endParaRPr lang="en-US" sz="900" dirty="0"/>
          </a:p>
        </p:txBody>
      </p:sp>
      <p:sp>
        <p:nvSpPr>
          <p:cNvPr id="4" name="Text 2"/>
          <p:cNvSpPr/>
          <p:nvPr/>
        </p:nvSpPr>
        <p:spPr>
          <a:xfrm>
            <a:off x="457200" y="274320"/>
            <a:ext cx="3657600" cy="365760"/>
          </a:xfrm>
          <a:prstGeom prst="rect">
            <a:avLst/>
          </a:prstGeom>
          <a:noFill/>
          <a:ln/>
        </p:spPr>
        <p:txBody>
          <a:bodyPr wrap="square" rtlCol="0" anchor="ctr"/>
          <a:lstStyle/>
          <a:p>
            <a:pPr marL="0" indent="0">
              <a:buNone/>
            </a:pPr>
            <a:r>
              <a:rPr lang="en-US" sz="1300" b="1" kern="0" spc="400" dirty="0">
                <a:solidFill>
                  <a:srgbClr val="00B4D8"/>
                </a:solidFill>
              </a:rPr>
              <a:t>ROADMAP</a:t>
            </a:r>
            <a:endParaRPr lang="en-US" sz="1300" dirty="0"/>
          </a:p>
        </p:txBody>
      </p:sp>
      <p:sp>
        <p:nvSpPr>
          <p:cNvPr id="5" name="Text 3"/>
          <p:cNvSpPr/>
          <p:nvPr/>
        </p:nvSpPr>
        <p:spPr>
          <a:xfrm>
            <a:off x="457200" y="640080"/>
            <a:ext cx="7315200" cy="457200"/>
          </a:xfrm>
          <a:prstGeom prst="rect">
            <a:avLst/>
          </a:prstGeom>
          <a:noFill/>
          <a:ln/>
        </p:spPr>
        <p:txBody>
          <a:bodyPr wrap="square" rtlCol="0" anchor="ctr"/>
          <a:lstStyle/>
          <a:p>
            <a:pPr marL="0" indent="0">
              <a:buNone/>
            </a:pPr>
            <a:r>
              <a:rPr lang="en-US" sz="2400" b="1" dirty="0">
                <a:solidFill>
                  <a:srgbClr val="0F1B2D"/>
                </a:solidFill>
                <a:latin typeface="Georgia" pitchFamily="34" charset="0"/>
                <a:ea typeface="Georgia" pitchFamily="34" charset="-122"/>
                <a:cs typeface="Georgia" pitchFamily="34" charset="-120"/>
              </a:rPr>
              <a:t>What's Next</a:t>
            </a:r>
            <a:endParaRPr lang="en-US" sz="2400" dirty="0"/>
          </a:p>
        </p:txBody>
      </p:sp>
      <p:sp>
        <p:nvSpPr>
          <p:cNvPr id="6" name="Shape 4"/>
          <p:cNvSpPr/>
          <p:nvPr/>
        </p:nvSpPr>
        <p:spPr>
          <a:xfrm>
            <a:off x="457200" y="128016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457200" y="1280160"/>
            <a:ext cx="54864" cy="777240"/>
          </a:xfrm>
          <a:prstGeom prst="rect">
            <a:avLst/>
          </a:prstGeom>
          <a:solidFill>
            <a:srgbClr val="00B4D8"/>
          </a:solidFill>
          <a:ln/>
        </p:spPr>
      </p:sp>
      <p:sp>
        <p:nvSpPr>
          <p:cNvPr id="8" name="Shape 6"/>
          <p:cNvSpPr/>
          <p:nvPr/>
        </p:nvSpPr>
        <p:spPr>
          <a:xfrm>
            <a:off x="685800" y="1463040"/>
            <a:ext cx="365760" cy="365760"/>
          </a:xfrm>
          <a:prstGeom prst="ellipse">
            <a:avLst/>
          </a:prstGeom>
          <a:solidFill>
            <a:srgbClr val="00B4D8"/>
          </a:solidFill>
          <a:ln/>
        </p:spPr>
      </p:sp>
      <p:sp>
        <p:nvSpPr>
          <p:cNvPr id="9" name="Text 7"/>
          <p:cNvSpPr/>
          <p:nvPr/>
        </p:nvSpPr>
        <p:spPr>
          <a:xfrm>
            <a:off x="685800" y="1463040"/>
            <a:ext cx="365760" cy="36576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10" name="Text 8"/>
          <p:cNvSpPr/>
          <p:nvPr/>
        </p:nvSpPr>
        <p:spPr>
          <a:xfrm>
            <a:off x="1280160" y="1325880"/>
            <a:ext cx="6858000" cy="320040"/>
          </a:xfrm>
          <a:prstGeom prst="rect">
            <a:avLst/>
          </a:prstGeom>
          <a:noFill/>
          <a:ln/>
        </p:spPr>
        <p:txBody>
          <a:bodyPr wrap="square" lIns="0" tIns="0" rIns="0" bIns="0" rtlCol="0" anchor="ctr"/>
          <a:lstStyle/>
          <a:p>
            <a:pPr marL="0" indent="0">
              <a:buNone/>
            </a:pPr>
            <a:r>
              <a:rPr lang="en-US" sz="1400" b="1" dirty="0">
                <a:solidFill>
                  <a:srgbClr val="0F1B2D"/>
                </a:solidFill>
              </a:rPr>
              <a:t>Vision LLMs for 3D Plots</a:t>
            </a:r>
            <a:endParaRPr lang="en-US" sz="1400" dirty="0"/>
          </a:p>
        </p:txBody>
      </p:sp>
      <p:sp>
        <p:nvSpPr>
          <p:cNvPr id="11" name="Text 9"/>
          <p:cNvSpPr/>
          <p:nvPr/>
        </p:nvSpPr>
        <p:spPr>
          <a:xfrm>
            <a:off x="1280160" y="1645920"/>
            <a:ext cx="6858000" cy="320040"/>
          </a:xfrm>
          <a:prstGeom prst="rect">
            <a:avLst/>
          </a:prstGeom>
          <a:noFill/>
          <a:ln/>
        </p:spPr>
        <p:txBody>
          <a:bodyPr wrap="square" lIns="0" tIns="0" rIns="0" bIns="0" rtlCol="0" anchor="ctr"/>
          <a:lstStyle/>
          <a:p>
            <a:pPr marL="0" indent="0">
              <a:buNone/>
            </a:pPr>
            <a:r>
              <a:rPr lang="en-US" sz="1100" dirty="0">
                <a:solidFill>
                  <a:srgbClr val="475569"/>
                </a:solidFill>
              </a:rPr>
              <a:t>Fine-tuned models for complex multi-axis and 3D visualizations</a:t>
            </a:r>
            <a:endParaRPr lang="en-US" sz="1100" dirty="0"/>
          </a:p>
        </p:txBody>
      </p:sp>
      <p:sp>
        <p:nvSpPr>
          <p:cNvPr id="12" name="Shape 10"/>
          <p:cNvSpPr/>
          <p:nvPr/>
        </p:nvSpPr>
        <p:spPr>
          <a:xfrm>
            <a:off x="457200" y="214884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13" name="Shape 11"/>
          <p:cNvSpPr/>
          <p:nvPr/>
        </p:nvSpPr>
        <p:spPr>
          <a:xfrm>
            <a:off x="457200" y="2148840"/>
            <a:ext cx="54864" cy="777240"/>
          </a:xfrm>
          <a:prstGeom prst="rect">
            <a:avLst/>
          </a:prstGeom>
          <a:solidFill>
            <a:srgbClr val="00B4D8"/>
          </a:solidFill>
          <a:ln/>
        </p:spPr>
      </p:sp>
      <p:sp>
        <p:nvSpPr>
          <p:cNvPr id="14" name="Shape 12"/>
          <p:cNvSpPr/>
          <p:nvPr/>
        </p:nvSpPr>
        <p:spPr>
          <a:xfrm>
            <a:off x="685800" y="2331720"/>
            <a:ext cx="365760" cy="365760"/>
          </a:xfrm>
          <a:prstGeom prst="ellipse">
            <a:avLst/>
          </a:prstGeom>
          <a:solidFill>
            <a:srgbClr val="00B4D8"/>
          </a:solidFill>
          <a:ln/>
        </p:spPr>
      </p:sp>
      <p:sp>
        <p:nvSpPr>
          <p:cNvPr id="15" name="Text 13"/>
          <p:cNvSpPr/>
          <p:nvPr/>
        </p:nvSpPr>
        <p:spPr>
          <a:xfrm>
            <a:off x="685800" y="2331720"/>
            <a:ext cx="365760" cy="36576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6" name="Text 14"/>
          <p:cNvSpPr/>
          <p:nvPr/>
        </p:nvSpPr>
        <p:spPr>
          <a:xfrm>
            <a:off x="1280160" y="2194560"/>
            <a:ext cx="6858000" cy="320040"/>
          </a:xfrm>
          <a:prstGeom prst="rect">
            <a:avLst/>
          </a:prstGeom>
          <a:noFill/>
          <a:ln/>
        </p:spPr>
        <p:txBody>
          <a:bodyPr wrap="square" lIns="0" tIns="0" rIns="0" bIns="0" rtlCol="0" anchor="ctr"/>
          <a:lstStyle/>
          <a:p>
            <a:pPr marL="0" indent="0">
              <a:buNone/>
            </a:pPr>
            <a:r>
              <a:rPr lang="en-US" sz="1400" b="1" dirty="0">
                <a:solidFill>
                  <a:srgbClr val="0F1B2D"/>
                </a:solidFill>
              </a:rPr>
              <a:t>1,000+ Papers/Hour</a:t>
            </a:r>
            <a:endParaRPr lang="en-US" sz="1400" dirty="0"/>
          </a:p>
        </p:txBody>
      </p:sp>
      <p:sp>
        <p:nvSpPr>
          <p:cNvPr id="17" name="Text 15"/>
          <p:cNvSpPr/>
          <p:nvPr/>
        </p:nvSpPr>
        <p:spPr>
          <a:xfrm>
            <a:off x="1280160" y="2514600"/>
            <a:ext cx="6858000" cy="320040"/>
          </a:xfrm>
          <a:prstGeom prst="rect">
            <a:avLst/>
          </a:prstGeom>
          <a:noFill/>
          <a:ln/>
        </p:spPr>
        <p:txBody>
          <a:bodyPr wrap="square" lIns="0" tIns="0" rIns="0" bIns="0" rtlCol="0" anchor="ctr"/>
          <a:lstStyle/>
          <a:p>
            <a:pPr marL="0" indent="0">
              <a:buNone/>
            </a:pPr>
            <a:r>
              <a:rPr lang="en-US" sz="1100" dirty="0">
                <a:solidFill>
                  <a:srgbClr val="475569"/>
                </a:solidFill>
              </a:rPr>
              <a:t>Distributed executors for massive parallel processing</a:t>
            </a:r>
            <a:endParaRPr lang="en-US" sz="1100" dirty="0"/>
          </a:p>
        </p:txBody>
      </p:sp>
      <p:sp>
        <p:nvSpPr>
          <p:cNvPr id="18" name="Shape 16"/>
          <p:cNvSpPr/>
          <p:nvPr/>
        </p:nvSpPr>
        <p:spPr>
          <a:xfrm>
            <a:off x="457200" y="301752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19" name="Shape 17"/>
          <p:cNvSpPr/>
          <p:nvPr/>
        </p:nvSpPr>
        <p:spPr>
          <a:xfrm>
            <a:off x="457200" y="3017520"/>
            <a:ext cx="54864" cy="777240"/>
          </a:xfrm>
          <a:prstGeom prst="rect">
            <a:avLst/>
          </a:prstGeom>
          <a:solidFill>
            <a:srgbClr val="00B4D8"/>
          </a:solidFill>
          <a:ln/>
        </p:spPr>
      </p:sp>
      <p:sp>
        <p:nvSpPr>
          <p:cNvPr id="20" name="Shape 18"/>
          <p:cNvSpPr/>
          <p:nvPr/>
        </p:nvSpPr>
        <p:spPr>
          <a:xfrm>
            <a:off x="685800" y="3200400"/>
            <a:ext cx="365760" cy="365760"/>
          </a:xfrm>
          <a:prstGeom prst="ellipse">
            <a:avLst/>
          </a:prstGeom>
          <a:solidFill>
            <a:srgbClr val="00B4D8"/>
          </a:solidFill>
          <a:ln/>
        </p:spPr>
      </p:sp>
      <p:sp>
        <p:nvSpPr>
          <p:cNvPr id="21" name="Text 19"/>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22" name="Text 20"/>
          <p:cNvSpPr/>
          <p:nvPr/>
        </p:nvSpPr>
        <p:spPr>
          <a:xfrm>
            <a:off x="1280160" y="3063240"/>
            <a:ext cx="6858000" cy="320040"/>
          </a:xfrm>
          <a:prstGeom prst="rect">
            <a:avLst/>
          </a:prstGeom>
          <a:noFill/>
          <a:ln/>
        </p:spPr>
        <p:txBody>
          <a:bodyPr wrap="square" lIns="0" tIns="0" rIns="0" bIns="0" rtlCol="0" anchor="ctr"/>
          <a:lstStyle/>
          <a:p>
            <a:pPr marL="0" indent="0">
              <a:buNone/>
            </a:pPr>
            <a:r>
              <a:rPr lang="en-US" sz="1400" b="1" dirty="0">
                <a:solidFill>
                  <a:srgbClr val="0F1B2D"/>
                </a:solidFill>
              </a:rPr>
              <a:t>Live arXiv Alerts</a:t>
            </a:r>
            <a:endParaRPr lang="en-US" sz="1400" dirty="0"/>
          </a:p>
        </p:txBody>
      </p:sp>
      <p:sp>
        <p:nvSpPr>
          <p:cNvPr id="23" name="Text 21"/>
          <p:cNvSpPr/>
          <p:nvPr/>
        </p:nvSpPr>
        <p:spPr>
          <a:xfrm>
            <a:off x="1280160" y="3383280"/>
            <a:ext cx="6858000" cy="320040"/>
          </a:xfrm>
          <a:prstGeom prst="rect">
            <a:avLst/>
          </a:prstGeom>
          <a:noFill/>
          <a:ln/>
        </p:spPr>
        <p:txBody>
          <a:bodyPr wrap="square" lIns="0" tIns="0" rIns="0" bIns="0" rtlCol="0" anchor="ctr"/>
          <a:lstStyle/>
          <a:p>
            <a:pPr marL="0" indent="0">
              <a:buNone/>
            </a:pPr>
            <a:r>
              <a:rPr lang="en-US" sz="1100" dirty="0">
                <a:solidFill>
                  <a:srgbClr val="475569"/>
                </a:solidFill>
              </a:rPr>
              <a:t>Real-time monitoring — get notified when new relevant papers drop</a:t>
            </a:r>
            <a:endParaRPr lang="en-US" sz="1100" dirty="0"/>
          </a:p>
        </p:txBody>
      </p:sp>
      <p:sp>
        <p:nvSpPr>
          <p:cNvPr id="24" name="Shape 22"/>
          <p:cNvSpPr/>
          <p:nvPr/>
        </p:nvSpPr>
        <p:spPr>
          <a:xfrm>
            <a:off x="457200" y="3886200"/>
            <a:ext cx="8229600" cy="777240"/>
          </a:xfrm>
          <a:prstGeom prst="rect">
            <a:avLst/>
          </a:prstGeom>
          <a:solidFill>
            <a:srgbClr val="FFFFFF"/>
          </a:solidFill>
          <a:ln/>
          <a:effectLst>
            <a:outerShdw blurRad="101600" dist="38100" dir="8100000" algn="bl" rotWithShape="0">
              <a:srgbClr val="000000">
                <a:alpha val="12000"/>
              </a:srgbClr>
            </a:outerShdw>
          </a:effectLst>
        </p:spPr>
      </p:sp>
      <p:sp>
        <p:nvSpPr>
          <p:cNvPr id="25" name="Shape 23"/>
          <p:cNvSpPr/>
          <p:nvPr/>
        </p:nvSpPr>
        <p:spPr>
          <a:xfrm>
            <a:off x="457200" y="3886200"/>
            <a:ext cx="54864" cy="777240"/>
          </a:xfrm>
          <a:prstGeom prst="rect">
            <a:avLst/>
          </a:prstGeom>
          <a:solidFill>
            <a:srgbClr val="00B4D8"/>
          </a:solidFill>
          <a:ln/>
        </p:spPr>
      </p:sp>
      <p:sp>
        <p:nvSpPr>
          <p:cNvPr id="26" name="Shape 24"/>
          <p:cNvSpPr/>
          <p:nvPr/>
        </p:nvSpPr>
        <p:spPr>
          <a:xfrm>
            <a:off x="685800" y="4069080"/>
            <a:ext cx="365760" cy="365760"/>
          </a:xfrm>
          <a:prstGeom prst="ellipse">
            <a:avLst/>
          </a:prstGeom>
          <a:solidFill>
            <a:srgbClr val="00B4D8"/>
          </a:solidFill>
          <a:ln/>
        </p:spPr>
      </p:sp>
      <p:sp>
        <p:nvSpPr>
          <p:cNvPr id="27" name="Text 25"/>
          <p:cNvSpPr/>
          <p:nvPr/>
        </p:nvSpPr>
        <p:spPr>
          <a:xfrm>
            <a:off x="685800" y="4069080"/>
            <a:ext cx="365760" cy="36576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8" name="Text 26"/>
          <p:cNvSpPr/>
          <p:nvPr/>
        </p:nvSpPr>
        <p:spPr>
          <a:xfrm>
            <a:off x="1280160" y="3931920"/>
            <a:ext cx="6858000" cy="320040"/>
          </a:xfrm>
          <a:prstGeom prst="rect">
            <a:avLst/>
          </a:prstGeom>
          <a:noFill/>
          <a:ln/>
        </p:spPr>
        <p:txBody>
          <a:bodyPr wrap="square" lIns="0" tIns="0" rIns="0" bIns="0" rtlCol="0" anchor="ctr"/>
          <a:lstStyle/>
          <a:p>
            <a:pPr marL="0" indent="0">
              <a:buNone/>
            </a:pPr>
            <a:r>
              <a:rPr lang="en-US" sz="1400" b="1" dirty="0">
                <a:solidFill>
                  <a:srgbClr val="0F1B2D"/>
                </a:solidFill>
              </a:rPr>
              <a:t>Built-in Analytics UI</a:t>
            </a:r>
            <a:endParaRPr lang="en-US" sz="1400" dirty="0"/>
          </a:p>
        </p:txBody>
      </p:sp>
      <p:sp>
        <p:nvSpPr>
          <p:cNvPr id="29" name="Text 27"/>
          <p:cNvSpPr/>
          <p:nvPr/>
        </p:nvSpPr>
        <p:spPr>
          <a:xfrm>
            <a:off x="1280160" y="4251960"/>
            <a:ext cx="6858000" cy="320040"/>
          </a:xfrm>
          <a:prstGeom prst="rect">
            <a:avLst/>
          </a:prstGeom>
          <a:noFill/>
          <a:ln/>
        </p:spPr>
        <p:txBody>
          <a:bodyPr wrap="square" lIns="0" tIns="0" rIns="0" bIns="0" rtlCol="0" anchor="ctr"/>
          <a:lstStyle/>
          <a:p>
            <a:pPr marL="0" indent="0">
              <a:buNone/>
            </a:pPr>
            <a:r>
              <a:rPr lang="en-US" sz="1100" dirty="0">
                <a:solidFill>
                  <a:srgbClr val="475569"/>
                </a:solidFill>
              </a:rPr>
              <a:t>Visualize extracted data directly — no export needed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B2D"/>
          </a:solidFill>
          <a:ln/>
        </p:spPr>
      </p:sp>
      <p:pic>
        <p:nvPicPr>
          <p:cNvPr id="3" name="Image 0" descr="preencoded.png"/>
          <p:cNvPicPr>
            <a:picLocks noChangeAspect="1"/>
          </p:cNvPicPr>
          <p:nvPr/>
        </p:nvPicPr>
        <p:blipFill>
          <a:blip r:embed="rId3"/>
          <a:stretch>
            <a:fillRect/>
          </a:stretch>
        </p:blipFill>
        <p:spPr>
          <a:xfrm>
            <a:off x="4114800" y="457200"/>
            <a:ext cx="731520" cy="731520"/>
          </a:xfrm>
          <a:prstGeom prst="rect">
            <a:avLst/>
          </a:prstGeom>
        </p:spPr>
      </p:pic>
      <p:sp>
        <p:nvSpPr>
          <p:cNvPr id="4" name="Text 1"/>
          <p:cNvSpPr/>
          <p:nvPr/>
        </p:nvSpPr>
        <p:spPr>
          <a:xfrm>
            <a:off x="914400" y="1371600"/>
            <a:ext cx="7315200" cy="640080"/>
          </a:xfrm>
          <a:prstGeom prst="rect">
            <a:avLst/>
          </a:prstGeom>
          <a:noFill/>
          <a:ln/>
        </p:spPr>
        <p:txBody>
          <a:bodyPr wrap="square"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Research Mining Pro</a:t>
            </a:r>
            <a:endParaRPr lang="en-US" sz="3600" dirty="0"/>
          </a:p>
        </p:txBody>
      </p:sp>
      <p:sp>
        <p:nvSpPr>
          <p:cNvPr id="5" name="Shape 2"/>
          <p:cNvSpPr/>
          <p:nvPr/>
        </p:nvSpPr>
        <p:spPr>
          <a:xfrm>
            <a:off x="3657600" y="2103120"/>
            <a:ext cx="1828800" cy="36576"/>
          </a:xfrm>
          <a:prstGeom prst="rect">
            <a:avLst/>
          </a:prstGeom>
          <a:solidFill>
            <a:srgbClr val="00B4D8"/>
          </a:solidFill>
          <a:ln/>
        </p:spPr>
      </p:sp>
      <p:sp>
        <p:nvSpPr>
          <p:cNvPr id="6" name="Text 3"/>
          <p:cNvSpPr/>
          <p:nvPr/>
        </p:nvSpPr>
        <p:spPr>
          <a:xfrm>
            <a:off x="1371600" y="2377440"/>
            <a:ext cx="6400800" cy="320040"/>
          </a:xfrm>
          <a:prstGeom prst="rect">
            <a:avLst/>
          </a:prstGeom>
          <a:noFill/>
          <a:ln/>
        </p:spPr>
        <p:txBody>
          <a:bodyPr wrap="square" lIns="0" tIns="0" rIns="0" bIns="0" rtlCol="0" anchor="ctr"/>
          <a:lstStyle/>
          <a:p>
            <a:pPr marL="0" indent="0" algn="ctr">
              <a:buNone/>
            </a:pPr>
            <a:r>
              <a:rPr lang="en-US" sz="1400" dirty="0">
                <a:solidFill>
                  <a:srgbClr val="CBD5E1"/>
                </a:solidFill>
              </a:rPr>
              <a:t>From PDFs to structured intelligence — fully automated</a:t>
            </a:r>
            <a:endParaRPr lang="en-US" sz="1400" dirty="0"/>
          </a:p>
        </p:txBody>
      </p:sp>
      <p:sp>
        <p:nvSpPr>
          <p:cNvPr id="7" name="Text 4"/>
          <p:cNvSpPr/>
          <p:nvPr/>
        </p:nvSpPr>
        <p:spPr>
          <a:xfrm>
            <a:off x="1371600" y="2788920"/>
            <a:ext cx="6400800" cy="320040"/>
          </a:xfrm>
          <a:prstGeom prst="rect">
            <a:avLst/>
          </a:prstGeom>
          <a:noFill/>
          <a:ln/>
        </p:spPr>
        <p:txBody>
          <a:bodyPr wrap="square" lIns="0" tIns="0" rIns="0" bIns="0" rtlCol="0" anchor="ctr"/>
          <a:lstStyle/>
          <a:p>
            <a:pPr marL="0" indent="0" algn="ctr">
              <a:buNone/>
            </a:pPr>
            <a:r>
              <a:rPr lang="en-US" sz="1400" dirty="0">
                <a:solidFill>
                  <a:srgbClr val="CBD5E1"/>
                </a:solidFill>
              </a:rPr>
              <a:t>98%+ accuracy with zero manual intervention</a:t>
            </a:r>
            <a:endParaRPr lang="en-US" sz="1400" dirty="0"/>
          </a:p>
        </p:txBody>
      </p:sp>
      <p:sp>
        <p:nvSpPr>
          <p:cNvPr id="8" name="Text 5"/>
          <p:cNvSpPr/>
          <p:nvPr/>
        </p:nvSpPr>
        <p:spPr>
          <a:xfrm>
            <a:off x="1371600" y="3200400"/>
            <a:ext cx="6400800" cy="320040"/>
          </a:xfrm>
          <a:prstGeom prst="rect">
            <a:avLst/>
          </a:prstGeom>
          <a:noFill/>
          <a:ln/>
        </p:spPr>
        <p:txBody>
          <a:bodyPr wrap="square" lIns="0" tIns="0" rIns="0" bIns="0" rtlCol="0" anchor="ctr"/>
          <a:lstStyle/>
          <a:p>
            <a:pPr marL="0" indent="0" algn="ctr">
              <a:buNone/>
            </a:pPr>
            <a:r>
              <a:rPr lang="en-US" sz="1400" dirty="0">
                <a:solidFill>
                  <a:srgbClr val="CBD5E1"/>
                </a:solidFill>
              </a:rPr>
              <a:t>The infrastructure layer for data-driven scientific discovery</a:t>
            </a:r>
            <a:endParaRPr lang="en-US" sz="1400" dirty="0"/>
          </a:p>
        </p:txBody>
      </p:sp>
      <p:sp>
        <p:nvSpPr>
          <p:cNvPr id="9" name="Text 6"/>
          <p:cNvSpPr/>
          <p:nvPr/>
        </p:nvSpPr>
        <p:spPr>
          <a:xfrm>
            <a:off x="914400" y="3657600"/>
            <a:ext cx="7315200" cy="365760"/>
          </a:xfrm>
          <a:prstGeom prst="rect">
            <a:avLst/>
          </a:prstGeom>
          <a:noFill/>
          <a:ln/>
        </p:spPr>
        <p:txBody>
          <a:bodyPr wrap="square" rtlCol="0" anchor="ctr"/>
          <a:lstStyle/>
          <a:p>
            <a:pPr marL="0" indent="0" algn="ctr">
              <a:buNone/>
            </a:pPr>
            <a:r>
              <a:rPr lang="en-US" sz="1600" b="1" i="1" dirty="0">
                <a:solidFill>
                  <a:srgbClr val="00B4D8"/>
                </a:solidFill>
              </a:rPr>
              <a:t>The future of scientific data extraction starts here.</a:t>
            </a:r>
            <a:endParaRPr lang="en-US" sz="1600" dirty="0"/>
          </a:p>
        </p:txBody>
      </p:sp>
      <p:sp>
        <p:nvSpPr>
          <p:cNvPr id="10" name="Text 7"/>
          <p:cNvSpPr/>
          <p:nvPr/>
        </p:nvSpPr>
        <p:spPr>
          <a:xfrm>
            <a:off x="1828800" y="4297680"/>
            <a:ext cx="5486400" cy="365760"/>
          </a:xfrm>
          <a:prstGeom prst="rect">
            <a:avLst/>
          </a:prstGeom>
          <a:noFill/>
          <a:ln/>
        </p:spPr>
        <p:txBody>
          <a:bodyPr wrap="square" rtlCol="0" anchor="ctr"/>
          <a:lstStyle/>
          <a:p>
            <a:pPr marL="0" indent="0" algn="ctr">
              <a:buNone/>
            </a:pPr>
            <a:r>
              <a:rPr lang="en-US" sz="1800" b="1" dirty="0">
                <a:solidFill>
                  <a:srgbClr val="FFFFFF"/>
                </a:solidFill>
              </a:rPr>
              <a:t>Thank You —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2145</Words>
  <Application>Microsoft Office PowerPoint</Application>
  <PresentationFormat>On-screen Show (16:9)</PresentationFormat>
  <Paragraphs>311</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Mining Pro — Pitch Deck</dc:title>
  <dc:subject>PptxGenJS Presentation</dc:subject>
  <dc:creator>Research Mining Pro</dc:creator>
  <cp:lastModifiedBy>Vijay Kavuri</cp:lastModifiedBy>
  <cp:revision>2</cp:revision>
  <dcterms:created xsi:type="dcterms:W3CDTF">2026-03-30T05:13:34Z</dcterms:created>
  <dcterms:modified xsi:type="dcterms:W3CDTF">2026-03-30T05:18:54Z</dcterms:modified>
</cp:coreProperties>
</file>